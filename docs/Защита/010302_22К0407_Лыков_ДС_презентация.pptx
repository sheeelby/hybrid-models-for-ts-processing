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9" r:id="rId4"/>
    <p:sldId id="260" r:id="rId5"/>
    <p:sldId id="261" r:id="rId6"/>
    <p:sldId id="262" r:id="rId7"/>
    <p:sldId id="284" r:id="rId8"/>
    <p:sldId id="263" r:id="rId9"/>
    <p:sldId id="264" r:id="rId10"/>
    <p:sldId id="267" r:id="rId11"/>
    <p:sldId id="265" r:id="rId12"/>
    <p:sldId id="266" r:id="rId13"/>
    <p:sldId id="268" r:id="rId14"/>
    <p:sldId id="270" r:id="rId15"/>
    <p:sldId id="271" r:id="rId16"/>
    <p:sldId id="272" r:id="rId17"/>
    <p:sldId id="273" r:id="rId18"/>
    <p:sldId id="28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5" r:id="rId28"/>
    <p:sldId id="286" r:id="rId29"/>
    <p:sldId id="287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6F51"/>
    <a:srgbClr val="21295C"/>
    <a:srgbClr val="EC8B74"/>
    <a:srgbClr val="0988C7"/>
    <a:srgbClr val="1C7293"/>
    <a:srgbClr val="487383"/>
    <a:srgbClr val="0773A9"/>
    <a:srgbClr val="087DB8"/>
    <a:srgbClr val="2F9E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1B355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8550</c:v>
                </c:pt>
                <c:pt idx="1">
                  <c:v>35000</c:v>
                </c:pt>
                <c:pt idx="2">
                  <c:v>63800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2F-498A-9BCA-D65557F680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Опер. расходы</c:v>
                </c:pt>
              </c:strCache>
            </c:strRef>
          </c:tx>
          <c:spPr>
            <a:solidFill>
              <a:srgbClr val="D17554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2605</c:v>
                </c:pt>
                <c:pt idx="1">
                  <c:v>6310</c:v>
                </c:pt>
                <c:pt idx="2">
                  <c:v>10515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2F-498A-9BCA-D65557F680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Чистая прибыль</c:v>
                </c:pt>
              </c:strCache>
            </c:strRef>
          </c:tx>
          <c:spPr>
            <a:solidFill>
              <a:srgbClr val="20708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5346</c:v>
                </c:pt>
                <c:pt idx="1">
                  <c:v>26240</c:v>
                </c:pt>
                <c:pt idx="2">
                  <c:v>48819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2F-498A-9BCA-D65557F680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753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Добрый</a:t>
            </a:r>
            <a:r>
              <a:rPr dirty="0"/>
              <a:t> </a:t>
            </a:r>
            <a:r>
              <a:rPr dirty="0" err="1"/>
              <a:t>день</a:t>
            </a:r>
            <a:r>
              <a:rPr dirty="0"/>
              <a:t>, </a:t>
            </a:r>
            <a:r>
              <a:rPr dirty="0" err="1"/>
              <a:t>уважаемые</a:t>
            </a:r>
            <a:r>
              <a:rPr dirty="0"/>
              <a:t> </a:t>
            </a:r>
            <a:r>
              <a:rPr dirty="0" err="1"/>
              <a:t>члены</a:t>
            </a:r>
            <a:r>
              <a:rPr dirty="0"/>
              <a:t> </a:t>
            </a:r>
            <a:r>
              <a:rPr dirty="0" err="1"/>
              <a:t>комиссии</a:t>
            </a:r>
            <a:r>
              <a:rPr dirty="0"/>
              <a:t>! </a:t>
            </a:r>
            <a:r>
              <a:rPr dirty="0" err="1"/>
              <a:t>Меня</a:t>
            </a:r>
            <a:r>
              <a:rPr dirty="0"/>
              <a:t> </a:t>
            </a:r>
            <a:r>
              <a:rPr dirty="0" err="1"/>
              <a:t>зовут</a:t>
            </a:r>
            <a:r>
              <a:rPr dirty="0"/>
              <a:t> </a:t>
            </a:r>
            <a:r>
              <a:rPr dirty="0" err="1"/>
              <a:t>Лыков</a:t>
            </a:r>
            <a:r>
              <a:rPr dirty="0"/>
              <a:t> </a:t>
            </a:r>
            <a:r>
              <a:rPr dirty="0" err="1"/>
              <a:t>Даниил</a:t>
            </a:r>
            <a:r>
              <a:rPr dirty="0"/>
              <a:t>, и </a:t>
            </a:r>
            <a:r>
              <a:rPr dirty="0" err="1"/>
              <a:t>сегодня</a:t>
            </a:r>
            <a:r>
              <a:rPr dirty="0"/>
              <a:t> я </a:t>
            </a:r>
            <a:r>
              <a:rPr dirty="0" err="1"/>
              <a:t>представлю</a:t>
            </a:r>
            <a:r>
              <a:rPr dirty="0"/>
              <a:t> </a:t>
            </a:r>
            <a:r>
              <a:rPr dirty="0" err="1"/>
              <a:t>свою</a:t>
            </a:r>
            <a:r>
              <a:rPr dirty="0"/>
              <a:t> </a:t>
            </a:r>
            <a:r>
              <a:rPr dirty="0" err="1"/>
              <a:t>выпускную</a:t>
            </a:r>
            <a:r>
              <a:rPr dirty="0"/>
              <a:t> </a:t>
            </a:r>
            <a:r>
              <a:rPr dirty="0" err="1"/>
              <a:t>квалификационную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тему</a:t>
            </a:r>
            <a:r>
              <a:rPr dirty="0"/>
              <a:t> «</a:t>
            </a:r>
            <a:r>
              <a:rPr dirty="0" err="1"/>
              <a:t>Построение</a:t>
            </a:r>
            <a:r>
              <a:rPr dirty="0"/>
              <a:t> </a:t>
            </a:r>
            <a:r>
              <a:rPr dirty="0" err="1"/>
              <a:t>комбинированных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алгоритма</a:t>
            </a:r>
            <a:r>
              <a:rPr dirty="0"/>
              <a:t> MODWT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обработке</a:t>
            </a:r>
            <a:r>
              <a:rPr dirty="0"/>
              <a:t> </a:t>
            </a:r>
            <a:r>
              <a:rPr dirty="0" err="1"/>
              <a:t>временных</a:t>
            </a:r>
            <a:r>
              <a:rPr dirty="0"/>
              <a:t> </a:t>
            </a:r>
            <a:r>
              <a:rPr dirty="0" err="1"/>
              <a:t>рядов</a:t>
            </a:r>
            <a:r>
              <a:rPr dirty="0"/>
              <a:t>». </a:t>
            </a:r>
            <a:r>
              <a:rPr dirty="0" err="1"/>
              <a:t>Работа</a:t>
            </a:r>
            <a:r>
              <a:rPr dirty="0"/>
              <a:t> </a:t>
            </a:r>
            <a:r>
              <a:rPr dirty="0" err="1"/>
              <a:t>выполнена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руководством</a:t>
            </a:r>
            <a:r>
              <a:rPr dirty="0"/>
              <a:t> </a:t>
            </a:r>
            <a:r>
              <a:rPr dirty="0" err="1"/>
              <a:t>кандидата</a:t>
            </a:r>
            <a:r>
              <a:rPr dirty="0"/>
              <a:t> </a:t>
            </a:r>
            <a:r>
              <a:rPr dirty="0" err="1"/>
              <a:t>физико-математических</a:t>
            </a:r>
            <a:r>
              <a:rPr dirty="0"/>
              <a:t> </a:t>
            </a:r>
            <a:r>
              <a:rPr dirty="0" err="1"/>
              <a:t>наук</a:t>
            </a:r>
            <a:r>
              <a:rPr dirty="0"/>
              <a:t>, </a:t>
            </a:r>
            <a:r>
              <a:rPr dirty="0" err="1"/>
              <a:t>доцента</a:t>
            </a:r>
            <a:r>
              <a:rPr dirty="0"/>
              <a:t> </a:t>
            </a:r>
            <a:r>
              <a:rPr dirty="0" err="1"/>
              <a:t>Петрусевича</a:t>
            </a:r>
            <a:r>
              <a:rPr dirty="0"/>
              <a:t> </a:t>
            </a:r>
            <a:r>
              <a:rPr dirty="0" err="1"/>
              <a:t>Дениса</a:t>
            </a:r>
            <a:r>
              <a:rPr dirty="0"/>
              <a:t> </a:t>
            </a:r>
            <a:r>
              <a:rPr dirty="0" err="1"/>
              <a:t>Андреевича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Краткосрочное прогнозирование используется для планирования продаж, трафика, нагрузки и цен. На практике такие ряды часто имеют ограниченную историю, шум, сезонность, локальные всплески и структурные сдвиги.</a:t>
            </a:r>
          </a:p>
          <a:p>
            <a:r>
              <a:rPr lang="ru-RU" dirty="0"/>
              <a:t>Главная проблема в том, что универсальной модели для всех типов рядов не существует: статистические методы устойчивее на коротких и простых рядах, а </a:t>
            </a:r>
            <a:r>
              <a:rPr lang="ru-RU" dirty="0" err="1"/>
              <a:t>нейросетевые</a:t>
            </a:r>
            <a:r>
              <a:rPr lang="ru-RU" dirty="0"/>
              <a:t> лучше работают на более длинной и сложной динамике.</a:t>
            </a:r>
          </a:p>
          <a:p>
            <a:r>
              <a:rPr lang="ru-RU" dirty="0"/>
              <a:t>Поэтому в работе рассматривается подход, где ряд предварительно разделяется на более простые компоненты, а затем сравниваются разные способы такого разложения.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Один временной ряд обычно содержит несколько типов динамики одновременно: тренд, сезонные колебания, локальные изменения и шум. Если прогнозировать такой ряд одной моделью, она вынуждена описывать все эти эффекты сразу, из-за чего простые модели могут не уловить сложную структуру, а сложные — переобучиться на шум.</a:t>
            </a:r>
          </a:p>
          <a:p>
            <a:r>
              <a:rPr lang="ru-RU" dirty="0"/>
              <a:t>Поэтому используется идея декомпозиции: сначала разделить ряд на более однородные компоненты, а затем прогнозировать уже упрощённые задачи.</a:t>
            </a:r>
          </a:p>
          <a:p>
            <a:r>
              <a:rPr lang="ru-RU" dirty="0"/>
              <a:t>В работе сравниваются два способа разложения: STL, где ряд делится на тренд, сезонность и остаток, и MODWT, где выделяется низкочастотная часть и детали разных уровней. Гипотеза работы состоит в том, что MODWT-гибриды будут устойчивее STL-гибридов на рядах со сложной сезонностью.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Цель работы — разработать и исследовать гибридный подход к краткосрочному прогнозированию унивариативных временных рядов на основе многошкальной декомпозиции. Для достижения цели поставлены шесть задач: формализовать постановку и метрики, реализовать базовые статистические и нейросетевые модели, обосновать выбор MODWT, построить гибридную архитектуру, сопоставимую STL-схему, и провести эксперименты на синтетических рядах и на эталонных наборах M3 и M4.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Формальная постановка: на основании наблюдений ряда y_1 … y_T строится прогноз ŷ_{T+1} … ŷ_{T+H} на горизонт H. Качество оценивается тремя метриками: RMSE — абсолютная ошибка в исходных единицах ряда; MAPE — относительная средняя процентная ошибка, но она плохо работает при значениях ряда близких к нулю; sMAPE — симметричная процентная ошибка, она используется как основная метрика в протоколах M3 и M4. Все эксперименты построены как rollout — оценка вне обучающей выборки.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Идея MODWT связана с ограничением классического Фурье-анализа. Синусоиды хорошо показывают, какие частоты есть в ряде, но плохо отвечают на вопрос, когда именно эти частоты проявляются. Для временных рядов это важно, потому что локальные всплески, смена тренда или изменение сезонности могут возникать только на отдельных участках. Вейвлет-анализ решает эту проблему за счёт базисных функций, локализованных и во времени, и по частоте. Масштаб a отвечает за уровень детализации: большие масштабы описывают медленную динамику, малые — быстрые колебания. Сдвиг b задаёт положение окна во времени. Поэтому вейвлет-разложение удобно для дальнейшей гибридизации: разные масштабы ряда можно прогнозировать разными моделями.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Слайд. Вид базисных функций в разных вейвлет-преобразованиях.
Раз уж речь зашла о вейвлетах, кратко покажу, как выглядят базисные функции в разных семействах. Слева направо: Haar (db1) — простейший ступенчатый вейвлет с одним нулевым моментом; Daubechies db4 — ортогональный вейвлет с компактным носителем длины 8 и четырьмя нулевыми моментами; Symlet sym4 — близкая к симметричной версия db4; Coiflet coif1 — вейвлет, у которого нулевые моменты есть и у масштабирующей функции φ. Все они — дискретные ортогональные базисы; для сравнения справа на предыдущем слайде упоминался непрерывный Морле, который локализован гауссовой огибающей.
В работе в качестве базиса для MODWT-разложения используется именно Daubechies db4. Слева внизу показаны его масштабирующая функция φ и материнский вейвлет ψ. Выбор db4 обусловлен сочетанием нескольких свойств, важных именно для гибридного прогноза.
Во-первых, компактный носитель из восьми отсчётов — это минимальные краевые эффекты на коротких рядах M3 и M4, где история наблюдений ограничена. Во-вторых, четыре нулевых момента — вейвлет ортогонален полиномам до третьей степени, то есть гладкий тренд фактически «снимается» в низкочастотную компоненту, а в детали уходят только колебания и шум. В-третьих, ортогональность гарантирует сохранение энергии и точную реконструкцию y(t) = A_J + сумма D_j, что критично для итоговой сборки прогноза. В-четвёртых, φ и ψ достаточно гладкие, чтобы низкочастотную компоненту можно было подавать в TimesNet или N-BEATS без артефактов, характерных для ступенчатого Haar. Наконец, db4 — стандартный выбор у Percival и Walden для нестационарных рядов: он мягче Haar, но без избыточного растяжения, как у db8 и выше, что важно для устойчивости MODWT при ограниченной длине ряда.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Технически MODWT строится как многоуровневая фильтрация временного ряда. На каждом уровне используются низкочастотный и высокочастотный фильтры: первый выделяет сглаженную часть ряда, второй — детали. В отличие от DWT, MODWT не выполняет прореживание, то есть не отбрасывает каждый второй коэффициент. Поэтому все компоненты имеют ту же длину, что и исходный ряд. Это важно для моей работы, потому что такие компоненты удобно подавать в прогнозные модели и затем суммировать обратно. Итоговое представление можно записать как y(t)=A_J(t)+∑</a:t>
            </a:r>
            <a:r>
              <a:rPr lang="ru-RU" dirty="0" err="1"/>
              <a:t>D_j</a:t>
            </a:r>
            <a:r>
              <a:rPr lang="ru-RU" dirty="0"/>
              <a:t>(t), где A_J(t) — низкочастотная часть, а </a:t>
            </a:r>
            <a:r>
              <a:rPr lang="ru-RU" dirty="0" err="1"/>
              <a:t>D_j</a:t>
            </a:r>
            <a:r>
              <a:rPr lang="ru-RU" dirty="0"/>
              <a:t>(t) — детали разных масштабов. Именно это свойство используется дальше в </a:t>
            </a:r>
            <a:r>
              <a:rPr lang="ru-RU" dirty="0" err="1"/>
              <a:t>HybridPlus</a:t>
            </a:r>
            <a:r>
              <a:rPr lang="ru-RU" dirty="0"/>
              <a:t>: низкочастотную часть можно отдавать </a:t>
            </a:r>
            <a:r>
              <a:rPr lang="ru-RU" dirty="0" err="1"/>
              <a:t>TimesNet</a:t>
            </a:r>
            <a:r>
              <a:rPr lang="ru-RU" dirty="0"/>
              <a:t> или N-BEATS, а детали — более устойчивым ARIMA или 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b="1" dirty="0"/>
              <a:t>STL</a:t>
            </a:r>
            <a:r>
              <a:rPr lang="ru-RU" dirty="0"/>
              <a:t> — это сезонно-трендовая декомпозиция временного ряда, основанная на LOESS-сглаживании. В рамках этого подхода ряд представляется как сумма трёх явно интерпретируемых компонент: тренда, сезонности и остатка. Близкая идея структурного разложения используется и в модели </a:t>
            </a:r>
            <a:r>
              <a:rPr lang="ru-RU" dirty="0" err="1"/>
              <a:t>Prophet</a:t>
            </a:r>
            <a:r>
              <a:rPr lang="ru-RU" dirty="0"/>
              <a:t>, где временной ряд также описывается через трендовую, сезонную и остаточную составляющие, дополненные календарными эффектами.</a:t>
            </a:r>
          </a:p>
          <a:p>
            <a:r>
              <a:rPr lang="ru-RU" dirty="0"/>
              <a:t>Главное преимущество STL состоит в наглядной интерпретации компонент и гибком выделении нелинейного тренда. При этом метод требует заранее заданного сезонного периода и в базовой постановке ориентирован на одну сезонную шкалу. Поэтому при наличии нескольких наложенных сезонностей или сложной многопериодной структуры STL может выделять компоненты менее устойчиво. Это ограничение мотивирует рассмотрение MODWT как альтернативного </a:t>
            </a:r>
            <a:r>
              <a:rPr lang="ru-RU" dirty="0" err="1"/>
              <a:t>многошкального</a:t>
            </a:r>
            <a:r>
              <a:rPr lang="ru-RU" dirty="0"/>
              <a:t> подхода к разложению ряда.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На этом слайде показаны классические модели сравнения: ARIMA, ETS и </a:t>
            </a:r>
            <a:r>
              <a:rPr lang="ru-RU" dirty="0" err="1"/>
              <a:t>Prophet</a:t>
            </a:r>
            <a:r>
              <a:rPr lang="ru-RU" dirty="0"/>
              <a:t>. ARIMA строит линейную модель для стационарной версии ряда: авторегрессия учитывает прошлые значения, дифференцирование убирает нестационарность, а MA-компонента учитывает прошлые ошибки. В работе используется ARIMA с </a:t>
            </a:r>
            <a:r>
              <a:rPr lang="ru-RU" dirty="0" err="1"/>
              <a:t>автоподбором</a:t>
            </a:r>
            <a:r>
              <a:rPr lang="ru-RU" dirty="0"/>
              <a:t> по ACF/PACF, защитой от вырожденного прогноза и резервным набором порядков.</a:t>
            </a:r>
          </a:p>
          <a:p>
            <a:r>
              <a:rPr lang="ru-RU" dirty="0"/>
              <a:t>ETS описывает ряд через уровень, тренд и сезонность, которые обновляются экспоненциальным сглаживанием с весами α, β, γ. Поэтому модель хорошо подходит для коротких рядов и плавной динамики.</a:t>
            </a:r>
          </a:p>
          <a:p>
            <a:r>
              <a:rPr lang="ru-RU" dirty="0" err="1"/>
              <a:t>Prophet</a:t>
            </a:r>
            <a:r>
              <a:rPr lang="ru-RU" dirty="0"/>
              <a:t> — аддитивная модель: тренд плюс сезонность плюс календарные эффекты и ошибка. В работе он используется без встроенных календарных сезонностей как базовая модель сравнения.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err="1"/>
              <a:t>TimesNet</a:t>
            </a:r>
            <a:r>
              <a:rPr lang="ru-RU" dirty="0"/>
              <a:t> превращает одномерный временной ряд в набор двумерных представлений. Сначала применяется FFT — быстрое преобразование Фурье. Оно показывает, какие частоты в ряде выражены сильнее всего; затем эти частоты переводятся в соответствующие периоды. Для каждого найденного периода ряд укладывается в двумерную матрицу. В этой матрице один тип направления отвечает за изменения внутри периода — это </a:t>
            </a:r>
            <a:r>
              <a:rPr lang="ru-RU" dirty="0" err="1"/>
              <a:t>intra-period</a:t>
            </a:r>
            <a:r>
              <a:rPr lang="ru-RU" dirty="0"/>
              <a:t> </a:t>
            </a:r>
            <a:r>
              <a:rPr lang="ru-RU" dirty="0" err="1"/>
              <a:t>variation</a:t>
            </a:r>
            <a:r>
              <a:rPr lang="ru-RU" dirty="0"/>
              <a:t>, например колебания внутри недели или сезона. Второе направление отвечает за изменения между соседними периодами — </a:t>
            </a:r>
            <a:r>
              <a:rPr lang="ru-RU" dirty="0" err="1"/>
              <a:t>inter-period</a:t>
            </a:r>
            <a:r>
              <a:rPr lang="ru-RU" dirty="0"/>
              <a:t> </a:t>
            </a:r>
            <a:r>
              <a:rPr lang="ru-RU" dirty="0" err="1"/>
              <a:t>variation</a:t>
            </a:r>
            <a:r>
              <a:rPr lang="ru-RU" dirty="0"/>
              <a:t>, например как меняется одна неделя относительно другой. Затем такие двумерные представления обрабатываются 2D-свёртками, которые могут одновременно учитывать оба типа зависимостей. После этого результаты по разным периодам объединяются через </a:t>
            </a:r>
            <a:r>
              <a:rPr lang="ru-RU" dirty="0" err="1"/>
              <a:t>softmax</a:t>
            </a:r>
            <a:r>
              <a:rPr lang="ru-RU" dirty="0"/>
              <a:t>-агрегацию: периоды с большей амплитудой получают больший вес в итоговом представлении. В моей реализации используется </a:t>
            </a:r>
            <a:r>
              <a:rPr lang="ru-RU" dirty="0" err="1"/>
              <a:t>top</a:t>
            </a:r>
            <a:r>
              <a:rPr lang="ru-RU" dirty="0"/>
              <a:t>-k равный 3, четыре слоя, размер скрытого представления 64, а прогноз строится как приращение относительно последнего наблюдения, что делает краткосрочный прогноз устойчивее.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N-BEATS строит прогноз как сумму вкладов последовательных блоков. Блоки объединяются в стеки: трендовый стек использует полиномиальный базис, сезонный — базис Фурье, а </a:t>
            </a:r>
            <a:r>
              <a:rPr lang="ru-RU" dirty="0" err="1"/>
              <a:t>generic</a:t>
            </a:r>
            <a:r>
              <a:rPr lang="ru-RU" dirty="0"/>
              <a:t>-стек использует обучаемый базис и нужен для более гибкого описания остаточных паттернов. Каждый блок состоит из </a:t>
            </a:r>
            <a:r>
              <a:rPr lang="ru-RU" dirty="0" err="1"/>
              <a:t>полносвязных</a:t>
            </a:r>
            <a:r>
              <a:rPr lang="ru-RU" dirty="0"/>
              <a:t> слоёв с </a:t>
            </a:r>
            <a:r>
              <a:rPr lang="ru-RU" dirty="0" err="1"/>
              <a:t>ReLU</a:t>
            </a:r>
            <a:r>
              <a:rPr lang="ru-RU" dirty="0"/>
              <a:t> и выдаёт два результата: </a:t>
            </a:r>
            <a:r>
              <a:rPr lang="ru-RU" dirty="0" err="1"/>
              <a:t>backcast</a:t>
            </a:r>
            <a:r>
              <a:rPr lang="ru-RU" dirty="0"/>
              <a:t> и </a:t>
            </a:r>
            <a:r>
              <a:rPr lang="ru-RU" dirty="0" err="1"/>
              <a:t>forecast</a:t>
            </a:r>
            <a:r>
              <a:rPr lang="ru-RU" dirty="0"/>
              <a:t>. </a:t>
            </a:r>
            <a:r>
              <a:rPr lang="ru-RU" dirty="0" err="1"/>
              <a:t>Backcast</a:t>
            </a:r>
            <a:r>
              <a:rPr lang="ru-RU" dirty="0"/>
              <a:t> — это часть входной истории, которую блок смог объяснить; она вычитается из входа, поэтому следующий блок работает уже с остатком. </a:t>
            </a:r>
            <a:r>
              <a:rPr lang="ru-RU" dirty="0" err="1"/>
              <a:t>Forecast</a:t>
            </a:r>
            <a:r>
              <a:rPr lang="ru-RU" dirty="0"/>
              <a:t> — это частичный прогноз блока, и все такие прогнозы суммируются в итоговый прогноз. При этом STL/MODWT и N-BEATS не дублируют друг друга: STL/MODWT заранее разделяют исходный ряд на компоненты, а N-BEATS строит прогноз уже для отдельной компоненты.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Концепция</a:t>
            </a:r>
            <a:r>
              <a:rPr dirty="0"/>
              <a:t> </a:t>
            </a:r>
            <a:r>
              <a:rPr dirty="0" err="1"/>
              <a:t>HybridPlus</a:t>
            </a:r>
            <a:r>
              <a:rPr dirty="0"/>
              <a:t> </a:t>
            </a:r>
            <a:r>
              <a:rPr dirty="0" err="1"/>
              <a:t>состоит</a:t>
            </a:r>
            <a:r>
              <a:rPr dirty="0"/>
              <a:t> в </a:t>
            </a:r>
            <a:r>
              <a:rPr dirty="0" err="1"/>
              <a:t>раздельном</a:t>
            </a:r>
            <a:r>
              <a:rPr dirty="0"/>
              <a:t> </a:t>
            </a:r>
            <a:r>
              <a:rPr dirty="0" err="1"/>
              <a:t>моделировании</a:t>
            </a:r>
            <a:r>
              <a:rPr dirty="0"/>
              <a:t> </a:t>
            </a:r>
            <a:r>
              <a:rPr dirty="0" err="1"/>
              <a:t>компонент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MODWT-</a:t>
            </a:r>
            <a:r>
              <a:rPr dirty="0" err="1"/>
              <a:t>разложения</a:t>
            </a:r>
            <a:r>
              <a:rPr dirty="0"/>
              <a:t>. </a:t>
            </a:r>
            <a:r>
              <a:rPr dirty="0" err="1"/>
              <a:t>Исходный</a:t>
            </a:r>
            <a:r>
              <a:rPr dirty="0"/>
              <a:t> </a:t>
            </a:r>
            <a:r>
              <a:rPr dirty="0" err="1"/>
              <a:t>ряд</a:t>
            </a:r>
            <a:r>
              <a:rPr dirty="0"/>
              <a:t> </a:t>
            </a:r>
            <a:r>
              <a:rPr dirty="0" err="1"/>
              <a:t>раскладывается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низкочастотную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— </a:t>
            </a:r>
            <a:r>
              <a:rPr dirty="0" err="1"/>
              <a:t>фактически</a:t>
            </a:r>
            <a:r>
              <a:rPr dirty="0"/>
              <a:t> </a:t>
            </a:r>
            <a:r>
              <a:rPr dirty="0" err="1"/>
              <a:t>тренд</a:t>
            </a:r>
            <a:r>
              <a:rPr dirty="0"/>
              <a:t>, и </a:t>
            </a:r>
            <a:r>
              <a:rPr dirty="0" err="1"/>
              <a:t>высокочастотные</a:t>
            </a:r>
            <a:r>
              <a:rPr dirty="0"/>
              <a:t> </a:t>
            </a:r>
            <a:r>
              <a:rPr dirty="0" err="1"/>
              <a:t>детали</a:t>
            </a:r>
            <a:r>
              <a:rPr dirty="0"/>
              <a:t> — </a:t>
            </a:r>
            <a:r>
              <a:rPr dirty="0" err="1"/>
              <a:t>фактически</a:t>
            </a:r>
            <a:r>
              <a:rPr dirty="0"/>
              <a:t> </a:t>
            </a:r>
            <a:r>
              <a:rPr dirty="0" err="1"/>
              <a:t>сезонность</a:t>
            </a:r>
            <a:r>
              <a:rPr dirty="0"/>
              <a:t> и </a:t>
            </a:r>
            <a:r>
              <a:rPr dirty="0" err="1"/>
              <a:t>шум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каждой</a:t>
            </a:r>
            <a:r>
              <a:rPr dirty="0"/>
              <a:t> </a:t>
            </a:r>
            <a:r>
              <a:rPr dirty="0" err="1"/>
              <a:t>компоненты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наиболее</a:t>
            </a:r>
            <a:r>
              <a:rPr dirty="0"/>
              <a:t> </a:t>
            </a:r>
            <a:r>
              <a:rPr dirty="0" err="1"/>
              <a:t>подходящая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: </a:t>
            </a:r>
            <a:r>
              <a:rPr dirty="0" err="1"/>
              <a:t>нейросеть</a:t>
            </a:r>
            <a:r>
              <a:rPr dirty="0"/>
              <a:t> </a:t>
            </a:r>
            <a:r>
              <a:rPr dirty="0" err="1"/>
              <a:t>TimesNet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N-BEATS —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гладкой</a:t>
            </a:r>
            <a:r>
              <a:rPr dirty="0"/>
              <a:t> </a:t>
            </a:r>
            <a:r>
              <a:rPr dirty="0" err="1"/>
              <a:t>низкочастотной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, а </a:t>
            </a:r>
            <a:r>
              <a:rPr dirty="0" err="1"/>
              <a:t>статистические</a:t>
            </a:r>
            <a:r>
              <a:rPr dirty="0"/>
              <a:t> ARIMA </a:t>
            </a:r>
            <a:r>
              <a:rPr dirty="0" err="1"/>
              <a:t>или</a:t>
            </a:r>
            <a:r>
              <a:rPr dirty="0"/>
              <a:t> ETS —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высокочастотных</a:t>
            </a:r>
            <a:r>
              <a:rPr dirty="0"/>
              <a:t> </a:t>
            </a:r>
            <a:r>
              <a:rPr dirty="0" err="1"/>
              <a:t>деталей</a:t>
            </a:r>
            <a:r>
              <a:rPr dirty="0"/>
              <a:t>.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раздельного</a:t>
            </a:r>
            <a:r>
              <a:rPr dirty="0"/>
              <a:t> </a:t>
            </a:r>
            <a:r>
              <a:rPr dirty="0" err="1"/>
              <a:t>прогнозирования</a:t>
            </a:r>
            <a:r>
              <a:rPr dirty="0"/>
              <a:t> </a:t>
            </a:r>
            <a:r>
              <a:rPr dirty="0" err="1"/>
              <a:t>компоненты</a:t>
            </a:r>
            <a:r>
              <a:rPr dirty="0"/>
              <a:t> </a:t>
            </a:r>
            <a:r>
              <a:rPr dirty="0" err="1"/>
              <a:t>объединяются</a:t>
            </a:r>
            <a:r>
              <a:rPr dirty="0"/>
              <a:t> </a:t>
            </a:r>
            <a:r>
              <a:rPr dirty="0" err="1"/>
              <a:t>обратно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суммирование</a:t>
            </a:r>
            <a:r>
              <a:rPr dirty="0"/>
              <a:t>.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избежать</a:t>
            </a:r>
            <a:r>
              <a:rPr dirty="0"/>
              <a:t> </a:t>
            </a:r>
            <a:r>
              <a:rPr dirty="0" err="1"/>
              <a:t>типичных</a:t>
            </a:r>
            <a:r>
              <a:rPr dirty="0"/>
              <a:t> </a:t>
            </a:r>
            <a:r>
              <a:rPr dirty="0" err="1"/>
              <a:t>проблем</a:t>
            </a:r>
            <a:r>
              <a:rPr dirty="0"/>
              <a:t> </a:t>
            </a:r>
            <a:r>
              <a:rPr dirty="0" err="1"/>
              <a:t>гибридных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, </a:t>
            </a:r>
            <a:r>
              <a:rPr dirty="0" err="1"/>
              <a:t>добавлены</a:t>
            </a:r>
            <a:r>
              <a:rPr dirty="0"/>
              <a:t> </a:t>
            </a:r>
            <a:r>
              <a:rPr dirty="0" err="1"/>
              <a:t>инженерные</a:t>
            </a:r>
            <a:r>
              <a:rPr dirty="0"/>
              <a:t> </a:t>
            </a:r>
            <a:r>
              <a:rPr dirty="0" err="1"/>
              <a:t>меры</a:t>
            </a:r>
            <a:r>
              <a:rPr dirty="0"/>
              <a:t>: </a:t>
            </a:r>
            <a:r>
              <a:rPr dirty="0" err="1"/>
              <a:t>вклад</a:t>
            </a:r>
            <a:r>
              <a:rPr dirty="0"/>
              <a:t> </a:t>
            </a:r>
            <a:r>
              <a:rPr dirty="0" err="1"/>
              <a:t>высокочастотных</a:t>
            </a:r>
            <a:r>
              <a:rPr dirty="0"/>
              <a:t> </a:t>
            </a:r>
            <a:r>
              <a:rPr dirty="0" err="1"/>
              <a:t>компонент</a:t>
            </a:r>
            <a:r>
              <a:rPr dirty="0"/>
              <a:t> </a:t>
            </a:r>
            <a:r>
              <a:rPr dirty="0" err="1"/>
              <a:t>монотонно</a:t>
            </a:r>
            <a:r>
              <a:rPr dirty="0"/>
              <a:t> </a:t>
            </a:r>
            <a:r>
              <a:rPr dirty="0" err="1"/>
              <a:t>уменьшается</a:t>
            </a:r>
            <a:r>
              <a:rPr dirty="0"/>
              <a:t> с </a:t>
            </a:r>
            <a:r>
              <a:rPr dirty="0" err="1"/>
              <a:t>горизонтом</a:t>
            </a:r>
            <a:r>
              <a:rPr dirty="0"/>
              <a:t>, а </a:t>
            </a:r>
            <a:r>
              <a:rPr dirty="0" err="1"/>
              <a:t>разница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последним</a:t>
            </a:r>
            <a:r>
              <a:rPr dirty="0"/>
              <a:t> </a:t>
            </a:r>
            <a:r>
              <a:rPr dirty="0" err="1"/>
              <a:t>наблюдением</a:t>
            </a:r>
            <a:r>
              <a:rPr dirty="0"/>
              <a:t> и </a:t>
            </a:r>
            <a:r>
              <a:rPr dirty="0" err="1"/>
              <a:t>первым</a:t>
            </a:r>
            <a:r>
              <a:rPr dirty="0"/>
              <a:t> </a:t>
            </a:r>
            <a:r>
              <a:rPr dirty="0" err="1"/>
              <a:t>шагом</a:t>
            </a:r>
            <a:r>
              <a:rPr dirty="0"/>
              <a:t> </a:t>
            </a:r>
            <a:r>
              <a:rPr dirty="0" err="1"/>
              <a:t>прогноза</a:t>
            </a:r>
            <a:r>
              <a:rPr dirty="0"/>
              <a:t> </a:t>
            </a:r>
            <a:r>
              <a:rPr dirty="0" err="1"/>
              <a:t>ограничивается</a:t>
            </a:r>
            <a:r>
              <a:rPr dirty="0"/>
              <a:t> </a:t>
            </a:r>
            <a:r>
              <a:rPr dirty="0" err="1"/>
              <a:t>робастной</a:t>
            </a:r>
            <a:r>
              <a:rPr dirty="0"/>
              <a:t> </a:t>
            </a:r>
            <a:r>
              <a:rPr dirty="0" err="1"/>
              <a:t>оценкой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работе реализовано четыре класса моделей. Четыре классические базовые: ARIMA с фиксированным порядком, ARIMA с автоподбором, ETS и Prophet. Четыре нейросетевые: TimesNet и N-BEATS без декомпозиции, а также TimesNet+ и N-BEATS+, где сеть применяется ко всем компонентам MODWT. И восемь гибридных моделей HybridPlus: четыре на основе MODWT и четыре на основе STL — в каждой четвёрке комбинируются TimesNet или N-BEATS на одной части и ARIMA или ETS на другой. Это симметричный набор, позволяющий аккуратно сравнить два типа декомпозиции.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Главная</a:t>
            </a:r>
            <a:r>
              <a:rPr dirty="0"/>
              <a:t> </a:t>
            </a:r>
            <a:r>
              <a:rPr dirty="0" err="1"/>
              <a:t>инженерная</a:t>
            </a:r>
            <a:r>
              <a:rPr dirty="0"/>
              <a:t> </a:t>
            </a:r>
            <a:r>
              <a:rPr dirty="0" err="1"/>
              <a:t>сложность</a:t>
            </a:r>
            <a:r>
              <a:rPr dirty="0"/>
              <a:t> </a:t>
            </a:r>
            <a:r>
              <a:rPr dirty="0" err="1"/>
              <a:t>гибридных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скрыта</a:t>
            </a:r>
            <a:r>
              <a:rPr dirty="0"/>
              <a:t> в </a:t>
            </a:r>
            <a:r>
              <a:rPr dirty="0" err="1"/>
              <a:t>обработке</a:t>
            </a:r>
            <a:r>
              <a:rPr dirty="0"/>
              <a:t> </a:t>
            </a:r>
            <a:r>
              <a:rPr dirty="0" err="1"/>
              <a:t>границ</a:t>
            </a:r>
            <a:r>
              <a:rPr dirty="0"/>
              <a:t> и </a:t>
            </a:r>
            <a:r>
              <a:rPr dirty="0" err="1"/>
              <a:t>стабилизации</a:t>
            </a:r>
            <a:r>
              <a:rPr dirty="0"/>
              <a:t> </a:t>
            </a:r>
            <a:r>
              <a:rPr dirty="0" err="1"/>
              <a:t>первого</a:t>
            </a:r>
            <a:r>
              <a:rPr dirty="0"/>
              <a:t> </a:t>
            </a:r>
            <a:r>
              <a:rPr dirty="0" err="1"/>
              <a:t>шага</a:t>
            </a:r>
            <a:r>
              <a:rPr dirty="0"/>
              <a:t>. Я </a:t>
            </a:r>
            <a:r>
              <a:rPr dirty="0" err="1"/>
              <a:t>выделил</a:t>
            </a:r>
            <a:r>
              <a:rPr dirty="0"/>
              <a:t> </a:t>
            </a:r>
            <a:r>
              <a:rPr dirty="0" err="1"/>
              <a:t>четыре</a:t>
            </a:r>
            <a:r>
              <a:rPr dirty="0"/>
              <a:t>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меры</a:t>
            </a:r>
            <a:r>
              <a:rPr dirty="0"/>
              <a:t>. </a:t>
            </a:r>
            <a:r>
              <a:rPr dirty="0" err="1"/>
              <a:t>Первая</a:t>
            </a:r>
            <a:r>
              <a:rPr dirty="0"/>
              <a:t> — padding </a:t>
            </a:r>
            <a:r>
              <a:rPr dirty="0" err="1"/>
              <a:t>повторением</a:t>
            </a:r>
            <a:r>
              <a:rPr dirty="0"/>
              <a:t> </a:t>
            </a:r>
            <a:r>
              <a:rPr dirty="0" err="1"/>
              <a:t>последнего</a:t>
            </a:r>
            <a:r>
              <a:rPr dirty="0"/>
              <a:t> </a:t>
            </a:r>
            <a:r>
              <a:rPr dirty="0" err="1"/>
              <a:t>значения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нулей</a:t>
            </a:r>
            <a:r>
              <a:rPr dirty="0"/>
              <a:t>;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уменьшает</a:t>
            </a:r>
            <a:r>
              <a:rPr dirty="0"/>
              <a:t> </a:t>
            </a:r>
            <a:r>
              <a:rPr dirty="0" err="1"/>
              <a:t>искусственные</a:t>
            </a:r>
            <a:r>
              <a:rPr dirty="0"/>
              <a:t> </a:t>
            </a:r>
            <a:r>
              <a:rPr dirty="0" err="1"/>
              <a:t>скачки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границе</a:t>
            </a:r>
            <a:r>
              <a:rPr dirty="0"/>
              <a:t> </a:t>
            </a:r>
            <a:r>
              <a:rPr dirty="0" err="1"/>
              <a:t>окна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укладке</a:t>
            </a:r>
            <a:r>
              <a:rPr dirty="0"/>
              <a:t> в </a:t>
            </a:r>
            <a:r>
              <a:rPr dirty="0" err="1"/>
              <a:t>матрицу</a:t>
            </a:r>
            <a:r>
              <a:rPr dirty="0"/>
              <a:t> </a:t>
            </a:r>
            <a:r>
              <a:rPr dirty="0" err="1"/>
              <a:t>TimesNet</a:t>
            </a:r>
            <a:r>
              <a:rPr dirty="0"/>
              <a:t>. </a:t>
            </a:r>
            <a:r>
              <a:rPr dirty="0" err="1"/>
              <a:t>Вторая</a:t>
            </a:r>
            <a:r>
              <a:rPr dirty="0"/>
              <a:t> — </a:t>
            </a:r>
            <a:r>
              <a:rPr dirty="0" err="1"/>
              <a:t>стабилизация</a:t>
            </a:r>
            <a:r>
              <a:rPr dirty="0"/>
              <a:t> </a:t>
            </a:r>
            <a:r>
              <a:rPr dirty="0" err="1"/>
              <a:t>первого</a:t>
            </a:r>
            <a:r>
              <a:rPr dirty="0"/>
              <a:t> </a:t>
            </a:r>
            <a:r>
              <a:rPr dirty="0" err="1"/>
              <a:t>шага</a:t>
            </a:r>
            <a:r>
              <a:rPr dirty="0"/>
              <a:t>: </a:t>
            </a:r>
            <a:r>
              <a:rPr dirty="0" err="1"/>
              <a:t>прогноз</a:t>
            </a:r>
            <a:r>
              <a:rPr dirty="0"/>
              <a:t> </a:t>
            </a:r>
            <a:r>
              <a:rPr dirty="0" err="1"/>
              <a:t>деталей</a:t>
            </a:r>
            <a:r>
              <a:rPr dirty="0"/>
              <a:t> </a:t>
            </a:r>
            <a:r>
              <a:rPr dirty="0" err="1"/>
              <a:t>смешивается</a:t>
            </a:r>
            <a:r>
              <a:rPr dirty="0"/>
              <a:t> с </a:t>
            </a:r>
            <a:r>
              <a:rPr dirty="0" err="1"/>
              <a:t>последним</a:t>
            </a:r>
            <a:r>
              <a:rPr dirty="0"/>
              <a:t> </a:t>
            </a:r>
            <a:r>
              <a:rPr dirty="0" err="1"/>
              <a:t>наблюдаемым</a:t>
            </a:r>
            <a:r>
              <a:rPr dirty="0"/>
              <a:t> </a:t>
            </a:r>
            <a:r>
              <a:rPr dirty="0" err="1"/>
              <a:t>уровнем</a:t>
            </a:r>
            <a:r>
              <a:rPr dirty="0"/>
              <a:t>, а </a:t>
            </a:r>
            <a:r>
              <a:rPr dirty="0" err="1"/>
              <a:t>разность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прогнозом</a:t>
            </a:r>
            <a:r>
              <a:rPr dirty="0"/>
              <a:t> и </a:t>
            </a:r>
            <a:r>
              <a:rPr dirty="0" err="1"/>
              <a:t>последним</a:t>
            </a:r>
            <a:r>
              <a:rPr dirty="0"/>
              <a:t> </a:t>
            </a:r>
            <a:r>
              <a:rPr dirty="0" err="1"/>
              <a:t>наблюдением</a:t>
            </a:r>
            <a:r>
              <a:rPr dirty="0"/>
              <a:t> </a:t>
            </a:r>
            <a:r>
              <a:rPr dirty="0" err="1"/>
              <a:t>ограничивается</a:t>
            </a:r>
            <a:r>
              <a:rPr dirty="0"/>
              <a:t> </a:t>
            </a:r>
            <a:r>
              <a:rPr dirty="0" err="1"/>
              <a:t>робастной</a:t>
            </a:r>
            <a:r>
              <a:rPr dirty="0"/>
              <a:t> </a:t>
            </a:r>
            <a:r>
              <a:rPr dirty="0" err="1"/>
              <a:t>оценкой</a:t>
            </a:r>
            <a:r>
              <a:rPr dirty="0"/>
              <a:t> </a:t>
            </a:r>
            <a:r>
              <a:rPr dirty="0" err="1"/>
              <a:t>типичного</a:t>
            </a:r>
            <a:r>
              <a:rPr dirty="0"/>
              <a:t> </a:t>
            </a:r>
            <a:r>
              <a:rPr dirty="0" err="1"/>
              <a:t>шага</a:t>
            </a:r>
            <a:r>
              <a:rPr dirty="0"/>
              <a:t> </a:t>
            </a:r>
            <a:r>
              <a:rPr dirty="0" err="1"/>
              <a:t>ряда</a:t>
            </a:r>
            <a:r>
              <a:rPr dirty="0"/>
              <a:t>. </a:t>
            </a:r>
            <a:r>
              <a:rPr dirty="0" err="1"/>
              <a:t>Третья</a:t>
            </a:r>
            <a:r>
              <a:rPr dirty="0"/>
              <a:t> — </a:t>
            </a:r>
            <a:r>
              <a:rPr dirty="0" err="1"/>
              <a:t>вклад</a:t>
            </a:r>
            <a:r>
              <a:rPr dirty="0"/>
              <a:t> </a:t>
            </a:r>
            <a:r>
              <a:rPr dirty="0" err="1"/>
              <a:t>высокочастотных</a:t>
            </a:r>
            <a:r>
              <a:rPr dirty="0"/>
              <a:t> </a:t>
            </a:r>
            <a:r>
              <a:rPr dirty="0" err="1"/>
              <a:t>компонент</a:t>
            </a:r>
            <a:r>
              <a:rPr dirty="0"/>
              <a:t> </a:t>
            </a:r>
            <a:r>
              <a:rPr dirty="0" err="1"/>
              <a:t>монотонно</a:t>
            </a:r>
            <a:r>
              <a:rPr dirty="0"/>
              <a:t> </a:t>
            </a:r>
            <a:r>
              <a:rPr dirty="0" err="1"/>
              <a:t>убывает</a:t>
            </a:r>
            <a:r>
              <a:rPr dirty="0"/>
              <a:t> с </a:t>
            </a:r>
            <a:r>
              <a:rPr dirty="0" err="1"/>
              <a:t>горизонтом</a:t>
            </a:r>
            <a:r>
              <a:rPr dirty="0"/>
              <a:t>: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доверяем</a:t>
            </a:r>
            <a:r>
              <a:rPr dirty="0"/>
              <a:t> </a:t>
            </a:r>
            <a:r>
              <a:rPr dirty="0" err="1"/>
              <a:t>дальним</a:t>
            </a:r>
            <a:r>
              <a:rPr dirty="0"/>
              <a:t> </a:t>
            </a:r>
            <a:r>
              <a:rPr dirty="0" err="1"/>
              <a:t>прогнозам</a:t>
            </a:r>
            <a:r>
              <a:rPr dirty="0"/>
              <a:t> </a:t>
            </a:r>
            <a:r>
              <a:rPr dirty="0" err="1"/>
              <a:t>шумоподобных</a:t>
            </a:r>
            <a:r>
              <a:rPr dirty="0"/>
              <a:t> </a:t>
            </a:r>
            <a:r>
              <a:rPr dirty="0" err="1"/>
              <a:t>компонент</a:t>
            </a:r>
            <a:r>
              <a:rPr dirty="0"/>
              <a:t>. И </a:t>
            </a:r>
            <a:r>
              <a:rPr dirty="0" err="1"/>
              <a:t>четвёртая</a:t>
            </a:r>
            <a:r>
              <a:rPr dirty="0"/>
              <a:t> — </a:t>
            </a:r>
            <a:r>
              <a:rPr dirty="0" err="1"/>
              <a:t>циклическое</a:t>
            </a:r>
            <a:r>
              <a:rPr dirty="0"/>
              <a:t> </a:t>
            </a:r>
            <a:r>
              <a:rPr dirty="0" err="1"/>
              <a:t>граничное</a:t>
            </a:r>
            <a:r>
              <a:rPr dirty="0"/>
              <a:t> </a:t>
            </a:r>
            <a:r>
              <a:rPr dirty="0" err="1"/>
              <a:t>условие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MODWT,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артефакты</a:t>
            </a:r>
            <a:r>
              <a:rPr dirty="0"/>
              <a:t> </a:t>
            </a:r>
            <a:r>
              <a:rPr dirty="0" err="1"/>
              <a:t>разложения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Эксперименты были выстроены последовательно. Сначала модели проверялись на синтетических рядах с контролируемой структурой — плоских профилях, тренде, простой сезонности и шуме. Этот этап нужен для проверки корректности реализации и поведения моделей.</a:t>
            </a:r>
          </a:p>
          <a:p>
            <a:r>
              <a:rPr lang="ru-RU" dirty="0"/>
              <a:t>Затем была проведена проверка на M3 — это реальные короткие и средние ряды, где оценивалась конкурентоспособность базовых, </a:t>
            </a:r>
            <a:r>
              <a:rPr lang="ru-RU" dirty="0" err="1"/>
              <a:t>нейросетевых</a:t>
            </a:r>
            <a:r>
              <a:rPr lang="ru-RU" dirty="0"/>
              <a:t> и гибридных моделей.</a:t>
            </a:r>
          </a:p>
          <a:p>
            <a:r>
              <a:rPr lang="ru-RU" dirty="0"/>
              <a:t>Основной реальный эксперимент проводился на M4: здесь сравнивались разные частоты — </a:t>
            </a:r>
            <a:r>
              <a:rPr lang="ru-RU" dirty="0" err="1"/>
              <a:t>yearly</a:t>
            </a:r>
            <a:r>
              <a:rPr lang="ru-RU" dirty="0"/>
              <a:t>, </a:t>
            </a:r>
            <a:r>
              <a:rPr lang="ru-RU" dirty="0" err="1"/>
              <a:t>quarterly</a:t>
            </a:r>
            <a:r>
              <a:rPr lang="ru-RU" dirty="0"/>
              <a:t>, </a:t>
            </a:r>
            <a:r>
              <a:rPr lang="ru-RU" dirty="0" err="1"/>
              <a:t>daily</a:t>
            </a:r>
            <a:r>
              <a:rPr lang="ru-RU" dirty="0"/>
              <a:t> и </a:t>
            </a:r>
            <a:r>
              <a:rPr lang="ru-RU" dirty="0" err="1"/>
              <a:t>hourly</a:t>
            </a:r>
            <a:r>
              <a:rPr lang="ru-RU" dirty="0"/>
              <a:t> — и анализировалось, где гибридизация действительно даёт устойчивый выигрыш.</a:t>
            </a:r>
          </a:p>
          <a:p>
            <a:r>
              <a:rPr lang="ru-RU" dirty="0"/>
              <a:t>После этого отдельно проверялась гипотеза работы на рядах со сложной многопериодной сезонностью с НОК 60 и 105, где напрямую сравнивались STL- и MODWT-гибриды.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Это точечный пример на квартальном ряде Q2142 из M4. Прогноз строится в формате </a:t>
            </a:r>
            <a:r>
              <a:rPr lang="ru-RU" b="1" dirty="0" err="1"/>
              <a:t>rollout</a:t>
            </a:r>
            <a:r>
              <a:rPr lang="ru-RU" b="1" dirty="0"/>
              <a:t>-симуляции</a:t>
            </a:r>
            <a:r>
              <a:rPr lang="ru-RU" dirty="0"/>
              <a:t>: модель не просто предсказывает один шаг, а последовательно разворачивает прогноз на горизонт, каждый раз используя уже полученные значения. Поэтому здесь важна не только точность первого шага, но и устойчивость траектории прогноза в целом.</a:t>
            </a:r>
          </a:p>
          <a:p>
            <a:r>
              <a:rPr lang="ru-RU" dirty="0"/>
              <a:t>По таблице видно, что </a:t>
            </a:r>
            <a:r>
              <a:rPr lang="ru-RU" b="1" dirty="0"/>
              <a:t>MODWT + </a:t>
            </a:r>
            <a:r>
              <a:rPr lang="ru-RU" b="1" dirty="0" err="1"/>
              <a:t>TimesNet</a:t>
            </a:r>
            <a:r>
              <a:rPr lang="ru-RU" b="1" dirty="0"/>
              <a:t> + ETS</a:t>
            </a:r>
            <a:r>
              <a:rPr lang="ru-RU" dirty="0"/>
              <a:t> даёт лучший общий результат: модель хорошо выглядит сразу по относительным и абсолютной метрике. На графике справа гибридный прогноз также ближе к фактической траектории.</a:t>
            </a:r>
          </a:p>
          <a:p>
            <a:r>
              <a:rPr lang="ru-RU" b="1" dirty="0" err="1"/>
              <a:t>Prophet</a:t>
            </a:r>
            <a:r>
              <a:rPr lang="ru-RU" dirty="0"/>
              <a:t>, наоборот, заметно отклоняется от динамики ряда. Вероятная причина в том, что в этой постановке он используется без календарных признаков и при короткой квартальной истории фактически строит достаточно грубое аддитивное продолжение тренда и сезонности.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Второй иллюстративный пример — квартальный ряд Q2147. В отличие от предыдущего ряда, здесь сильнее выражены растущий тренд и сезонные колебания, поэтому важно смотреть не только на отдельную ошибку, а на то, насколько модель удерживает общую форму траектории.</a:t>
            </a:r>
          </a:p>
          <a:p>
            <a:r>
              <a:rPr lang="ru-RU" dirty="0"/>
              <a:t>По таблице лучший общий результат показывает </a:t>
            </a:r>
            <a:r>
              <a:rPr lang="ru-RU" b="1" dirty="0"/>
              <a:t>MODWT + N-BEATS + ETS</a:t>
            </a:r>
            <a:r>
              <a:rPr lang="ru-RU" dirty="0"/>
              <a:t>: он лучше выглядит и по относительным ошибкам, и по абсолютной ошибке. При этом важно, что гибрид улучшает результат относительно чистого N-BEATS без декомпозиции, то есть разложение ряда здесь действительно помогает.</a:t>
            </a:r>
          </a:p>
          <a:p>
            <a:r>
              <a:rPr lang="ru-RU" dirty="0"/>
              <a:t>На графике справа видно, что гибридные прогнозы в целом ближе идут вдоль фактической траектории, тогда как классические модели хуже удерживают растущий тренд, а </a:t>
            </a:r>
            <a:r>
              <a:rPr lang="ru-RU" dirty="0" err="1"/>
              <a:t>Prophet</a:t>
            </a:r>
            <a:r>
              <a:rPr lang="ru-RU" dirty="0"/>
              <a:t> снова заметно отстаёт. Этот пример дополняет предыдущий: на разных рядах лидируют разные комбинации, но общая закономерность сохраняется — MODWT-гибриды выглядят устойчивее базовых моделей.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741737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На годовой частоте M4 ряды достаточно короткие, поэтому это сценарий, где сложные модели имеют ограниченное преимущество. По таблице видно, что лучший общий профиль даёт </a:t>
            </a:r>
            <a:r>
              <a:rPr lang="ru-RU" b="1" dirty="0"/>
              <a:t>MODWT + </a:t>
            </a:r>
            <a:r>
              <a:rPr lang="ru-RU" b="1" dirty="0" err="1"/>
              <a:t>TimesNet</a:t>
            </a:r>
            <a:r>
              <a:rPr lang="ru-RU" b="1" dirty="0"/>
              <a:t> + ARIMA(</a:t>
            </a:r>
            <a:r>
              <a:rPr lang="ru-RU" b="1" dirty="0" err="1"/>
              <a:t>auto</a:t>
            </a:r>
            <a:r>
              <a:rPr lang="ru-RU" b="1" dirty="0"/>
              <a:t>)</a:t>
            </a:r>
            <a:r>
              <a:rPr lang="ru-RU" dirty="0"/>
              <a:t>: он находится в верхней части сразу по нескольким метрикам.</a:t>
            </a:r>
          </a:p>
          <a:p>
            <a:r>
              <a:rPr lang="ru-RU" dirty="0"/>
              <a:t>Но важнее не сам факт лидерства, а общая картина: выигрыш гибрида здесь умеренный. Классические ARIMA-модели остаются конкурентоспособными, потому что на короткой истории простые и устойчивые методы часто работают надёжнее.</a:t>
            </a:r>
          </a:p>
          <a:p>
            <a:r>
              <a:rPr lang="ru-RU" dirty="0" err="1"/>
              <a:t>Нейросетевые</a:t>
            </a:r>
            <a:r>
              <a:rPr lang="ru-RU" dirty="0"/>
              <a:t> модели, особенно N-BEATS без декомпозиции, на этой частоте выглядят слабее. Поэтому вывод по годовым рядам такой: гибридизация может помочь, но для очень коротких рядов её нужно применять осторожно, а классические модели остаются сильным ориентиром.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На квартальной частоте картина отличается от годовых рядов. Здесь по общей совокупности результатов наиболее устойчиво выглядит </a:t>
            </a:r>
            <a:r>
              <a:rPr lang="ru-RU" b="1" dirty="0"/>
              <a:t>ETS</a:t>
            </a:r>
            <a:r>
              <a:rPr lang="ru-RU" dirty="0"/>
              <a:t>: модель хорошо справляется с относительно гладкой динамикой и не требует сложной архитектуры.</a:t>
            </a:r>
          </a:p>
          <a:p>
            <a:r>
              <a:rPr lang="ru-RU" dirty="0"/>
              <a:t>При этом чистый </a:t>
            </a:r>
            <a:r>
              <a:rPr lang="ru-RU" b="1" dirty="0" err="1"/>
              <a:t>TimesNet</a:t>
            </a:r>
            <a:r>
              <a:rPr lang="ru-RU" dirty="0"/>
              <a:t> оказывается конкурентоспособным по абсолютной ошибке, то есть хорошо попадает в масштаб ряда. Гибридные модели находятся близко к лидерам, но явного системного преимущества здесь не показывают.</a:t>
            </a:r>
          </a:p>
          <a:p>
            <a:r>
              <a:rPr lang="ru-RU" dirty="0"/>
              <a:t>Поэтому основной вывод по квартальным рядам такой: если структура ряда достаточно гладкая и сезонность выражена умеренно, дополнительная сложность гибридной схемы может не окупаться. В таких условиях классические модели, особенно ETS, остаются очень сильным базовым вариантом.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Это главный результат работы на дневных рядах M4. Здесь картина отличается от годовой и квартальной частотности: наилучший общий результат показывает MODWT + </a:t>
            </a:r>
            <a:r>
              <a:rPr lang="ru-RU" dirty="0" err="1"/>
              <a:t>TimesNet</a:t>
            </a:r>
            <a:r>
              <a:rPr lang="ru-RU" dirty="0"/>
              <a:t> + ETS. Гибрид устойчиво опережает как классические модели, так и чистые нейросети без декомпозиции.</a:t>
            </a:r>
          </a:p>
          <a:p>
            <a:r>
              <a:rPr lang="ru-RU" dirty="0"/>
              <a:t>Относительно классики преимущество связано с тем, что дневные ряды содержат более сложную структуру: тренд, сезонные эффекты, локальные всплески и шум. ARIMA и ETS остаются сильными базовыми моделями, но им сложнее одновременно описывать все эти типы динамики.</a:t>
            </a:r>
          </a:p>
          <a:p>
            <a:r>
              <a:rPr lang="ru-RU" dirty="0"/>
              <a:t>По сравнению с чистыми </a:t>
            </a:r>
            <a:r>
              <a:rPr lang="ru-RU" dirty="0" err="1"/>
              <a:t>TimesNet</a:t>
            </a:r>
            <a:r>
              <a:rPr lang="ru-RU" dirty="0"/>
              <a:t> и N-BEATS преимущество гибрида показывает, что важна не только </a:t>
            </a:r>
            <a:r>
              <a:rPr lang="ru-RU" dirty="0" err="1"/>
              <a:t>нейросетевая</a:t>
            </a:r>
            <a:r>
              <a:rPr lang="ru-RU" dirty="0"/>
              <a:t> архитектура, но и предварительное разложение ряда. MODWT упрощает задачу: нейросеть работает с более устойчивой низкочастотной частью, а ETS стабилизирует прогноз деталей.</a:t>
            </a:r>
          </a:p>
          <a:p>
            <a:r>
              <a:rPr lang="ru-RU" dirty="0"/>
              <a:t>Поэтому основной вывод по дневным рядам такой: когда в данных одновременно присутствуют тренд, сезонность и локальные изменения, </a:t>
            </a:r>
            <a:r>
              <a:rPr lang="ru-RU" dirty="0" err="1"/>
              <a:t>многошкальная</a:t>
            </a:r>
            <a:r>
              <a:rPr lang="ru-RU" dirty="0"/>
              <a:t> декомпозиция раскрывается лучше всего, а гибридная схема даёт наиболее устойчивый выигрыш.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Это ключевой эксперимент для проверки гипотезы работы: действительно ли </a:t>
            </a:r>
            <a:r>
              <a:rPr lang="ru-RU" b="1" dirty="0"/>
              <a:t>MODWT</a:t>
            </a:r>
            <a:r>
              <a:rPr lang="ru-RU" dirty="0"/>
              <a:t> даёт преимущество перед </a:t>
            </a:r>
            <a:r>
              <a:rPr lang="ru-RU" b="1" dirty="0"/>
              <a:t>STL</a:t>
            </a:r>
            <a:r>
              <a:rPr lang="ru-RU" dirty="0"/>
              <a:t> в условиях сложной сезонности. На этом слайде показан профиль с многопериодной сезонностью и </a:t>
            </a:r>
            <a:r>
              <a:rPr lang="ru-RU" b="1" dirty="0"/>
              <a:t>НОК = 60</a:t>
            </a:r>
            <a:r>
              <a:rPr lang="ru-RU" dirty="0"/>
              <a:t>.</a:t>
            </a:r>
          </a:p>
          <a:p>
            <a:r>
              <a:rPr lang="ru-RU" dirty="0"/>
              <a:t>По таблице видно, что </a:t>
            </a:r>
            <a:r>
              <a:rPr lang="ru-RU" b="1" dirty="0"/>
              <a:t>MODWT-гибриды в целом устойчиво опережают STL-гибриды</a:t>
            </a:r>
            <a:r>
              <a:rPr lang="ru-RU" dirty="0"/>
              <a:t>. Причём важно не только лидерство одной конкретной модели, а общая картина: вся группа MODWT-гибридов выглядит сильнее, чем соответствующие схемы на основе STL. Лучший результат здесь показывает </a:t>
            </a:r>
            <a:r>
              <a:rPr lang="ru-RU" b="1" dirty="0"/>
              <a:t>MODWT + N-BEATS + ETS</a:t>
            </a:r>
            <a:r>
              <a:rPr lang="ru-RU" dirty="0"/>
              <a:t>.</a:t>
            </a:r>
          </a:p>
          <a:p>
            <a:r>
              <a:rPr lang="ru-RU" dirty="0"/>
              <a:t>Это означает, что при сложной составной сезонности </a:t>
            </a:r>
            <a:r>
              <a:rPr lang="ru-RU" b="1" dirty="0" err="1"/>
              <a:t>многошкальное</a:t>
            </a:r>
            <a:r>
              <a:rPr lang="ru-RU" b="1" dirty="0"/>
              <a:t> разложение лучше сохраняет полезную структуру ряда</a:t>
            </a:r>
            <a:r>
              <a:rPr lang="ru-RU" dirty="0"/>
              <a:t>, чем структурное STL-разложение. В тексте работы аналогичная картина наблюдается и для более сложного профиля с </a:t>
            </a:r>
            <a:r>
              <a:rPr lang="ru-RU" b="1" dirty="0"/>
              <a:t>НОК = 105</a:t>
            </a:r>
            <a:r>
              <a:rPr lang="ru-RU" dirty="0"/>
              <a:t>, где разрыв между MODWT и STL становится ещё заметнее.</a:t>
            </a:r>
          </a:p>
          <a:p>
            <a:r>
              <a:rPr lang="ru-RU" dirty="0"/>
              <a:t>Поэтому итоговый вывод такой: </a:t>
            </a:r>
            <a:r>
              <a:rPr lang="ru-RU" b="1" dirty="0"/>
              <a:t>гипотеза подтверждается — на рядах со сложной многопериодной сезонностью MODWT служит более устойчивой основой для гибридного прогноза, чем STL.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этом слайде — параллельное сравнение компонентных прогнозов на одном и том же ряду со сложной сезонностью НОК 60. Слева — MODWT-разложение: четыре панели сверху вниз — аппроксимация A_J и три уровня деталей D_1, D_2, D_3. Справа — STL-разложение: трендовая, сезонная и остаточная компоненты. Видно, что на MODWT-компонентах модели уверенно восстанавливают аппроксимацию A_J и среднечастотную D_1 — пунктирные линии прогнозов идут вдоль красной истинной кривой. Высокочастотные D_2 и D_3 сглаживаются и тяготеют к нулю, что и заложено в схеме гибридизации. На STL-компонентах ситуация хуже: трендовая компонента STL воспроизводится менее точно, а высокочастотные колебания, не вписавшиеся в сезонную модель, попадают в остаток и плохо предсказываются. Это и объясняет, почему MODWT-гибриды стабильно превосходят STL-аналоги.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Перейдём к основным выводам.</a:t>
            </a:r>
          </a:p>
          <a:p>
            <a:r>
              <a:rPr lang="ru-RU" dirty="0"/>
              <a:t>Первое — реализован полный конвейер </a:t>
            </a:r>
            <a:r>
              <a:rPr lang="ru-RU" b="1" dirty="0" err="1"/>
              <a:t>HybridPlus</a:t>
            </a:r>
            <a:r>
              <a:rPr lang="ru-RU" dirty="0"/>
              <a:t>: ряд раскладывается с помощью MODWT или STL, затем компоненты прогнозируются разными моделями, после чего прогноз собирается обратно.</a:t>
            </a:r>
          </a:p>
          <a:p>
            <a:r>
              <a:rPr lang="ru-RU" dirty="0"/>
              <a:t>Второе — проведено систематическое сравнение шестнадцати моделей на синтетических данных, M3 и M4. Это позволило оценить не отдельный удачный пример, а общую картину поведения моделей на разных типах рядов.</a:t>
            </a:r>
          </a:p>
          <a:p>
            <a:r>
              <a:rPr lang="ru-RU" dirty="0"/>
              <a:t>Третье — на дневной частоте M4 получен наиболее выраженный результат: </a:t>
            </a:r>
            <a:r>
              <a:rPr lang="ru-RU" b="1" dirty="0"/>
              <a:t>MODWT + </a:t>
            </a:r>
            <a:r>
              <a:rPr lang="ru-RU" b="1" dirty="0" err="1"/>
              <a:t>TimesNet</a:t>
            </a:r>
            <a:r>
              <a:rPr lang="ru-RU" b="1" dirty="0"/>
              <a:t> + ETS</a:t>
            </a:r>
            <a:r>
              <a:rPr lang="ru-RU" dirty="0"/>
              <a:t> устойчиво опережает как классические модели, так и чистые нейросети без декомпозиции. Это показывает, что выигрыш даёт именно связка декомпозиции и раздельного моделирования компонент.</a:t>
            </a:r>
          </a:p>
          <a:p>
            <a:r>
              <a:rPr lang="ru-RU" dirty="0"/>
              <a:t>Четвёртое — основная гипотеза работы подтверждена: на рядах со сложной многопериодной сезонностью </a:t>
            </a:r>
            <a:r>
              <a:rPr lang="ru-RU" b="1" dirty="0"/>
              <a:t>MODWT-гибриды устойчиво превосходят STL-аналоги</a:t>
            </a:r>
            <a:r>
              <a:rPr lang="ru-RU" dirty="0"/>
              <a:t>. Значит, </a:t>
            </a:r>
            <a:r>
              <a:rPr lang="ru-RU" dirty="0" err="1"/>
              <a:t>многошкальное</a:t>
            </a:r>
            <a:r>
              <a:rPr lang="ru-RU" dirty="0"/>
              <a:t> разложение лучше подходит для таких структур, чем разложение на одну сезонную компоненту, тренд и остаток.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экспериментов</a:t>
            </a:r>
            <a:r>
              <a:rPr dirty="0"/>
              <a:t> </a:t>
            </a:r>
            <a:r>
              <a:rPr dirty="0" err="1"/>
              <a:t>сформулированы</a:t>
            </a:r>
            <a:r>
              <a:rPr dirty="0"/>
              <a:t> </a:t>
            </a:r>
            <a:r>
              <a:rPr dirty="0" err="1"/>
              <a:t>практические</a:t>
            </a:r>
            <a:r>
              <a:rPr dirty="0"/>
              <a:t> </a:t>
            </a:r>
            <a:r>
              <a:rPr dirty="0" err="1"/>
              <a:t>рекомендации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дневных</a:t>
            </a:r>
            <a:r>
              <a:rPr dirty="0"/>
              <a:t> и </a:t>
            </a:r>
            <a:r>
              <a:rPr dirty="0" err="1"/>
              <a:t>недельных</a:t>
            </a:r>
            <a:r>
              <a:rPr dirty="0"/>
              <a:t> </a:t>
            </a:r>
            <a:r>
              <a:rPr dirty="0" err="1"/>
              <a:t>рядов</a:t>
            </a:r>
            <a:r>
              <a:rPr lang="ru-RU" dirty="0"/>
              <a:t> </a:t>
            </a:r>
            <a:r>
              <a:rPr dirty="0"/>
              <a:t>— </a:t>
            </a:r>
            <a:r>
              <a:rPr dirty="0" err="1"/>
              <a:t>выбирайте</a:t>
            </a:r>
            <a:r>
              <a:rPr dirty="0"/>
              <a:t> MODWT-</a:t>
            </a:r>
            <a:r>
              <a:rPr dirty="0" err="1"/>
              <a:t>гибриды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месячных</a:t>
            </a:r>
            <a:r>
              <a:rPr dirty="0"/>
              <a:t> и </a:t>
            </a:r>
            <a:r>
              <a:rPr dirty="0" err="1"/>
              <a:t>годовых</a:t>
            </a:r>
            <a:r>
              <a:rPr dirty="0"/>
              <a:t> </a:t>
            </a:r>
            <a:r>
              <a:rPr dirty="0" err="1"/>
              <a:t>рядов</a:t>
            </a:r>
            <a:r>
              <a:rPr dirty="0"/>
              <a:t> — </a:t>
            </a:r>
            <a:r>
              <a:rPr dirty="0" err="1"/>
              <a:t>классику</a:t>
            </a:r>
            <a:r>
              <a:rPr dirty="0"/>
              <a:t>,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устойчивее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коротких</a:t>
            </a:r>
            <a:r>
              <a:rPr dirty="0"/>
              <a:t> </a:t>
            </a:r>
            <a:r>
              <a:rPr dirty="0" err="1"/>
              <a:t>выборках</a:t>
            </a:r>
            <a:r>
              <a:rPr dirty="0"/>
              <a:t>.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сложной</a:t>
            </a:r>
            <a:r>
              <a:rPr dirty="0"/>
              <a:t> </a:t>
            </a:r>
            <a:r>
              <a:rPr dirty="0" err="1"/>
              <a:t>многопериодной</a:t>
            </a:r>
            <a:r>
              <a:rPr dirty="0"/>
              <a:t> </a:t>
            </a:r>
            <a:r>
              <a:rPr dirty="0" err="1"/>
              <a:t>сезонности</a:t>
            </a:r>
            <a:r>
              <a:rPr dirty="0"/>
              <a:t> — </a:t>
            </a:r>
            <a:r>
              <a:rPr dirty="0" err="1"/>
              <a:t>обязательно</a:t>
            </a:r>
            <a:r>
              <a:rPr dirty="0"/>
              <a:t> MODWT, </a:t>
            </a:r>
            <a:r>
              <a:rPr dirty="0" err="1"/>
              <a:t>не</a:t>
            </a:r>
            <a:r>
              <a:rPr dirty="0"/>
              <a:t> STL.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шумном</a:t>
            </a:r>
            <a:r>
              <a:rPr dirty="0"/>
              <a:t> </a:t>
            </a:r>
            <a:r>
              <a:rPr dirty="0" err="1"/>
              <a:t>неоднозначном</a:t>
            </a:r>
            <a:r>
              <a:rPr dirty="0"/>
              <a:t> </a:t>
            </a:r>
            <a:r>
              <a:rPr dirty="0" err="1"/>
              <a:t>тренде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сезонности</a:t>
            </a:r>
            <a:r>
              <a:rPr dirty="0"/>
              <a:t> — ETS </a:t>
            </a:r>
            <a:r>
              <a:rPr dirty="0" err="1"/>
              <a:t>остаётся</a:t>
            </a:r>
            <a:r>
              <a:rPr dirty="0"/>
              <a:t> </a:t>
            </a:r>
            <a:r>
              <a:rPr dirty="0" err="1"/>
              <a:t>вне</a:t>
            </a:r>
            <a:r>
              <a:rPr dirty="0"/>
              <a:t> </a:t>
            </a:r>
            <a:r>
              <a:rPr dirty="0" err="1"/>
              <a:t>конкуренции</a:t>
            </a:r>
            <a:r>
              <a:rPr dirty="0"/>
              <a:t>.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часовой</a:t>
            </a:r>
            <a:r>
              <a:rPr dirty="0"/>
              <a:t> </a:t>
            </a:r>
            <a:r>
              <a:rPr dirty="0" err="1"/>
              <a:t>частоте</a:t>
            </a:r>
            <a:r>
              <a:rPr dirty="0"/>
              <a:t> в </a:t>
            </a:r>
            <a:r>
              <a:rPr dirty="0" err="1"/>
              <a:t>текущей</a:t>
            </a:r>
            <a:r>
              <a:rPr dirty="0"/>
              <a:t> </a:t>
            </a:r>
            <a:r>
              <a:rPr dirty="0" err="1"/>
              <a:t>постановке</a:t>
            </a:r>
            <a:r>
              <a:rPr dirty="0"/>
              <a:t> </a:t>
            </a:r>
            <a:r>
              <a:rPr dirty="0" err="1"/>
              <a:t>разложение</a:t>
            </a:r>
            <a:r>
              <a:rPr dirty="0"/>
              <a:t> </a:t>
            </a:r>
            <a:r>
              <a:rPr dirty="0" err="1"/>
              <a:t>даёт</a:t>
            </a:r>
            <a:r>
              <a:rPr dirty="0"/>
              <a:t> </a:t>
            </a:r>
            <a:r>
              <a:rPr dirty="0" err="1"/>
              <a:t>фазовые</a:t>
            </a:r>
            <a:r>
              <a:rPr dirty="0"/>
              <a:t> </a:t>
            </a:r>
            <a:r>
              <a:rPr dirty="0" err="1"/>
              <a:t>искажения</a:t>
            </a:r>
            <a:r>
              <a:rPr dirty="0"/>
              <a:t> и </a:t>
            </a:r>
            <a:r>
              <a:rPr dirty="0" err="1"/>
              <a:t>хуже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потенциальное</a:t>
            </a:r>
            <a:r>
              <a:rPr dirty="0"/>
              <a:t> </a:t>
            </a:r>
            <a:r>
              <a:rPr dirty="0" err="1"/>
              <a:t>направление</a:t>
            </a:r>
            <a:r>
              <a:rPr dirty="0"/>
              <a:t> </a:t>
            </a:r>
            <a:r>
              <a:rPr dirty="0" err="1"/>
              <a:t>улучшения</a:t>
            </a:r>
            <a:r>
              <a:rPr dirty="0"/>
              <a:t>. </a:t>
            </a:r>
            <a:r>
              <a:rPr dirty="0" err="1"/>
              <a:t>Перспективы</a:t>
            </a:r>
            <a:r>
              <a:rPr dirty="0"/>
              <a:t> — </a:t>
            </a:r>
            <a:r>
              <a:rPr dirty="0" err="1"/>
              <a:t>автоматический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глубины</a:t>
            </a:r>
            <a:r>
              <a:rPr dirty="0"/>
              <a:t> </a:t>
            </a:r>
            <a:r>
              <a:rPr dirty="0" err="1"/>
              <a:t>разложения</a:t>
            </a:r>
            <a:r>
              <a:rPr dirty="0"/>
              <a:t>, </a:t>
            </a:r>
            <a:r>
              <a:rPr dirty="0" err="1"/>
              <a:t>адаптивные</a:t>
            </a:r>
            <a:r>
              <a:rPr dirty="0"/>
              <a:t> </a:t>
            </a:r>
            <a:r>
              <a:rPr dirty="0" err="1"/>
              <a:t>веса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реконструкции</a:t>
            </a:r>
            <a:r>
              <a:rPr dirty="0"/>
              <a:t> и </a:t>
            </a:r>
            <a:r>
              <a:rPr dirty="0" err="1"/>
              <a:t>работа</a:t>
            </a:r>
            <a:r>
              <a:rPr dirty="0"/>
              <a:t> с </a:t>
            </a:r>
            <a:r>
              <a:rPr dirty="0" err="1"/>
              <a:t>выбросами</a:t>
            </a:r>
            <a:r>
              <a:rPr dirty="0"/>
              <a:t> и </a:t>
            </a:r>
            <a:r>
              <a:rPr dirty="0" err="1"/>
              <a:t>структурными</a:t>
            </a:r>
            <a:r>
              <a:rPr dirty="0"/>
              <a:t> </a:t>
            </a:r>
            <a:r>
              <a:rPr dirty="0" err="1"/>
              <a:t>сдвигами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Здесь</a:t>
            </a:r>
            <a:r>
              <a:rPr dirty="0"/>
              <a:t> </a:t>
            </a:r>
            <a:r>
              <a:rPr dirty="0" err="1"/>
              <a:t>представлена</a:t>
            </a:r>
            <a:r>
              <a:rPr dirty="0"/>
              <a:t> </a:t>
            </a:r>
            <a:r>
              <a:rPr dirty="0" err="1"/>
              <a:t>избранная</a:t>
            </a:r>
            <a:r>
              <a:rPr dirty="0"/>
              <a:t> </a:t>
            </a:r>
            <a:r>
              <a:rPr dirty="0" err="1"/>
              <a:t>литература</a:t>
            </a:r>
            <a:r>
              <a:rPr dirty="0"/>
              <a:t> — </a:t>
            </a:r>
            <a:r>
              <a:rPr dirty="0" err="1"/>
              <a:t>наиболее</a:t>
            </a:r>
            <a:r>
              <a:rPr dirty="0"/>
              <a:t> </a:t>
            </a:r>
            <a:r>
              <a:rPr dirty="0" err="1"/>
              <a:t>важные</a:t>
            </a:r>
            <a:r>
              <a:rPr dirty="0"/>
              <a:t> </a:t>
            </a:r>
            <a:r>
              <a:rPr dirty="0" err="1"/>
              <a:t>источники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43 </a:t>
            </a:r>
            <a:r>
              <a:rPr dirty="0" err="1"/>
              <a:t>ссылок</a:t>
            </a:r>
            <a:r>
              <a:rPr dirty="0"/>
              <a:t>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.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базовая</a:t>
            </a:r>
            <a:r>
              <a:rPr dirty="0"/>
              <a:t> </a:t>
            </a:r>
            <a:r>
              <a:rPr dirty="0" err="1"/>
              <a:t>литература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временным</a:t>
            </a:r>
            <a:r>
              <a:rPr dirty="0"/>
              <a:t> </a:t>
            </a:r>
            <a:r>
              <a:rPr dirty="0" err="1"/>
              <a:t>рядам</a:t>
            </a:r>
            <a:r>
              <a:rPr dirty="0"/>
              <a:t> и </a:t>
            </a:r>
            <a:r>
              <a:rPr dirty="0" err="1"/>
              <a:t>прогнозированию</a:t>
            </a:r>
            <a:r>
              <a:rPr dirty="0"/>
              <a:t>, </a:t>
            </a:r>
            <a:r>
              <a:rPr dirty="0" err="1"/>
              <a:t>теории</a:t>
            </a:r>
            <a:r>
              <a:rPr dirty="0"/>
              <a:t> </a:t>
            </a:r>
            <a:r>
              <a:rPr dirty="0" err="1"/>
              <a:t>вейвлетов</a:t>
            </a:r>
            <a:r>
              <a:rPr dirty="0"/>
              <a:t>, </a:t>
            </a:r>
            <a:r>
              <a:rPr dirty="0" err="1"/>
              <a:t>конкурсам</a:t>
            </a:r>
            <a:r>
              <a:rPr dirty="0"/>
              <a:t> M3 и M4, а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оригинальные</a:t>
            </a:r>
            <a:r>
              <a:rPr dirty="0"/>
              <a:t> </a:t>
            </a:r>
            <a:r>
              <a:rPr dirty="0" err="1"/>
              <a:t>публикации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архитектурам</a:t>
            </a:r>
            <a:r>
              <a:rPr dirty="0"/>
              <a:t> </a:t>
            </a:r>
            <a:r>
              <a:rPr dirty="0" err="1"/>
              <a:t>TimesNet</a:t>
            </a:r>
            <a:r>
              <a:rPr dirty="0"/>
              <a:t> и N-BEATS.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теме</a:t>
            </a:r>
            <a:r>
              <a:rPr dirty="0"/>
              <a:t> </a:t>
            </a:r>
            <a:r>
              <a:rPr dirty="0" err="1"/>
              <a:t>данной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подготовлена</a:t>
            </a:r>
            <a:r>
              <a:rPr dirty="0"/>
              <a:t> </a:t>
            </a:r>
            <a:r>
              <a:rPr dirty="0" err="1"/>
              <a:t>публикация</a:t>
            </a:r>
            <a:r>
              <a:rPr dirty="0"/>
              <a:t> в </a:t>
            </a:r>
            <a:r>
              <a:rPr dirty="0" err="1"/>
              <a:t>соавторстве</a:t>
            </a:r>
            <a:r>
              <a:rPr dirty="0"/>
              <a:t> с </a:t>
            </a:r>
            <a:r>
              <a:rPr dirty="0" err="1"/>
              <a:t>научным</a:t>
            </a:r>
            <a:r>
              <a:rPr dirty="0"/>
              <a:t> </a:t>
            </a:r>
            <a:r>
              <a:rPr dirty="0" err="1"/>
              <a:t>руководителем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Спасибо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внимание</a:t>
            </a:r>
            <a:r>
              <a:rPr dirty="0"/>
              <a:t>! </a:t>
            </a:r>
            <a:r>
              <a:rPr dirty="0" err="1"/>
              <a:t>Готов</a:t>
            </a:r>
            <a:r>
              <a:rPr dirty="0"/>
              <a:t> </a:t>
            </a:r>
            <a:r>
              <a:rPr dirty="0" err="1"/>
              <a:t>ответить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ваши</a:t>
            </a:r>
            <a:r>
              <a:rPr dirty="0"/>
              <a:t> </a:t>
            </a:r>
            <a:r>
              <a:rPr dirty="0" err="1"/>
              <a:t>вопросы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Запасной слайд №1. Себестоимость проекта.
Если возникнет вопрос об экономическом обосновании, начну с расчёта полной себестоимости разработки. Расчёт выполнен методом калькулирования по статьям. На проект отведено 90 рабочих дней разработчика и 25 дней руководителя; месячные оклады приняты 50 000 ₽ и 60 000 ₽ соответственно, что даёт основную заработную плату 240 830 ₽.
В таблице представлены все статьи затрат. Материалы и расходники — около 5 тысяч рублей. Специальное оборудование — аренда облачного GPU-сервера и хранилища на три месяца, 27 тысяч рублей. Дополнительная заработная плата принята как 20 % от основной — 48 166 рублей. Страховые взносы рассчитаны по совокупной ставке 30,2 % от фонда оплаты труда. Накладные расходы взяты по минимальной норме 200 % от ОЗП. Командировочных, контрагентских и прочих расходов в проекте не предусмотрено.
В итоге полная себестоимость сервиса составляет 890 142 рубля 80 копеек. Структура затрат типична для научно-исследовательского ИТ-проекта: более половины приходится на накладные расходы, ещё около четверти — на основную заработную плату. То есть основной ресурс проекта — это интеллектуальный труд исполнителей, а не материалы или оборудование.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Запасной слайд №2. Окупаемость и эффективность проекта.
Для оценки эффективности проекта рассчитаны четыре стандартных показателя: NPV — чистая приведённая стоимость, PI — индекс рентабельности, PB — простой срок окупаемости и DPP — дисконтированный срок окупаемости. Первоначальные инвестиции — это полная себестоимость разработки 890 142,8 рубля с предыдущего слайда. Ставка дисконтирования принята 22 % — как требуемая доходность инвестора с учётом рискового профиля ИТ-стартапа.
В таблице приведены дисконтированные денежные потоки за три года. Текущая стоимость потоков за три года составляет около 48,9 миллиона рублей, а NPV проекта — 48,0 миллиона рублей. Индекс рентабельности равен примерно 54,9 — это значительно больше единицы, что говорит о высокой отдаче вложений. Поскольку денежный поток уже первого года превышает первоначальные инвестиции, простой срок окупаемости составляет около 0,03 года, а дисконтированный — около 0,2 года, то есть примерно 2,4 месяца.
Дополнительно рассмотрен консервативный сценарий выхода на рынок: один клиент в первый месяц и прирост по одному клиенту каждый следующий месяц. Из условия 85 000 умножить на N(N+1)/2 не меньше 890 142,8 получаем, что при N = 4 затраты ещё не окупаются, а при N = 5 уже окупаются. То есть даже в самом осторожном сценарии полная окупаемость разработки достигается к концу пятого месяца после начала продаж. Такая высокая скорость окупаемости объясняется природой подписочной SaaS-модели: предельные издержки на обслуживание нового клиента малы, а ключевые инвестиции уже понесены на этапе разработки.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Запасной слайд №3. План продаж и эффект для клиента.
Монетизация сервиса «ГМ-ПВР» построена на подписной B2B-модели через REST API: базовый тариф 85 000 рублей в месяц до 50 тысяч запросов, плюс плата за превышение лимитов и разовые пилотные проекты. План продаж построен по консервативной модели роста клиентской базы: в первый год сервис набирает клиентов поэтапно, во второй и третий годы рост ускоряется за счёт сформированной репутации и партнёрских каналов.
На диаграмме показан прогноз на три года. Выручка растёт с 8,55 миллиона рублей в первый год до 35 миллионов во второй и 63,8 миллиона в третий. Операционные расходы — фонд оплаты труда команды, аренда GPU, маркетинг — растут существенно медленнее, за счёт чего чистая прибыль увеличивается с 5,3 до 48,8 миллиона рублей. Это типичный эффект масштаба SaaS-модели: переменные расходы растут медленнее выручки.
Справа показан экономический эффект на одного клиента. Расчёт основан на примере компании с выручкой 100 миллионов рублей в месяц и консервативной оценке потерь от неточного прогноза 3 % от оборота. Если сервис снижает эти потери на 25 %, экономия составляет 750 тысяч рублей в месяц. Плюс экономия 150 тысяч на отказе от собственного младшего специалиста по анализу данных. За вычетом стоимости подписки 85 тысяч получается чистая экономия около 815 тысяч рублей в месяц или примерно 9,78 миллиона рублей в год на одного клиента. Внизу приведены ключевые параметры бизнеса: B2B SaaS-модель, ООО на УСН «Доходы» 6 %, и достижимая доля рынка SOM около 60 миллионов рублей в год в горизонте трёх лет.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154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81.png"/><Relationship Id="rId4" Type="http://schemas.openxmlformats.org/officeDocument/2006/relationships/image" Target="../media/image7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2743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2191695" cy="2743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CADCFC"/>
                </a:solidFill>
                <a:latin typeface="Calibri"/>
              </a:rPr>
              <a:t>МИРЭА — </a:t>
            </a:r>
            <a:r>
              <a:rPr sz="1400" b="0" i="0" dirty="0" err="1">
                <a:solidFill>
                  <a:srgbClr val="CADCFC"/>
                </a:solidFill>
                <a:latin typeface="Calibri"/>
              </a:rPr>
              <a:t>Российский</a:t>
            </a:r>
            <a:r>
              <a:rPr sz="1400" b="0" i="0">
                <a:solidFill>
                  <a:srgbClr val="CADCFC"/>
                </a:solidFill>
                <a:latin typeface="Calibri"/>
              </a:rPr>
              <a:t> технологический университет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 dirty="0" err="1">
                <a:solidFill>
                  <a:srgbClr val="CADCFC"/>
                </a:solidFill>
                <a:latin typeface="Calibri"/>
              </a:rPr>
              <a:t>Институт</a:t>
            </a:r>
            <a:r>
              <a:rPr sz="1200" b="0" i="1" dirty="0">
                <a:solidFill>
                  <a:srgbClr val="CADCFC"/>
                </a:solidFill>
                <a:latin typeface="Calibri"/>
              </a:rPr>
              <a:t> </a:t>
            </a:r>
            <a:r>
              <a:rPr lang="ru-RU" sz="1200" b="0" i="1" dirty="0">
                <a:solidFill>
                  <a:srgbClr val="CADCFC"/>
                </a:solidFill>
                <a:latin typeface="Calibri"/>
              </a:rPr>
              <a:t>искусственного интеллекта</a:t>
            </a:r>
            <a:endParaRPr sz="1200" b="0" i="1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 dirty="0" err="1">
                <a:solidFill>
                  <a:srgbClr val="E76F51"/>
                </a:solidFill>
                <a:latin typeface="Calibri"/>
              </a:rPr>
              <a:t>Выпускная</a:t>
            </a:r>
            <a:r>
              <a:rPr sz="1600" b="1" i="0" dirty="0">
                <a:solidFill>
                  <a:srgbClr val="E76F51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E76F51"/>
                </a:solidFill>
                <a:latin typeface="Calibri"/>
              </a:rPr>
              <a:t>квалификационная</a:t>
            </a:r>
            <a:r>
              <a:rPr sz="1600" b="1" i="0" dirty="0">
                <a:solidFill>
                  <a:srgbClr val="E76F51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E76F51"/>
                </a:solidFill>
                <a:latin typeface="Calibri"/>
              </a:rPr>
              <a:t>работа</a:t>
            </a:r>
            <a:endParaRPr sz="1600" b="1" i="0" dirty="0">
              <a:solidFill>
                <a:srgbClr val="E76F51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278985"/>
            <a:ext cx="11064240" cy="2194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1" i="0" dirty="0" err="1">
                <a:solidFill>
                  <a:srgbClr val="FFFFFF"/>
                </a:solidFill>
                <a:latin typeface="Calibri"/>
              </a:rPr>
              <a:t>Построение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комбинированных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моделей</a:t>
            </a:r>
            <a:endParaRPr sz="3200" b="1" i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3200" b="1" i="0" dirty="0" err="1">
                <a:solidFill>
                  <a:srgbClr val="FFFFFF"/>
                </a:solidFill>
                <a:latin typeface="Calibri"/>
              </a:rPr>
              <a:t>на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основе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алгоритма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MODWT</a:t>
            </a:r>
          </a:p>
          <a:p>
            <a:pPr algn="l"/>
            <a:r>
              <a:rPr sz="3200" b="1" i="0" dirty="0" err="1">
                <a:solidFill>
                  <a:srgbClr val="FFFFFF"/>
                </a:solidFill>
                <a:latin typeface="Calibri"/>
              </a:rPr>
              <a:t>при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обработке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временных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рядов</a:t>
            </a:r>
            <a:endParaRPr sz="3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4572000"/>
            <a:ext cx="2743200" cy="2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Выполнил: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548640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FFFFFF"/>
                </a:solidFill>
                <a:latin typeface="Calibri"/>
              </a:rPr>
              <a:t>студент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группы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ru-RU" sz="1500" b="1" i="0" dirty="0">
                <a:solidFill>
                  <a:srgbClr val="FFFFFF"/>
                </a:solidFill>
                <a:latin typeface="Calibri"/>
              </a:rPr>
              <a:t>КМБО</a:t>
            </a:r>
            <a:r>
              <a:rPr lang="en-US" sz="1500" b="1" i="0" dirty="0">
                <a:solidFill>
                  <a:srgbClr val="FFFFFF"/>
                </a:solidFill>
                <a:latin typeface="Calibri"/>
              </a:rPr>
              <a:t>-03-22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Лыков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Д.С.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Научный руководитель: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731520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Calibri"/>
              </a:rPr>
              <a:t>к.ф.-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м.н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.,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доцент</a:t>
            </a:r>
            <a:r>
              <a:rPr lang="ru-RU" sz="1500" b="1" i="0" dirty="0">
                <a:solidFill>
                  <a:srgbClr val="FFFFFF"/>
                </a:solidFill>
                <a:latin typeface="Calibri"/>
              </a:rPr>
              <a:t> кафедры ВМ —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Петрусевич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Д. 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 err="1">
                <a:solidFill>
                  <a:srgbClr val="CADCFC"/>
                </a:solidFill>
                <a:latin typeface="Calibri"/>
              </a:rPr>
              <a:t>Москва</a:t>
            </a:r>
            <a:r>
              <a:rPr sz="1100" b="0" i="0" dirty="0">
                <a:solidFill>
                  <a:srgbClr val="CADCFC"/>
                </a:solidFill>
                <a:latin typeface="Calibri"/>
              </a:rPr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10">
            <a:extLst>
              <a:ext uri="{FF2B5EF4-FFF2-40B4-BE49-F238E27FC236}">
                <a16:creationId xmlns:a16="http://schemas.microsoft.com/office/drawing/2014/main" id="{97C4DC14-8399-43A1-862D-9C814BFFE3E9}"/>
              </a:ext>
            </a:extLst>
          </p:cNvPr>
          <p:cNvSpPr/>
          <p:nvPr/>
        </p:nvSpPr>
        <p:spPr>
          <a:xfrm>
            <a:off x="452435" y="3193777"/>
            <a:ext cx="11247119" cy="1828800"/>
          </a:xfrm>
          <a:prstGeom prst="rect">
            <a:avLst/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B97A291D-2B75-4E51-8751-E3404FD1DD43}"/>
              </a:ext>
            </a:extLst>
          </p:cNvPr>
          <p:cNvSpPr/>
          <p:nvPr/>
        </p:nvSpPr>
        <p:spPr>
          <a:xfrm>
            <a:off x="457200" y="1166551"/>
            <a:ext cx="11247120" cy="18288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 dirty="0" err="1">
                <a:solidFill>
                  <a:srgbClr val="21295C"/>
                </a:solidFill>
                <a:latin typeface="Calibri"/>
              </a:rPr>
              <a:t>Актуальность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1295C"/>
                </a:solidFill>
                <a:latin typeface="Calibri"/>
              </a:rPr>
              <a:t>исследования</a:t>
            </a:r>
            <a:endParaRPr sz="26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 dirty="0" err="1">
                <a:solidFill>
                  <a:srgbClr val="1C7293"/>
                </a:solidFill>
                <a:latin typeface="Calibri"/>
              </a:rPr>
              <a:t>Раздел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1.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Состояние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дел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в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области</a:t>
            </a:r>
            <a:endParaRPr sz="1400" b="0" i="1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2 / 2</a:t>
            </a:r>
            <a:r>
              <a:rPr lang="ru-RU" sz="1000" dirty="0">
                <a:solidFill>
                  <a:srgbClr val="6B7280"/>
                </a:solidFill>
                <a:latin typeface="Calibri"/>
              </a:rPr>
              <a:t>7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2357" y="1677299"/>
            <a:ext cx="8188266" cy="11079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4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краткосрочный прогноз используется для планирования продаж, трафика, нагрузки и цен</a:t>
            </a:r>
          </a:p>
          <a:p>
            <a:pPr algn="l">
              <a:spcAft>
                <a:spcPts val="400"/>
              </a:spcAft>
            </a:pPr>
            <a:r>
              <a:rPr lang="ru-RU" sz="14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на практике ряды часто имеют ограниченную историю наблюдений</a:t>
            </a:r>
          </a:p>
          <a:p>
            <a:pPr algn="l">
              <a:spcAft>
                <a:spcPts val="400"/>
              </a:spcAft>
            </a:pPr>
            <a:r>
              <a:rPr lang="ru-RU" sz="14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в данных присутствуют шум, сезонность, локальные всплески и структурные сдвиги</a:t>
            </a:r>
          </a:p>
          <a:p>
            <a:pPr algn="l">
              <a:spcAft>
                <a:spcPts val="400"/>
              </a:spcAft>
            </a:pPr>
            <a:r>
              <a:rPr lang="ru-RU" sz="14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поведение рядов различается по частоте, устойчивости тренда и выраженности сезонности</a:t>
            </a:r>
            <a:endParaRPr lang="ru-RU" sz="1400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14DC54-6BB7-4645-BA6C-C1640110D543}"/>
              </a:ext>
            </a:extLst>
          </p:cNvPr>
          <p:cNvSpPr txBox="1"/>
          <p:nvPr/>
        </p:nvSpPr>
        <p:spPr>
          <a:xfrm>
            <a:off x="532356" y="1285861"/>
            <a:ext cx="6795223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800" b="1" i="0" dirty="0">
                <a:solidFill>
                  <a:srgbClr val="065A82"/>
                </a:solidFill>
                <a:latin typeface="Calibri"/>
              </a:rPr>
              <a:t>Практическая потребность</a:t>
            </a:r>
            <a:endParaRPr sz="1800" b="1" i="0" dirty="0">
              <a:solidFill>
                <a:srgbClr val="065A82"/>
              </a:solidFill>
              <a:latin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E10339-E519-4666-924D-A36D58F6B25C}"/>
              </a:ext>
            </a:extLst>
          </p:cNvPr>
          <p:cNvSpPr txBox="1"/>
          <p:nvPr/>
        </p:nvSpPr>
        <p:spPr>
          <a:xfrm>
            <a:off x="635316" y="3756865"/>
            <a:ext cx="8659014" cy="11079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4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универсальной модели, одинаково устойчивой на всех типах рядов, не существует</a:t>
            </a:r>
          </a:p>
          <a:p>
            <a:pPr algn="l">
              <a:spcAft>
                <a:spcPts val="400"/>
              </a:spcAft>
            </a:pPr>
            <a:r>
              <a:rPr lang="ru-RU" sz="14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статистические модели обычно надежнее на коротких и простых рядах</a:t>
            </a:r>
          </a:p>
          <a:p>
            <a:pPr algn="l">
              <a:spcAft>
                <a:spcPts val="400"/>
              </a:spcAft>
            </a:pPr>
            <a:r>
              <a:rPr lang="ru-RU" sz="14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400" dirty="0" err="1">
                <a:solidFill>
                  <a:schemeClr val="accent1">
                    <a:lumMod val="50000"/>
                  </a:schemeClr>
                </a:solidFill>
              </a:rPr>
              <a:t>нейросетевые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 модели лучше раскрываются на более длинных и сложных рядах</a:t>
            </a:r>
          </a:p>
          <a:p>
            <a:pPr algn="l">
              <a:spcAft>
                <a:spcPts val="400"/>
              </a:spcAft>
            </a:pPr>
            <a:r>
              <a:rPr lang="ru-RU" sz="14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качество прогноза зависит не только от модели, но и от способа представления ряда</a:t>
            </a:r>
            <a:endParaRPr lang="ru-RU" sz="1400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381716-7EE8-48ED-BD57-44CFF1059712}"/>
              </a:ext>
            </a:extLst>
          </p:cNvPr>
          <p:cNvSpPr txBox="1"/>
          <p:nvPr/>
        </p:nvSpPr>
        <p:spPr>
          <a:xfrm>
            <a:off x="635315" y="3285217"/>
            <a:ext cx="4908613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b="1" i="0" dirty="0">
                <a:solidFill>
                  <a:srgbClr val="E76F51"/>
                </a:solidFill>
                <a:latin typeface="Calibri"/>
              </a:rPr>
              <a:t>Ключевая проблема</a:t>
            </a:r>
            <a:endParaRPr b="1" i="0" dirty="0">
              <a:solidFill>
                <a:srgbClr val="E76F51"/>
              </a:solidFill>
              <a:latin typeface="Calibri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0573549C-7B96-407D-A0EF-FB50CC0C2E62}"/>
              </a:ext>
            </a:extLst>
          </p:cNvPr>
          <p:cNvSpPr/>
          <p:nvPr/>
        </p:nvSpPr>
        <p:spPr>
          <a:xfrm>
            <a:off x="457200" y="5237244"/>
            <a:ext cx="11247120" cy="1051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39E948-97E7-4801-8FDE-F4F248A39CDC}"/>
              </a:ext>
            </a:extLst>
          </p:cNvPr>
          <p:cNvSpPr txBox="1"/>
          <p:nvPr/>
        </p:nvSpPr>
        <p:spPr>
          <a:xfrm>
            <a:off x="640080" y="5328684"/>
            <a:ext cx="8839562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400" b="1" i="0" dirty="0">
                <a:solidFill>
                  <a:srgbClr val="21295C"/>
                </a:solidFill>
                <a:latin typeface="Calibri"/>
              </a:rPr>
              <a:t>Направление исследования</a:t>
            </a:r>
            <a:r>
              <a:rPr sz="1400" b="1" i="0" dirty="0">
                <a:solidFill>
                  <a:srgbClr val="21295C"/>
                </a:solidFill>
                <a:latin typeface="Calibri"/>
              </a:rPr>
              <a:t>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11494A-7853-4342-A276-459EE9754330}"/>
              </a:ext>
            </a:extLst>
          </p:cNvPr>
          <p:cNvSpPr txBox="1"/>
          <p:nvPr/>
        </p:nvSpPr>
        <p:spPr>
          <a:xfrm>
            <a:off x="640080" y="5648724"/>
            <a:ext cx="8839562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300" b="0" i="1" dirty="0">
                <a:solidFill>
                  <a:srgbClr val="21295C"/>
                </a:solidFill>
                <a:latin typeface="Calibri"/>
              </a:rPr>
              <a:t>Необходимо исследовать подход, который предварительно разделяет ряд на более простые компоненты и позволяет сопоставить разные способы такого разложения.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>
            <a:extLst>
              <a:ext uri="{FF2B5EF4-FFF2-40B4-BE49-F238E27FC236}">
                <a16:creationId xmlns:a16="http://schemas.microsoft.com/office/drawing/2014/main" id="{55E5EBB7-D460-4638-8537-CB7C70B61D05}"/>
              </a:ext>
            </a:extLst>
          </p:cNvPr>
          <p:cNvSpPr/>
          <p:nvPr/>
        </p:nvSpPr>
        <p:spPr>
          <a:xfrm>
            <a:off x="457200" y="1199640"/>
            <a:ext cx="4997886" cy="1332961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 dirty="0" err="1">
                <a:solidFill>
                  <a:srgbClr val="21295C"/>
                </a:solidFill>
                <a:latin typeface="Calibri"/>
              </a:rPr>
              <a:t>Декомпозиция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1295C"/>
                </a:solidFill>
                <a:latin typeface="Calibri"/>
              </a:rPr>
              <a:t>временных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1295C"/>
                </a:solidFill>
                <a:latin typeface="Calibri"/>
              </a:rPr>
              <a:t>рядов</a:t>
            </a:r>
            <a:endParaRPr sz="26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Сложный ряд → более простые компоненты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ru-RU" sz="1000" dirty="0">
                <a:solidFill>
                  <a:srgbClr val="6B7280"/>
                </a:solidFill>
                <a:latin typeface="Calibri"/>
              </a:rPr>
              <a:t>3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dirty="0">
                <a:solidFill>
                  <a:srgbClr val="6B7280"/>
                </a:solidFill>
                <a:latin typeface="Calibri"/>
              </a:rPr>
              <a:t>7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5301710"/>
            <a:ext cx="10636685" cy="1051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39315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Гипотеза работы: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3190"/>
            <a:ext cx="10082199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 dirty="0" err="1">
                <a:solidFill>
                  <a:srgbClr val="21295C"/>
                </a:solidFill>
                <a:latin typeface="Calibri"/>
              </a:rPr>
              <a:t>многошкальное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разложение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MODWT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даёт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дополнительные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преимущества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по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сравнению</a:t>
            </a:r>
            <a:endParaRPr sz="1300" b="0" i="1" dirty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300" b="0" i="1" dirty="0" err="1">
                <a:solidFill>
                  <a:srgbClr val="21295C"/>
                </a:solidFill>
                <a:latin typeface="Calibri"/>
              </a:rPr>
              <a:t>со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структурным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STL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при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построении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гибридного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прогноза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,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особенно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на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рядах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со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сложной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сезонностью</a:t>
            </a:r>
            <a:endParaRPr sz="1300" b="0" i="1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61E6AF-0854-4C0D-A9CF-3A3AD5DBDD72}"/>
              </a:ext>
            </a:extLst>
          </p:cNvPr>
          <p:cNvSpPr txBox="1"/>
          <p:nvPr/>
        </p:nvSpPr>
        <p:spPr>
          <a:xfrm>
            <a:off x="457201" y="1210561"/>
            <a:ext cx="39519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b="1" dirty="0">
                <a:solidFill>
                  <a:srgbClr val="065A82"/>
                </a:solidFill>
                <a:latin typeface="Calibri"/>
              </a:rPr>
              <a:t>Один ряд содержит разные типы динамики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1CA845-9C53-4EB9-8FFA-0F79CA842DC7}"/>
              </a:ext>
            </a:extLst>
          </p:cNvPr>
          <p:cNvSpPr txBox="1"/>
          <p:nvPr/>
        </p:nvSpPr>
        <p:spPr>
          <a:xfrm>
            <a:off x="490270" y="1529846"/>
            <a:ext cx="39589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4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медленное изменение уровня и тренда 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ru-RU" sz="14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сезонные и циклические колебания</a:t>
            </a:r>
          </a:p>
          <a:p>
            <a:r>
              <a:rPr lang="ru-RU" sz="14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локальные всплески и структурные изменения 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ru-RU" sz="14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высокочастотный шум</a:t>
            </a: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632DB682-1E5D-4597-B1A5-970D86209FB3}"/>
              </a:ext>
            </a:extLst>
          </p:cNvPr>
          <p:cNvSpPr/>
          <p:nvPr/>
        </p:nvSpPr>
        <p:spPr>
          <a:xfrm>
            <a:off x="6096000" y="1193518"/>
            <a:ext cx="4997886" cy="133908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79731B-763A-472B-AE3C-9884CADBFAFE}"/>
              </a:ext>
            </a:extLst>
          </p:cNvPr>
          <p:cNvSpPr txBox="1"/>
          <p:nvPr/>
        </p:nvSpPr>
        <p:spPr>
          <a:xfrm>
            <a:off x="6096001" y="1204437"/>
            <a:ext cx="44293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b="1" dirty="0">
                <a:solidFill>
                  <a:srgbClr val="065A82"/>
                </a:solidFill>
                <a:latin typeface="Calibri"/>
              </a:rPr>
              <a:t>Проблема прогноза одной моделью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A33B5D-7313-41C3-89EC-0A83C143DB99}"/>
              </a:ext>
            </a:extLst>
          </p:cNvPr>
          <p:cNvSpPr txBox="1"/>
          <p:nvPr/>
        </p:nvSpPr>
        <p:spPr>
          <a:xfrm>
            <a:off x="6129070" y="1523722"/>
            <a:ext cx="49648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4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модель одновременно описывает тренд, сезонность и шум</a:t>
            </a:r>
          </a:p>
          <a:p>
            <a:pPr algn="l"/>
            <a:r>
              <a:rPr lang="ru-RU" sz="14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ошибка в одной компоненте влияет на весь прогноз</a:t>
            </a:r>
          </a:p>
          <a:p>
            <a:r>
              <a:rPr lang="ru-RU" sz="14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сложные модели могут переобучаться на шум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ru-RU" sz="14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простые модели могут не уловить нелинейную структуру</a:t>
            </a: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E5A4244B-5D67-4603-84AC-46A846FCC638}"/>
              </a:ext>
            </a:extLst>
          </p:cNvPr>
          <p:cNvSpPr/>
          <p:nvPr/>
        </p:nvSpPr>
        <p:spPr>
          <a:xfrm>
            <a:off x="457200" y="2706523"/>
            <a:ext cx="10636686" cy="456299"/>
          </a:xfrm>
          <a:prstGeom prst="rect">
            <a:avLst/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620C37-821E-4893-96C3-1F2F55A34CBB}"/>
              </a:ext>
            </a:extLst>
          </p:cNvPr>
          <p:cNvSpPr txBox="1"/>
          <p:nvPr/>
        </p:nvSpPr>
        <p:spPr>
          <a:xfrm>
            <a:off x="640078" y="2797964"/>
            <a:ext cx="10305027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400" b="1" i="0" dirty="0">
                <a:solidFill>
                  <a:srgbClr val="E76F51"/>
                </a:solidFill>
                <a:latin typeface="Calibri"/>
              </a:rPr>
              <a:t>Идея декомпозиции</a:t>
            </a:r>
            <a:r>
              <a:rPr lang="en-US" sz="1400" b="1" dirty="0">
                <a:solidFill>
                  <a:srgbClr val="E76F51"/>
                </a:solidFill>
                <a:latin typeface="Calibri"/>
              </a:rPr>
              <a:t>: </a:t>
            </a:r>
            <a:r>
              <a:rPr lang="ru-RU" sz="1400" i="1" dirty="0">
                <a:solidFill>
                  <a:srgbClr val="E76F51"/>
                </a:solidFill>
                <a:latin typeface="Calibri"/>
              </a:rPr>
              <a:t>разделить ряд на более однородные компоненты и прогнозировать уже упрощённые задачи.</a:t>
            </a:r>
            <a:endParaRPr sz="1400" i="1" dirty="0">
              <a:solidFill>
                <a:srgbClr val="E76F51"/>
              </a:solidFill>
              <a:latin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9B4878-52CF-4E8D-B4B9-9A7BAEAD77C0}"/>
              </a:ext>
            </a:extLst>
          </p:cNvPr>
          <p:cNvSpPr txBox="1"/>
          <p:nvPr/>
        </p:nvSpPr>
        <p:spPr>
          <a:xfrm>
            <a:off x="457200" y="3903791"/>
            <a:ext cx="106366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▪  </a:t>
            </a:r>
            <a:r>
              <a:rPr lang="ru-RU" sz="1600" b="1" dirty="0">
                <a:solidFill>
                  <a:schemeClr val="accent1">
                    <a:lumMod val="50000"/>
                  </a:schemeClr>
                </a:solidFill>
              </a:rPr>
              <a:t>STL</a:t>
            </a:r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 — тренд + сезонность + остаток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ru-RU" sz="1600" i="1" dirty="0">
                <a:solidFill>
                  <a:schemeClr val="accent1">
                    <a:lumMod val="50000"/>
                  </a:schemeClr>
                </a:solidFill>
              </a:rPr>
              <a:t>структурный и хорошо интерпретируемый подход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ru-RU" sz="16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ru-RU" sz="16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▪  </a:t>
            </a:r>
            <a:r>
              <a:rPr lang="ru-RU" sz="1600" b="1" dirty="0">
                <a:solidFill>
                  <a:schemeClr val="accent1">
                    <a:lumMod val="50000"/>
                  </a:schemeClr>
                </a:solidFill>
              </a:rPr>
              <a:t>MODWT</a:t>
            </a:r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ru-RU" sz="1600" b="1" dirty="0">
                <a:solidFill>
                  <a:schemeClr val="accent1">
                    <a:lumMod val="50000"/>
                  </a:schemeClr>
                </a:solidFill>
              </a:rPr>
              <a:t>максимальное перекрывающееся дискретное вейвлет-преобразование) </a:t>
            </a:r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— низкочастотная часть + детали разных уровней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ru-RU" sz="1600" i="1" dirty="0" err="1">
                <a:solidFill>
                  <a:schemeClr val="accent1">
                    <a:lumMod val="50000"/>
                  </a:schemeClr>
                </a:solidFill>
              </a:rPr>
              <a:t>многошкальный</a:t>
            </a:r>
            <a:r>
              <a:rPr lang="ru-RU" sz="1600" i="1" dirty="0">
                <a:solidFill>
                  <a:schemeClr val="accent1">
                    <a:lumMod val="50000"/>
                  </a:schemeClr>
                </a:solidFill>
              </a:rPr>
              <a:t> подход для нескольких частотных режимов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ru-RU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5EF5FD-1AC7-4644-92B7-FE69583FF4D6}"/>
              </a:ext>
            </a:extLst>
          </p:cNvPr>
          <p:cNvSpPr txBox="1"/>
          <p:nvPr/>
        </p:nvSpPr>
        <p:spPr>
          <a:xfrm>
            <a:off x="457200" y="3341285"/>
            <a:ext cx="548640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600" b="1" i="0" dirty="0">
                <a:solidFill>
                  <a:srgbClr val="065A82"/>
                </a:solidFill>
                <a:latin typeface="Calibri"/>
              </a:rPr>
              <a:t>В работе сравниваются два способа разложения</a:t>
            </a:r>
            <a:r>
              <a:rPr lang="en-US" sz="1600" b="1" i="0" dirty="0">
                <a:solidFill>
                  <a:srgbClr val="065A82"/>
                </a:solidFill>
                <a:latin typeface="Calibri"/>
              </a:rPr>
              <a:t>:</a:t>
            </a:r>
            <a:endParaRPr sz="1600" b="1" i="0" dirty="0">
              <a:solidFill>
                <a:srgbClr val="065A8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Цели и задачи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Раздел 1. Окончание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ru-RU" sz="1000" dirty="0">
                <a:solidFill>
                  <a:srgbClr val="6B7280"/>
                </a:solidFill>
                <a:latin typeface="Calibri"/>
              </a:rPr>
              <a:t>4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E76F51"/>
                </a:solidFill>
                <a:latin typeface="Calibri"/>
              </a:rPr>
              <a:t>ЦЕЛЬ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88136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Разработать и исследовать гибридный подход к краткосрочному прогнозированию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унивариативных рядов на основе многошкальной MODWT-декомпозиции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Задачи: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926080"/>
            <a:ext cx="411480" cy="4114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2608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alibri"/>
              </a:rPr>
              <a:t>Формализация постановки задачи и метрик качества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93008"/>
            <a:ext cx="411480" cy="4114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93008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alibri"/>
              </a:rPr>
              <a:t>Реализация базовых моделей: ARIMA / ETS / Prophet, TimesNet, N-BEATS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59936"/>
            <a:ext cx="411480" cy="4114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59936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alibri"/>
              </a:rPr>
              <a:t>Обоснование MODWT как основного инструмента гибридизации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626864"/>
            <a:ext cx="411480" cy="4114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626864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alibri"/>
              </a:rPr>
              <a:t>Построение гибридной архитектуры с раздельным моделированием компонент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193792"/>
            <a:ext cx="411480" cy="4114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93792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alibri"/>
              </a:rPr>
              <a:t>Сопоставимая STL-гибридная схема для сравнительного анализа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760720"/>
            <a:ext cx="411480" cy="4114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76072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alibri"/>
              </a:rPr>
              <a:t>Экспериментальная оценка на синтетических данных, M3 и M4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Постановка задачи. Метрики качества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Раздел 2. Описание используемых алгоритмов — начало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ru-RU" sz="1000" dirty="0">
                <a:solidFill>
                  <a:srgbClr val="6B7280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 dirty="0" err="1">
                <a:solidFill>
                  <a:srgbClr val="065A82"/>
                </a:solidFill>
                <a:latin typeface="Calibri"/>
              </a:rPr>
              <a:t>Постановка</a:t>
            </a:r>
            <a:r>
              <a:rPr sz="16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65A82"/>
                </a:solidFill>
                <a:latin typeface="Calibri"/>
              </a:rPr>
              <a:t>задачи</a:t>
            </a:r>
            <a:r>
              <a:rPr sz="16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65A82"/>
                </a:solidFill>
                <a:latin typeface="Calibri"/>
              </a:rPr>
              <a:t>прогноза</a:t>
            </a:r>
            <a:endParaRPr sz="1600" b="1" i="0" dirty="0">
              <a:solidFill>
                <a:srgbClr val="065A8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" y="1691640"/>
                <a:ext cx="5486400" cy="252377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:r>
                  <a:rPr lang="ru-RU" sz="1400" b="0" i="0" dirty="0">
                    <a:solidFill>
                      <a:srgbClr val="21295C"/>
                    </a:solidFill>
                    <a:latin typeface="Consolas"/>
                  </a:rPr>
                  <a:t>Дано:  </a:t>
                </a:r>
                <a14:m>
                  <m:oMath xmlns:m="http://schemas.openxmlformats.org/officeDocument/2006/math">
                    <m:r>
                      <a:rPr lang="ru-RU" sz="14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4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14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ru-RU" sz="1400" b="0" i="1" dirty="0" err="1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400" b="0" i="1" dirty="0" err="1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400" b="0" i="1" dirty="0" err="1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ru-RU" sz="1400" b="0" i="1" dirty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ru-RU" sz="1400" b="0" i="0" dirty="0">
                    <a:solidFill>
                      <a:srgbClr val="21295C"/>
                    </a:solidFill>
                    <a:latin typeface="Consolas"/>
                  </a:rPr>
                  <a:t>— </a:t>
                </a:r>
                <a:r>
                  <a:rPr lang="ru-RU" sz="1400" b="0" i="0" dirty="0" err="1">
                    <a:solidFill>
                      <a:srgbClr val="21295C"/>
                    </a:solidFill>
                    <a:latin typeface="Consolas"/>
                  </a:rPr>
                  <a:t>наблюдения</a:t>
                </a:r>
                <a:endParaRPr sz="14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91640"/>
                <a:ext cx="5486400" cy="252377"/>
              </a:xfrm>
              <a:prstGeom prst="rect">
                <a:avLst/>
              </a:prstGeom>
              <a:blipFill>
                <a:blip r:embed="rId3"/>
                <a:stretch>
                  <a:fillRect l="-1111" t="-17073" b="-341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7200" y="2103120"/>
                <a:ext cx="5486400" cy="252377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:r>
                  <a:rPr lang="ru-RU" sz="1400" b="0" i="0" dirty="0">
                    <a:solidFill>
                      <a:srgbClr val="21295C"/>
                    </a:solidFill>
                    <a:latin typeface="Consolas"/>
                  </a:rPr>
                  <a:t>Найти: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y-GB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y-GB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ŷ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cy-GB" sz="14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cy-GB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y-GB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ŷ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sz="14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03120"/>
                <a:ext cx="5486400" cy="252377"/>
              </a:xfrm>
              <a:prstGeom prst="rect">
                <a:avLst/>
              </a:prstGeom>
              <a:blipFill>
                <a:blip r:embed="rId4"/>
                <a:stretch>
                  <a:fillRect l="-1111" t="-14634" b="-365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57200" y="260604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Унивариативный краткосрочный прогноз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548640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шаг дискретизации фиксирован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минимум допущений о структуре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горизонт H ≪ длины обучающей выборки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тестирование — out-of-sample (rollout)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E76F51"/>
                </a:solidFill>
                <a:latin typeface="Calibri"/>
              </a:rPr>
              <a:t>Метрики качества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91640"/>
            <a:ext cx="5303520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73152" cy="1280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755396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65A82"/>
                </a:solidFill>
                <a:latin typeface="Calibri"/>
              </a:rPr>
              <a:t>RMSE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629400" y="1989118"/>
                <a:ext cx="5029200" cy="695447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cy-GB" sz="11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1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1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11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1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1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1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l-GR" sz="11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l-GR" sz="11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cy-GB" sz="11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ᵢ − ŷᵢ)²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sz="12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1989118"/>
                <a:ext cx="5029200" cy="6954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6574536" y="2717897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 dirty="0" err="1">
                <a:solidFill>
                  <a:srgbClr val="6B7280"/>
                </a:solidFill>
                <a:latin typeface="Calibri"/>
              </a:rPr>
              <a:t>абсолютная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,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тот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же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масштаб</a:t>
            </a:r>
            <a:endParaRPr sz="1100" b="0" i="1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0" y="3108960"/>
            <a:ext cx="5303520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3108960"/>
            <a:ext cx="73152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3169715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1C7293"/>
                </a:solidFill>
                <a:latin typeface="Calibri"/>
              </a:rPr>
              <a:t>MAPE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24325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 dirty="0" err="1">
                <a:solidFill>
                  <a:srgbClr val="6B7280"/>
                </a:solidFill>
                <a:latin typeface="Calibri"/>
              </a:rPr>
              <a:t>относительная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, %,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плохо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при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yᵢ ≈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526280"/>
            <a:ext cx="5303520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4526280"/>
            <a:ext cx="73152" cy="12801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459486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E76F51"/>
                </a:solidFill>
                <a:latin typeface="Calibri"/>
              </a:rPr>
              <a:t>sMAPE</a:t>
            </a:r>
            <a:endParaRPr sz="1500" b="1" i="0" dirty="0">
              <a:solidFill>
                <a:srgbClr val="E76F51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83680" y="555498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 dirty="0" err="1">
                <a:solidFill>
                  <a:srgbClr val="6B7280"/>
                </a:solidFill>
                <a:latin typeface="Calibri"/>
              </a:rPr>
              <a:t>симметричная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,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протоколы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M3/M4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EB03C51-5D29-42A5-B4EF-F6C081AC25FF}"/>
                  </a:ext>
                </a:extLst>
              </p:cNvPr>
              <p:cNvSpPr txBox="1"/>
              <p:nvPr/>
            </p:nvSpPr>
            <p:spPr>
              <a:xfrm>
                <a:off x="6629400" y="3428939"/>
                <a:ext cx="5029200" cy="544765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10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1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00%</m:t>
                          </m:r>
                        </m:num>
                        <m:den>
                          <m:r>
                            <a:rPr lang="en-US" sz="11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2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2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2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sz="12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cy-GB" sz="12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  <m:t>ᵢ − ŷᵢ</m:t>
                                  </m:r>
                                </m:num>
                                <m:den>
                                  <m:r>
                                    <a:rPr lang="el-GR" sz="12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cy-GB" sz="12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  <m:t>ᵢ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sz="12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EB03C51-5D29-42A5-B4EF-F6C081AC2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3428939"/>
                <a:ext cx="5029200" cy="5447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D2F8F23-94B3-43EE-9082-52C0B6F2EF3F}"/>
                  </a:ext>
                </a:extLst>
              </p:cNvPr>
              <p:cNvSpPr txBox="1"/>
              <p:nvPr/>
            </p:nvSpPr>
            <p:spPr>
              <a:xfrm>
                <a:off x="6675120" y="4893977"/>
                <a:ext cx="5029200" cy="530723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10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1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00%</m:t>
                          </m:r>
                        </m:num>
                        <m:den>
                          <m:r>
                            <a:rPr lang="en-US" sz="11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10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1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1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1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11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1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sz="11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cy-GB" sz="11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  <m:t>ᵢ − ŷᵢ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cy-GB" sz="1100" i="1" dirty="0" smtClean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100" b="0" i="1" dirty="0" smtClean="0">
                                          <a:solidFill>
                                            <a:srgbClr val="21295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b="0" i="1" dirty="0" smtClean="0">
                                          <a:solidFill>
                                            <a:srgbClr val="21295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100" b="0" i="1" dirty="0" smtClean="0">
                                          <a:solidFill>
                                            <a:srgbClr val="21295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1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cy-GB" sz="11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cy-GB" sz="11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  <m:t>ŷᵢ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sz="12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D2F8F23-94B3-43EE-9082-52C0B6F2E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120" y="4893977"/>
                <a:ext cx="5029200" cy="530723"/>
              </a:xfrm>
              <a:prstGeom prst="rect">
                <a:avLst/>
              </a:prstGeom>
              <a:blipFill>
                <a:blip r:embed="rId7"/>
                <a:stretch>
                  <a:fillRect t="-102299" b="-1528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2600" b="1" dirty="0">
                <a:solidFill>
                  <a:srgbClr val="21295C"/>
                </a:solidFill>
                <a:latin typeface="Calibri"/>
              </a:rPr>
              <a:t>Вейвлет-анализ 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— </a:t>
            </a:r>
            <a:r>
              <a:rPr sz="2600" b="1" i="0" dirty="0" err="1">
                <a:solidFill>
                  <a:srgbClr val="21295C"/>
                </a:solidFill>
                <a:latin typeface="Calibri"/>
              </a:rPr>
              <a:t>идея</a:t>
            </a:r>
            <a:endParaRPr sz="26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Раздел 2. Алгоритмы — продолжение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ru-RU" sz="1000" dirty="0">
                <a:solidFill>
                  <a:srgbClr val="6B7280"/>
                </a:solidFill>
                <a:latin typeface="Calibri"/>
              </a:rPr>
              <a:t>6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600" b="1" i="0" dirty="0">
                <a:solidFill>
                  <a:srgbClr val="065A82"/>
                </a:solidFill>
                <a:latin typeface="Calibri"/>
              </a:rPr>
              <a:t>От преобразования Фурье к вейвлет-анализу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5486400" cy="18288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6B7280"/>
                </a:solidFill>
                <a:latin typeface="Calibri"/>
              </a:rPr>
              <a:t>Фурье-анализ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5212080" cy="7755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21295C"/>
                </a:solidFill>
                <a:latin typeface="Calibri"/>
              </a:rPr>
              <a:t>разложение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по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синусоидам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, </a:t>
            </a:r>
            <a:r>
              <a:rPr lang="ru-RU" sz="1200" b="0" i="0" dirty="0">
                <a:solidFill>
                  <a:srgbClr val="21295C"/>
                </a:solidFill>
                <a:latin typeface="Calibri"/>
              </a:rPr>
              <a:t>заданным на всем временном интервале</a:t>
            </a:r>
          </a:p>
          <a:p>
            <a:pPr algn="l"/>
            <a:endParaRPr sz="1200" b="0" i="0" dirty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—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хорошо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видны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частоты</a:t>
            </a:r>
            <a:endParaRPr sz="1200" b="0" i="0" dirty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—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плохо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локализованы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во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времени</a:t>
            </a:r>
            <a:endParaRPr sz="1200" b="0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486400" cy="1828800"/>
          </a:xfrm>
          <a:prstGeom prst="rect">
            <a:avLst/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E76F51"/>
                </a:solidFill>
                <a:latin typeface="Calibri"/>
              </a:rPr>
              <a:t>Вейвлет-анализ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5212080" cy="7755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21295C"/>
                </a:solidFill>
                <a:latin typeface="Calibri"/>
              </a:rPr>
              <a:t>базисные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функции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локализованы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и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во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времени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, и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по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частоте</a:t>
            </a:r>
            <a:endParaRPr lang="ru-RU" sz="1200" b="0" i="0" dirty="0">
              <a:solidFill>
                <a:srgbClr val="21295C"/>
              </a:solidFill>
              <a:latin typeface="Calibri"/>
            </a:endParaRPr>
          </a:p>
          <a:p>
            <a:pPr algn="l"/>
            <a:endParaRPr sz="1200" b="0" i="0" dirty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—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разные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масштабы</a:t>
            </a:r>
            <a:endParaRPr sz="1200" b="0" i="0" dirty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— </a:t>
            </a:r>
            <a:r>
              <a:rPr lang="ru-RU" sz="1200" b="0" i="0" dirty="0">
                <a:solidFill>
                  <a:srgbClr val="21295C"/>
                </a:solidFill>
                <a:latin typeface="Calibri"/>
              </a:rPr>
              <a:t>показывает, когда и на каких масштабах проявляются колебания</a:t>
            </a:r>
            <a:endParaRPr sz="1200" b="0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1247120" cy="9144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8917" y="4064662"/>
            <a:ext cx="2234643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 dirty="0" err="1">
                <a:solidFill>
                  <a:srgbClr val="FFFFFF"/>
                </a:solidFill>
                <a:latin typeface="Calibri"/>
              </a:rPr>
              <a:t>Семейство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вейвлетов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209998" y="3894199"/>
                <a:ext cx="4937760" cy="624082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ru-RU" sz="16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16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ru-RU" sz="16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ru-RU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rad>
                        </m:den>
                      </m:f>
                      <m:r>
                        <a:rPr lang="ru-RU" sz="16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· </m:t>
                      </m:r>
                      <m:r>
                        <a:rPr lang="ru-RU" sz="16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𝝍</m:t>
                      </m:r>
                      <m:d>
                        <m:dPr>
                          <m:ctrlPr>
                            <a:rPr lang="ru-RU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sz="1600" b="1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1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sz="1600" b="1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1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num>
                            <m:den>
                              <m:r>
                                <a:rPr lang="en-US" sz="1600" b="1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sz="1600" b="1" i="0" dirty="0">
                  <a:solidFill>
                    <a:srgbClr val="FFFFFF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998" y="3894199"/>
                <a:ext cx="4937760" cy="6240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443207" y="5193792"/>
            <a:ext cx="11247120" cy="5437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en-US" sz="1300" i="1" dirty="0">
                <a:solidFill>
                  <a:srgbClr val="21295C"/>
                </a:solidFill>
                <a:latin typeface="Calibri"/>
              </a:rPr>
              <a:t>a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 — </a:t>
            </a:r>
            <a:r>
              <a:rPr lang="ru-RU" sz="1300" dirty="0" err="1">
                <a:solidFill>
                  <a:srgbClr val="21295C"/>
                </a:solidFill>
                <a:latin typeface="Calibri"/>
              </a:rPr>
              <a:t>масштаб</a:t>
            </a:r>
            <a:r>
              <a:rPr lang="ru-RU" sz="1300" dirty="0">
                <a:solidFill>
                  <a:srgbClr val="21295C"/>
                </a:solidFill>
                <a:latin typeface="Calibri"/>
              </a:rPr>
              <a:t>: </a:t>
            </a:r>
            <a:r>
              <a:rPr lang="ru-RU" sz="1300" dirty="0" err="1">
                <a:solidFill>
                  <a:srgbClr val="21295C"/>
                </a:solidFill>
                <a:latin typeface="Calibri"/>
              </a:rPr>
              <a:t>большой</a:t>
            </a:r>
            <a:r>
              <a:rPr lang="ru-RU"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en-US" sz="1300" i="1" dirty="0">
                <a:solidFill>
                  <a:srgbClr val="21295C"/>
                </a:solidFill>
                <a:latin typeface="Calibri"/>
              </a:rPr>
              <a:t>a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 — </a:t>
            </a:r>
            <a:r>
              <a:rPr lang="ru-RU" sz="1300" dirty="0" err="1">
                <a:solidFill>
                  <a:srgbClr val="21295C"/>
                </a:solidFill>
                <a:latin typeface="Calibri"/>
              </a:rPr>
              <a:t>низкие</a:t>
            </a:r>
            <a:r>
              <a:rPr lang="ru-RU"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300" dirty="0" err="1">
                <a:solidFill>
                  <a:srgbClr val="21295C"/>
                </a:solidFill>
                <a:latin typeface="Calibri"/>
              </a:rPr>
              <a:t>частоты</a:t>
            </a:r>
            <a:r>
              <a:rPr lang="ru-RU" sz="1300" dirty="0">
                <a:solidFill>
                  <a:srgbClr val="21295C"/>
                </a:solidFill>
                <a:latin typeface="Calibri"/>
              </a:rPr>
              <a:t>; </a:t>
            </a:r>
            <a:r>
              <a:rPr lang="ru-RU" sz="1300" dirty="0" err="1">
                <a:solidFill>
                  <a:srgbClr val="21295C"/>
                </a:solidFill>
                <a:latin typeface="Calibri"/>
              </a:rPr>
              <a:t>малый</a:t>
            </a:r>
            <a:r>
              <a:rPr lang="ru-RU"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en-US" sz="1300" i="1" dirty="0">
                <a:solidFill>
                  <a:srgbClr val="21295C"/>
                </a:solidFill>
                <a:latin typeface="Calibri"/>
              </a:rPr>
              <a:t>a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 — </a:t>
            </a:r>
            <a:r>
              <a:rPr lang="ru-RU" sz="1300" dirty="0" err="1">
                <a:solidFill>
                  <a:srgbClr val="21295C"/>
                </a:solidFill>
                <a:latin typeface="Calibri"/>
              </a:rPr>
              <a:t>высокие</a:t>
            </a:r>
            <a:endParaRPr lang="ru-RU" sz="13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lang="ru-RU"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en-US" sz="1300" i="1" dirty="0">
                <a:solidFill>
                  <a:srgbClr val="21295C"/>
                </a:solidFill>
                <a:latin typeface="Calibri"/>
              </a:rPr>
              <a:t>b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 — </a:t>
            </a:r>
            <a:r>
              <a:rPr lang="ru-RU" sz="1300" dirty="0">
                <a:solidFill>
                  <a:srgbClr val="21295C"/>
                </a:solidFill>
                <a:latin typeface="Calibri"/>
              </a:rPr>
              <a:t>сдвиг: положение «окна» во времени</a:t>
            </a:r>
          </a:p>
        </p:txBody>
      </p:sp>
      <p:sp>
        <p:nvSpPr>
          <p:cNvPr id="18" name="Rectangle 61">
            <a:extLst>
              <a:ext uri="{FF2B5EF4-FFF2-40B4-BE49-F238E27FC236}">
                <a16:creationId xmlns:a16="http://schemas.microsoft.com/office/drawing/2014/main" id="{7C759554-4E83-4F84-A413-CC81BE36FFF8}"/>
              </a:ext>
            </a:extLst>
          </p:cNvPr>
          <p:cNvSpPr/>
          <p:nvPr/>
        </p:nvSpPr>
        <p:spPr>
          <a:xfrm>
            <a:off x="443208" y="6064222"/>
            <a:ext cx="11247119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D3BF1A-1A07-4C17-82BE-9226F107D5CF}"/>
              </a:ext>
            </a:extLst>
          </p:cNvPr>
          <p:cNvSpPr txBox="1"/>
          <p:nvPr/>
        </p:nvSpPr>
        <p:spPr>
          <a:xfrm>
            <a:off x="404378" y="6121137"/>
            <a:ext cx="1124712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ru-RU" sz="1100" b="0" i="1" dirty="0">
                <a:solidFill>
                  <a:srgbClr val="21295C"/>
                </a:solidFill>
                <a:latin typeface="Calibri"/>
              </a:rPr>
              <a:t>Идея для прогнозирования:</a:t>
            </a:r>
            <a:r>
              <a:rPr lang="en-US"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100" b="0" i="1" dirty="0">
                <a:solidFill>
                  <a:srgbClr val="21295C"/>
                </a:solidFill>
                <a:latin typeface="Calibri"/>
              </a:rPr>
              <a:t>MODWT позволяет представить один ряд как набор компонент разных масштабов,</a:t>
            </a:r>
            <a:r>
              <a:rPr lang="en-US"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100" b="0" i="1" dirty="0">
                <a:solidFill>
                  <a:srgbClr val="21295C"/>
                </a:solidFill>
                <a:latin typeface="Calibri"/>
              </a:rPr>
              <a:t>которые затем можно прогнозировать разными моделями.</a:t>
            </a:r>
            <a:endParaRPr sz="1100" b="0" i="1" dirty="0">
              <a:solidFill>
                <a:srgbClr val="21295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9525">
            <a:solidFill>
              <a:srgbClr val="C9D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537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 базисных функций в разных вейвлет-преобразованиях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2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Семейства вейвлетов и обоснование выбора db4 для MODWT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6880" y="1271016"/>
            <a:ext cx="2606040" cy="166420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8" name="Image 0" descr="/home/claude/wv_ha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8320" y="1325880"/>
            <a:ext cx="2423160" cy="12710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832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ступенчатый, 1 нулевой момент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07512" y="1271016"/>
            <a:ext cx="2606040" cy="166420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11" name="Image 1" descr="/home/claude/wv_db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98952" y="1325880"/>
            <a:ext cx="2423160" cy="12710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8952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ортогон., компактный, 4 нул. момента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78144" y="1271016"/>
            <a:ext cx="2606040" cy="166420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14" name="Image 2" descr="/home/claude/wv_sym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69584" y="1325880"/>
            <a:ext cx="2423160" cy="12710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9584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симметричный, 4 нул. момента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948776" y="1271016"/>
            <a:ext cx="2606040" cy="166420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17" name="Image 3" descr="/home/claude/wv_coif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40216" y="1325880"/>
            <a:ext cx="2423160" cy="12710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40216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симметричный, нулевые моменты у φ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57200" y="3108960"/>
            <a:ext cx="4937760" cy="3246120"/>
          </a:xfrm>
          <a:prstGeom prst="rect">
            <a:avLst/>
          </a:prstGeom>
          <a:solidFill>
            <a:srgbClr val="FCEAE0"/>
          </a:solidFill>
          <a:ln/>
        </p:spPr>
      </p:sp>
      <p:sp>
        <p:nvSpPr>
          <p:cNvPr id="20" name="Text 14"/>
          <p:cNvSpPr/>
          <p:nvPr/>
        </p:nvSpPr>
        <p:spPr>
          <a:xfrm>
            <a:off x="594360" y="32004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D17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Вейвлет </a:t>
            </a:r>
            <a:r>
              <a:rPr lang="ru-RU" sz="1400" b="1" dirty="0" err="1">
                <a:solidFill>
                  <a:srgbClr val="D17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Добеши</a:t>
            </a:r>
            <a:r>
              <a:rPr lang="en-US" sz="1400" b="1" dirty="0">
                <a:solidFill>
                  <a:srgbClr val="D17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b="1" dirty="0">
                <a:solidFill>
                  <a:srgbClr val="D17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b="1" dirty="0">
                <a:solidFill>
                  <a:srgbClr val="D17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db4</a:t>
            </a:r>
            <a:r>
              <a:rPr lang="ru-RU" sz="1400" b="1" dirty="0">
                <a:solidFill>
                  <a:srgbClr val="D17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400" b="1" dirty="0">
                <a:solidFill>
                  <a:srgbClr val="D17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выбор для MODWT</a:t>
            </a:r>
            <a:endParaRPr lang="en-US" sz="1400" dirty="0"/>
          </a:p>
        </p:txBody>
      </p:sp>
      <p:pic>
        <p:nvPicPr>
          <p:cNvPr id="21" name="Image 4" descr="/home/claude/wv_db4_pair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4360" y="3703320"/>
            <a:ext cx="4663440" cy="25146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623560" y="3108960"/>
            <a:ext cx="6110935" cy="32461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3" name="Text 16"/>
          <p:cNvSpPr/>
          <p:nvPr/>
        </p:nvSpPr>
        <p:spPr>
          <a:xfrm>
            <a:off x="5788152" y="3200400"/>
            <a:ext cx="5781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db4 в MODWT</a:t>
            </a:r>
            <a:r>
              <a:rPr lang="ru-RU" sz="1400" b="1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5806440" y="3703320"/>
            <a:ext cx="91440" cy="91440"/>
          </a:xfrm>
          <a:prstGeom prst="rect">
            <a:avLst/>
          </a:prstGeom>
          <a:solidFill>
            <a:srgbClr val="D17554"/>
          </a:solidFill>
          <a:ln/>
        </p:spPr>
      </p:sp>
      <p:sp>
        <p:nvSpPr>
          <p:cNvPr id="25" name="Text 18"/>
          <p:cNvSpPr/>
          <p:nvPr/>
        </p:nvSpPr>
        <p:spPr>
          <a:xfrm>
            <a:off x="6007608" y="3611880"/>
            <a:ext cx="5562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Компактный носитель (8 отсчётов)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минимум краевых эффектов на коротких рядах M3/M4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806440" y="4233672"/>
            <a:ext cx="91440" cy="91440"/>
          </a:xfrm>
          <a:prstGeom prst="rect">
            <a:avLst/>
          </a:prstGeom>
          <a:solidFill>
            <a:srgbClr val="D17554"/>
          </a:solidFill>
          <a:ln/>
        </p:spPr>
      </p:sp>
      <p:sp>
        <p:nvSpPr>
          <p:cNvPr id="27" name="Text 20"/>
          <p:cNvSpPr/>
          <p:nvPr/>
        </p:nvSpPr>
        <p:spPr>
          <a:xfrm>
            <a:off x="6007608" y="4142232"/>
            <a:ext cx="5562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нулевых момента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точно «снимаются» тренды до кубических, остаются только колебания и шум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806440" y="4764024"/>
            <a:ext cx="91440" cy="91440"/>
          </a:xfrm>
          <a:prstGeom prst="rect">
            <a:avLst/>
          </a:prstGeom>
          <a:solidFill>
            <a:srgbClr val="D17554"/>
          </a:solidFill>
          <a:ln/>
        </p:spPr>
      </p:sp>
      <p:sp>
        <p:nvSpPr>
          <p:cNvPr id="29" name="Text 22"/>
          <p:cNvSpPr/>
          <p:nvPr/>
        </p:nvSpPr>
        <p:spPr>
          <a:xfrm>
            <a:off x="6013552" y="4718303"/>
            <a:ext cx="5562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Ортогональность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ru-RU" sz="120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позволяет корректно восстановить ряд из компонент</a:t>
            </a:r>
            <a:endParaRPr 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0" name="Shape 23"/>
          <p:cNvSpPr/>
          <p:nvPr/>
        </p:nvSpPr>
        <p:spPr>
          <a:xfrm>
            <a:off x="5806440" y="5294376"/>
            <a:ext cx="91440" cy="91440"/>
          </a:xfrm>
          <a:prstGeom prst="rect">
            <a:avLst/>
          </a:prstGeom>
          <a:solidFill>
            <a:srgbClr val="D17554"/>
          </a:solidFill>
          <a:ln/>
        </p:spPr>
      </p:sp>
      <p:sp>
        <p:nvSpPr>
          <p:cNvPr id="31" name="Text 24"/>
          <p:cNvSpPr/>
          <p:nvPr/>
        </p:nvSpPr>
        <p:spPr>
          <a:xfrm>
            <a:off x="6007608" y="5202936"/>
            <a:ext cx="5562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Достаточная гладкость φ, ψ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низкочастотная компонента пригодна для TimesNet / N-BEATS без артефактов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5806440" y="5824728"/>
            <a:ext cx="91440" cy="91440"/>
          </a:xfrm>
          <a:prstGeom prst="rect">
            <a:avLst/>
          </a:prstGeom>
          <a:solidFill>
            <a:srgbClr val="D17554"/>
          </a:solidFill>
          <a:ln/>
        </p:spPr>
      </p:sp>
      <p:sp>
        <p:nvSpPr>
          <p:cNvPr id="33" name="Text 26"/>
          <p:cNvSpPr/>
          <p:nvPr/>
        </p:nvSpPr>
        <p:spPr>
          <a:xfrm>
            <a:off x="6007608" y="5733288"/>
            <a:ext cx="5562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длины фильтра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мягче Haar (db1), но без растяжения как у db8+; стандарт у Percival–Walden</a:t>
            </a:r>
            <a:endParaRPr lang="en-US" sz="1200" dirty="0"/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5C6D4DBD-7716-4C80-B518-0D092460A4D7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71BD48-1950-4376-AE08-47BE8040DE5E}"/>
              </a:ext>
            </a:extLst>
          </p:cNvPr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7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 dirty="0" err="1">
                <a:solidFill>
                  <a:srgbClr val="21295C"/>
                </a:solidFill>
                <a:latin typeface="Calibri"/>
              </a:rPr>
              <a:t>Преобразование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 MODWT</a:t>
            </a:r>
            <a:r>
              <a:rPr lang="ru-RU" sz="26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 — </a:t>
            </a:r>
            <a:r>
              <a:rPr sz="2600" b="1" i="0" dirty="0" err="1">
                <a:solidFill>
                  <a:srgbClr val="21295C"/>
                </a:solidFill>
                <a:latin typeface="Calibri"/>
              </a:rPr>
              <a:t>формулы</a:t>
            </a:r>
            <a:endParaRPr sz="26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Дискретные фильтры, фильтрация без прореживания и реконструкция компонент</a:t>
            </a:r>
            <a:endParaRPr sz="1400" b="0" i="1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8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59680"/>
            <a:ext cx="1097280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065A82"/>
                </a:solidFill>
                <a:latin typeface="Calibri"/>
              </a:rPr>
              <a:t>Цифровые</a:t>
            </a:r>
            <a:r>
              <a:rPr sz="15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065A82"/>
                </a:solidFill>
                <a:latin typeface="Calibri"/>
              </a:rPr>
              <a:t>фильтры</a:t>
            </a:r>
            <a:r>
              <a:rPr sz="1500" b="1" i="0" dirty="0">
                <a:solidFill>
                  <a:srgbClr val="065A82"/>
                </a:solidFill>
                <a:latin typeface="Calibri"/>
              </a:rPr>
              <a:t> с </a:t>
            </a:r>
            <a:r>
              <a:rPr sz="1500" b="1" i="0" dirty="0" err="1">
                <a:solidFill>
                  <a:srgbClr val="065A82"/>
                </a:solidFill>
                <a:latin typeface="Calibri"/>
              </a:rPr>
              <a:t>конечным</a:t>
            </a:r>
            <a:r>
              <a:rPr sz="15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065A82"/>
                </a:solidFill>
                <a:latin typeface="Calibri"/>
              </a:rPr>
              <a:t>откликом</a:t>
            </a:r>
            <a:endParaRPr sz="1500" b="1" i="0" dirty="0">
              <a:solidFill>
                <a:srgbClr val="065A82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421379"/>
            <a:ext cx="5430033" cy="1331345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40080" y="1512820"/>
                <a:ext cx="5247153" cy="198516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:r>
                  <a:rPr lang="ru-RU" sz="1050" b="0" i="0" dirty="0">
                    <a:solidFill>
                      <a:srgbClr val="21295C"/>
                    </a:solidFill>
                    <a:latin typeface="Calibri"/>
                  </a:rPr>
                  <a:t>Свёртка </a:t>
                </a:r>
                <a:r>
                  <a:rPr lang="ru-RU" sz="1050" b="0" i="0" dirty="0" err="1">
                    <a:solidFill>
                      <a:srgbClr val="21295C"/>
                    </a:solidFill>
                    <a:latin typeface="Calibri"/>
                  </a:rPr>
                  <a:t>входа</a:t>
                </a:r>
                <a:r>
                  <a:rPr lang="ru-RU" sz="105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ru-RU" sz="105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105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105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105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sz="1050" b="0" i="0" dirty="0">
                    <a:solidFill>
                      <a:srgbClr val="21295C"/>
                    </a:solidFill>
                    <a:latin typeface="Calibri"/>
                  </a:rPr>
                  <a:t>с коэффициентами</a:t>
                </a:r>
                <a:r>
                  <a:rPr lang="en-US" sz="105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ru-RU" sz="1050" b="0" i="0" dirty="0">
                    <a:solidFill>
                      <a:srgbClr val="21295C"/>
                    </a:solidFill>
                    <a:latin typeface="Calibri"/>
                  </a:rPr>
                  <a:t>фильтра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05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105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… </m:t>
                    </m:r>
                    <m:sSub>
                      <m:sSubPr>
                        <m:ctrlPr>
                          <a:rPr lang="ar-AE" sz="105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05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05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105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05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050" b="0" i="0" dirty="0">
                    <a:solidFill>
                      <a:srgbClr val="21295C"/>
                    </a:solidFill>
                    <a:latin typeface="Calibri"/>
                  </a:rPr>
                  <a:t> (</a:t>
                </a:r>
                <a:r>
                  <a:rPr lang="en-US" sz="1050" b="0" i="1" dirty="0">
                    <a:solidFill>
                      <a:srgbClr val="21295C"/>
                    </a:solidFill>
                    <a:latin typeface="Calibri"/>
                  </a:rPr>
                  <a:t>M</a:t>
                </a:r>
                <a:r>
                  <a:rPr lang="en-US" sz="1050" b="0" i="0" dirty="0">
                    <a:solidFill>
                      <a:srgbClr val="21295C"/>
                    </a:solidFill>
                    <a:latin typeface="Calibri"/>
                  </a:rPr>
                  <a:t> – </a:t>
                </a:r>
                <a:r>
                  <a:rPr lang="ru-RU" sz="1050" b="0" i="0" dirty="0">
                    <a:solidFill>
                      <a:srgbClr val="21295C"/>
                    </a:solidFill>
                    <a:latin typeface="Calibri"/>
                  </a:rPr>
                  <a:t>длина памяти фильтра)</a:t>
                </a:r>
                <a:r>
                  <a:rPr lang="en-US" sz="1050" b="0" i="0" dirty="0">
                    <a:solidFill>
                      <a:srgbClr val="21295C"/>
                    </a:solidFill>
                    <a:latin typeface="Calibri"/>
                  </a:rPr>
                  <a:t>:</a:t>
                </a:r>
                <a:endParaRPr sz="1050" b="0" i="0" dirty="0">
                  <a:solidFill>
                    <a:srgbClr val="21295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512820"/>
                <a:ext cx="5247153" cy="198516"/>
              </a:xfrm>
              <a:prstGeom prst="rect">
                <a:avLst/>
              </a:prstGeom>
              <a:blipFill>
                <a:blip r:embed="rId3"/>
                <a:stretch>
                  <a:fillRect l="-697" t="-9091" b="-3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40080" y="1875738"/>
                <a:ext cx="5052999" cy="302840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ru-RU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ru-RU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sSubSup>
                        <m:sSubSupPr>
                          <m:ctrlPr>
                            <a:rPr lang="ru-RU" sz="1600" b="1" i="1" dirty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1600" b="1" i="0" dirty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ru-RU" sz="1600" b="1" i="1" dirty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ru-RU" sz="1600" b="1" i="1" dirty="0" err="1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b="1" i="1" dirty="0" err="1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ru-RU" sz="1600" b="1" i="1" dirty="0" err="1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ru-RU" sz="1600" b="1" i="1" dirty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sSub>
                        <m:sSubPr>
                          <m:ctrlP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b="1" i="1" dirty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sz="1600" b="1" i="0" dirty="0">
                  <a:solidFill>
                    <a:srgbClr val="065A82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875738"/>
                <a:ext cx="5052999" cy="302840"/>
              </a:xfrm>
              <a:prstGeom prst="rect">
                <a:avLst/>
              </a:prstGeom>
              <a:blipFill>
                <a:blip r:embed="rId4"/>
                <a:stretch>
                  <a:fillRect b="-224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457200" y="2857279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Сравнение DWT и MODWT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011964"/>
              </p:ext>
            </p:extLst>
          </p:nvPr>
        </p:nvGraphicFramePr>
        <p:xfrm>
          <a:off x="457200" y="324612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Свойство</a:t>
                      </a:r>
                      <a:endParaRPr sz="11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DWT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MODWT (применяется в работе)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Прореживание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каждый 2-й коэффициент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не отбрасывается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Длина компонент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сокращается вдвое на уровне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= длине исходного ряда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Чувствительность к сдвигу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высокая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коэффициенты сдвигаются вместе с рядом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Избыточность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критическая (минимум)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избыточное (плата за устойчивость)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Растяжение фильтра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rgbClr val="21295C"/>
                          </a:solidFill>
                          <a:latin typeface="Calibri"/>
                        </a:rPr>
                        <a:t>фиксированные</a:t>
                      </a:r>
                      <a:endParaRPr sz="11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растягиваются по уровням</a:t>
                      </a:r>
                      <a:endParaRPr lang="ru-RU" sz="11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89788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E76F51"/>
                </a:solidFill>
                <a:latin typeface="Calibri"/>
              </a:rPr>
              <a:t>→ MODWT устойчив к сдвигу и сохраняет одну длину для всех компонент — это критично при построении гибридной модели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082039-B5C2-4172-B420-0E1FB0782DB3}"/>
                  </a:ext>
                </a:extLst>
              </p:cNvPr>
              <p:cNvSpPr txBox="1"/>
              <p:nvPr/>
            </p:nvSpPr>
            <p:spPr>
              <a:xfrm>
                <a:off x="640079" y="2337879"/>
                <a:ext cx="5247153" cy="360099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r>
                  <a:rPr lang="ru-RU" sz="1050" dirty="0">
                    <a:solidFill>
                      <a:srgbClr val="21295C"/>
                    </a:solidFill>
                  </a:rPr>
                  <a:t>Свёртка — взвешенная сумма текущего и предыдущих значений ряда.</a:t>
                </a:r>
              </a:p>
              <a:p>
                <a:r>
                  <a:rPr lang="ru-RU" sz="1050" dirty="0">
                    <a:solidFill>
                      <a:srgbClr val="21295C"/>
                    </a:solidFill>
                  </a:rPr>
                  <a:t>В MODWT она применяется через низкочастотный</a:t>
                </a:r>
                <a:r>
                  <a:rPr lang="en-US" sz="1050" dirty="0">
                    <a:solidFill>
                      <a:srgbClr val="21295C"/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21295C"/>
                    </a:solidFill>
                  </a:rPr>
                  <a:t>)</a:t>
                </a:r>
                <a:r>
                  <a:rPr lang="ru-RU" sz="1050" dirty="0">
                    <a:solidFill>
                      <a:srgbClr val="21295C"/>
                    </a:solidFill>
                  </a:rPr>
                  <a:t> и высокочастотный</a:t>
                </a:r>
                <a:r>
                  <a:rPr lang="en-US" sz="1050" dirty="0">
                    <a:solidFill>
                      <a:srgbClr val="21295C"/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21295C"/>
                    </a:solidFill>
                  </a:rPr>
                  <a:t>)</a:t>
                </a:r>
                <a:r>
                  <a:rPr lang="ru-RU" sz="1050" dirty="0">
                    <a:solidFill>
                      <a:srgbClr val="21295C"/>
                    </a:solidFill>
                  </a:rPr>
                  <a:t> фильтры.</a:t>
                </a:r>
                <a:endParaRPr sz="1050" b="0" i="0" dirty="0">
                  <a:solidFill>
                    <a:srgbClr val="21295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082039-B5C2-4172-B420-0E1FB0782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2337879"/>
                <a:ext cx="5247153" cy="360099"/>
              </a:xfrm>
              <a:prstGeom prst="rect">
                <a:avLst/>
              </a:prstGeom>
              <a:blipFill>
                <a:blip r:embed="rId5"/>
                <a:stretch>
                  <a:fillRect l="-697" t="-6780" b="-169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7">
            <a:extLst>
              <a:ext uri="{FF2B5EF4-FFF2-40B4-BE49-F238E27FC236}">
                <a16:creationId xmlns:a16="http://schemas.microsoft.com/office/drawing/2014/main" id="{393846FB-7893-4B67-BAD6-DE86F405127D}"/>
              </a:ext>
            </a:extLst>
          </p:cNvPr>
          <p:cNvSpPr/>
          <p:nvPr/>
        </p:nvSpPr>
        <p:spPr>
          <a:xfrm>
            <a:off x="6177419" y="1425440"/>
            <a:ext cx="5526901" cy="1331345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F75782-4B20-4525-8895-556B38CE7B1F}"/>
              </a:ext>
            </a:extLst>
          </p:cNvPr>
          <p:cNvSpPr txBox="1"/>
          <p:nvPr/>
        </p:nvSpPr>
        <p:spPr>
          <a:xfrm>
            <a:off x="6360299" y="1516881"/>
            <a:ext cx="5247153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ru-RU" sz="1050" dirty="0">
                <a:solidFill>
                  <a:srgbClr val="21295C"/>
                </a:solidFill>
              </a:rPr>
              <a:t>После многоуровневой фильтрации исходного ряда и обратной реконструкции получаем:</a:t>
            </a:r>
            <a:endParaRPr sz="1050" b="0" i="0" dirty="0">
              <a:solidFill>
                <a:srgbClr val="21295C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D59F1A1-713A-4D4C-852D-E9B66193F5F5}"/>
                  </a:ext>
                </a:extLst>
              </p:cNvPr>
              <p:cNvSpPr txBox="1"/>
              <p:nvPr/>
            </p:nvSpPr>
            <p:spPr>
              <a:xfrm>
                <a:off x="6360299" y="1848162"/>
                <a:ext cx="5052999" cy="367729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ru-RU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ru-RU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sub>
                      </m:sSub>
                      <m:r>
                        <a:rPr lang="en-US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)+ </m:t>
                      </m:r>
                      <m:sSubSup>
                        <m:sSubSupPr>
                          <m:ctrlPr>
                            <a:rPr lang="ru-RU" sz="1600" b="1" i="1" dirty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1600" b="1" i="0" dirty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sup>
                      </m:sSubSup>
                      <m:r>
                        <a:rPr lang="ru-RU" sz="1600" b="1" i="1" dirty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ru-RU" sz="1600" b="1" i="1" dirty="0" err="1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1600" b="1" i="0" dirty="0">
                  <a:solidFill>
                    <a:srgbClr val="065A82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D59F1A1-713A-4D4C-852D-E9B66193F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299" y="1848162"/>
                <a:ext cx="5052999" cy="367729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463D18A-155C-4CAF-A718-E13A53C7D252}"/>
                  </a:ext>
                </a:extLst>
              </p:cNvPr>
              <p:cNvSpPr txBox="1"/>
              <p:nvPr/>
            </p:nvSpPr>
            <p:spPr>
              <a:xfrm>
                <a:off x="6360298" y="2331574"/>
                <a:ext cx="5247153" cy="38440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ru-RU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  <m:d>
                      <m:dPr>
                        <m:ctrlPr>
                          <a:rPr lang="ru-RU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sz="105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050" dirty="0">
                    <a:solidFill>
                      <a:srgbClr val="21295C"/>
                    </a:solidFill>
                  </a:rPr>
                  <a:t>— низкочастотная компонента;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u-RU" sz="105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105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105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sz="1050" dirty="0">
                    <a:solidFill>
                      <a:srgbClr val="21295C"/>
                    </a:solidFill>
                  </a:rPr>
                  <a:t>— детали </a:t>
                </a:r>
                <a:r>
                  <a:rPr lang="en-US" sz="1050" i="1" dirty="0">
                    <a:solidFill>
                      <a:srgbClr val="21295C"/>
                    </a:solidFill>
                  </a:rPr>
                  <a:t>j</a:t>
                </a:r>
                <a:r>
                  <a:rPr lang="en-US" sz="1050" dirty="0">
                    <a:solidFill>
                      <a:srgbClr val="21295C"/>
                    </a:solidFill>
                  </a:rPr>
                  <a:t>-</a:t>
                </a:r>
                <a:r>
                  <a:rPr lang="ru-RU" sz="1050" dirty="0">
                    <a:solidFill>
                      <a:srgbClr val="21295C"/>
                    </a:solidFill>
                  </a:rPr>
                  <a:t>го масштаба.</a:t>
                </a:r>
                <a:endParaRPr sz="1050" b="0" i="0" dirty="0">
                  <a:solidFill>
                    <a:srgbClr val="21295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463D18A-155C-4CAF-A718-E13A53C7D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298" y="2331574"/>
                <a:ext cx="5247153" cy="384401"/>
              </a:xfrm>
              <a:prstGeom prst="rect">
                <a:avLst/>
              </a:prstGeom>
              <a:blipFill>
                <a:blip r:embed="rId7"/>
                <a:stretch>
                  <a:fillRect t="-4688" b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STL-декомпозиция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Альтернативный подход — структурное разложение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9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065A82"/>
                </a:solidFill>
                <a:latin typeface="Calibri"/>
              </a:rPr>
              <a:t>ряд = тренд + сезонность + остаток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2468880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468880" cy="10058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Исходный ряд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011680"/>
            <a:ext cx="246888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0" y="2011680"/>
            <a:ext cx="2468880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210312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1C7293"/>
                </a:solidFill>
                <a:latin typeface="Calibri"/>
              </a:rPr>
              <a:t>Тренд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657600" y="2423160"/>
                <a:ext cx="2468880" cy="252377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sz="1400" b="1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423160"/>
                <a:ext cx="2468880" cy="252377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657600" y="2724912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медленная составляющая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011680"/>
            <a:ext cx="246888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2011680"/>
            <a:ext cx="2468880" cy="548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10312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E76F51"/>
                </a:solidFill>
                <a:latin typeface="Calibri"/>
              </a:rPr>
              <a:t>Сезонность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309360" y="2423160"/>
                <a:ext cx="2468880" cy="252377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sz="1400" b="1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0" y="2423160"/>
                <a:ext cx="2468880" cy="252377"/>
              </a:xfrm>
              <a:prstGeom prst="rect">
                <a:avLst/>
              </a:prstGeom>
              <a:blipFill>
                <a:blip r:embed="rId4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309360" y="2724912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периодическая часть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011680"/>
            <a:ext cx="246888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61120" y="2011680"/>
            <a:ext cx="2468880" cy="54864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0" y="210312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21295C"/>
                </a:solidFill>
                <a:latin typeface="Calibri"/>
              </a:rPr>
              <a:t>Остаток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961120" y="2423160"/>
                <a:ext cx="2468880" cy="252377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sz="1400" b="1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120" y="2423160"/>
                <a:ext cx="2468880" cy="252377"/>
              </a:xfrm>
              <a:prstGeom prst="rect">
                <a:avLst/>
              </a:prstGeom>
              <a:blipFill>
                <a:blip r:embed="rId5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8961120" y="2724912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нерегулярная часть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3010" y="3566538"/>
            <a:ext cx="411480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 dirty="0" err="1">
                <a:solidFill>
                  <a:srgbClr val="2A9D8F"/>
                </a:solidFill>
                <a:latin typeface="Calibri"/>
              </a:rPr>
              <a:t>Плюсы</a:t>
            </a:r>
            <a:endParaRPr sz="1300" b="1" i="0" dirty="0">
              <a:solidFill>
                <a:srgbClr val="2A9D8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63010" y="3813426"/>
            <a:ext cx="4196219" cy="74892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200" b="1" dirty="0">
                <a:solidFill>
                  <a:srgbClr val="2A9D8F"/>
                </a:solidFill>
                <a:latin typeface="Calibri"/>
              </a:rPr>
              <a:t>▪ 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интерпретируемое разложение: тренд, сезонность, остаток;</a:t>
            </a:r>
          </a:p>
          <a:p>
            <a:pPr algn="l">
              <a:spcAft>
                <a:spcPts val="400"/>
              </a:spcAft>
            </a:pPr>
            <a:r>
              <a:rPr lang="ru-RU" sz="1200" b="1" dirty="0">
                <a:solidFill>
                  <a:srgbClr val="2A9D8F"/>
                </a:solidFill>
                <a:latin typeface="Calibri"/>
              </a:rPr>
              <a:t>▪ 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LOESS позволяет гибко выделять нелинейный тренд;</a:t>
            </a:r>
          </a:p>
          <a:p>
            <a:pPr algn="l">
              <a:spcAft>
                <a:spcPts val="400"/>
              </a:spcAft>
            </a:pPr>
            <a:r>
              <a:rPr lang="ru-RU" sz="1200" b="1" dirty="0">
                <a:solidFill>
                  <a:srgbClr val="2A9D8F"/>
                </a:solidFill>
                <a:latin typeface="Calibri"/>
              </a:rPr>
              <a:t>▪ 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устойчивость к выбросам при </a:t>
            </a:r>
            <a:r>
              <a:rPr lang="ru-RU" sz="1200" dirty="0" err="1">
                <a:solidFill>
                  <a:srgbClr val="21295C"/>
                </a:solidFill>
                <a:latin typeface="Calibri"/>
              </a:rPr>
              <a:t>robust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-режиме;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3010" y="5026897"/>
            <a:ext cx="2761989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 dirty="0" err="1">
                <a:solidFill>
                  <a:srgbClr val="E76F51"/>
                </a:solidFill>
                <a:latin typeface="Calibri"/>
              </a:rPr>
              <a:t>Минусы</a:t>
            </a:r>
            <a:endParaRPr sz="1300" b="1" i="0" dirty="0">
              <a:solidFill>
                <a:srgbClr val="E76F51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63010" y="5249098"/>
            <a:ext cx="4196219" cy="74892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200" dirty="0">
                <a:solidFill>
                  <a:schemeClr val="tx2">
                    <a:lumMod val="75000"/>
                  </a:schemeClr>
                </a:solidFill>
              </a:rPr>
              <a:t>требуется заранее заданный сезонный период;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200" dirty="0">
                <a:solidFill>
                  <a:schemeClr val="tx2">
                    <a:lumMod val="75000"/>
                  </a:schemeClr>
                </a:solidFill>
              </a:rPr>
              <a:t>базовая STL плохо описывает многопериодную структуру;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200" dirty="0">
                <a:solidFill>
                  <a:schemeClr val="tx2">
                    <a:lumMod val="75000"/>
                  </a:schemeClr>
                </a:solidFill>
              </a:rPr>
              <a:t>хуже учитывает быстро меняющуюся форму сезонности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;</a:t>
            </a:r>
            <a:endParaRPr sz="1200" dirty="0">
              <a:solidFill>
                <a:schemeClr val="tx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36" name="Rectangle 12">
            <a:extLst>
              <a:ext uri="{FF2B5EF4-FFF2-40B4-BE49-F238E27FC236}">
                <a16:creationId xmlns:a16="http://schemas.microsoft.com/office/drawing/2014/main" id="{163DE8EB-8EF3-4474-BFF4-A70BA10F4FDA}"/>
              </a:ext>
            </a:extLst>
          </p:cNvPr>
          <p:cNvSpPr/>
          <p:nvPr/>
        </p:nvSpPr>
        <p:spPr>
          <a:xfrm>
            <a:off x="640080" y="3570422"/>
            <a:ext cx="5486400" cy="257434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13">
            <a:extLst>
              <a:ext uri="{FF2B5EF4-FFF2-40B4-BE49-F238E27FC236}">
                <a16:creationId xmlns:a16="http://schemas.microsoft.com/office/drawing/2014/main" id="{60ACF084-819C-4E6B-B08D-1B4F18261218}"/>
              </a:ext>
            </a:extLst>
          </p:cNvPr>
          <p:cNvSpPr/>
          <p:nvPr/>
        </p:nvSpPr>
        <p:spPr>
          <a:xfrm>
            <a:off x="640080" y="3570421"/>
            <a:ext cx="73152" cy="2574345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AB0031-E018-4B40-9F51-31D8A09AD7AB}"/>
              </a:ext>
            </a:extLst>
          </p:cNvPr>
          <p:cNvSpPr txBox="1"/>
          <p:nvPr/>
        </p:nvSpPr>
        <p:spPr>
          <a:xfrm>
            <a:off x="822960" y="3661862"/>
            <a:ext cx="182880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ru-RU" sz="1500" b="1" dirty="0">
                <a:solidFill>
                  <a:srgbClr val="065A82"/>
                </a:solidFill>
                <a:latin typeface="Calibri"/>
              </a:rPr>
              <a:t>Особенности </a:t>
            </a:r>
            <a:r>
              <a:rPr lang="en-US" sz="1500" b="1" dirty="0">
                <a:solidFill>
                  <a:srgbClr val="065A82"/>
                </a:solidFill>
                <a:latin typeface="Calibri"/>
              </a:rPr>
              <a:t>STL</a:t>
            </a:r>
            <a:endParaRPr lang="en-US" sz="1500" b="1" i="0" dirty="0">
              <a:solidFill>
                <a:srgbClr val="065A82"/>
              </a:solidFill>
              <a:latin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0AA157-F6D5-47F2-BC9D-ED34D7886993}"/>
              </a:ext>
            </a:extLst>
          </p:cNvPr>
          <p:cNvSpPr txBox="1"/>
          <p:nvPr/>
        </p:nvSpPr>
        <p:spPr>
          <a:xfrm>
            <a:off x="822960" y="4027622"/>
            <a:ext cx="50292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endParaRPr lang="cy-GB" sz="1200" b="0" i="0" dirty="0">
              <a:solidFill>
                <a:srgbClr val="21295C"/>
              </a:solidFill>
              <a:latin typeface="Consola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7DC8E8-3670-4807-9E9C-AD139CF24414}"/>
              </a:ext>
            </a:extLst>
          </p:cNvPr>
          <p:cNvSpPr txBox="1"/>
          <p:nvPr/>
        </p:nvSpPr>
        <p:spPr>
          <a:xfrm>
            <a:off x="822960" y="4035316"/>
            <a:ext cx="2961654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100" b="0" i="0" dirty="0">
                <a:solidFill>
                  <a:srgbClr val="21295C"/>
                </a:solidFill>
                <a:latin typeface="Calibri"/>
              </a:rPr>
              <a:t>Каждая компонента оценивается итерационно</a:t>
            </a:r>
            <a:r>
              <a:rPr lang="en-US" sz="1100" b="0" i="0" dirty="0">
                <a:solidFill>
                  <a:srgbClr val="21295C"/>
                </a:solidFill>
                <a:latin typeface="Calibri"/>
              </a:rPr>
              <a:t>:</a:t>
            </a:r>
            <a:endParaRPr sz="1100" b="0" i="1" dirty="0">
              <a:solidFill>
                <a:srgbClr val="6B7280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1BA77FD-AEA3-4440-8E28-69FB82BBDF1A}"/>
                  </a:ext>
                </a:extLst>
              </p:cNvPr>
              <p:cNvSpPr txBox="1"/>
              <p:nvPr/>
            </p:nvSpPr>
            <p:spPr>
              <a:xfrm>
                <a:off x="1984624" y="4535175"/>
                <a:ext cx="2961654" cy="59093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12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ar-AE" sz="12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ar-AE" sz="12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𝐿𝑂𝐸𝑆𝑆</m:t>
                      </m:r>
                      <m:d>
                        <m:dPr>
                          <m:ctrlP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1200" i="1" dirty="0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b>
                          </m:sSub>
                          <m: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1200" i="1" dirty="0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200" b="0" i="1" dirty="0">
                  <a:solidFill>
                    <a:schemeClr val="tx2">
                      <a:lumMod val="75000"/>
                    </a:schemeClr>
                  </a:solidFill>
                  <a:latin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b="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12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ar-AE" sz="1200" i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ar-AE" sz="12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𝐿𝑂𝐸𝑆𝑆</m:t>
                      </m:r>
                      <m:d>
                        <m:dPr>
                          <m:ctrlP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1200" i="1" dirty="0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b>
                          </m:sSub>
                          <m: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b="0" i="1" dirty="0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1200" i="1" dirty="0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200" b="0" i="1" dirty="0">
                  <a:solidFill>
                    <a:schemeClr val="tx2">
                      <a:lumMod val="75000"/>
                    </a:schemeClr>
                  </a:solidFill>
                  <a:latin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b="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12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​=</m:t>
                      </m:r>
                      <m:sSub>
                        <m:sSubPr>
                          <m:ctrlPr>
                            <a:rPr lang="ar-AE" sz="1200" i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 dirty="0" err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1200" i="1" dirty="0" err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1200" i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b>
                      </m:sSub>
                      <m:r>
                        <a:rPr lang="ar-AE" sz="1200" i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1200" b="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b="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1200" b="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1200" b="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1200" i="1" dirty="0" err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 dirty="0" err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1200" i="1" dirty="0" err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1200" i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b>
                      </m:sSub>
                    </m:oMath>
                  </m:oMathPara>
                </a14:m>
                <a:endParaRPr lang="ar-AE" sz="1200" b="0" i="1" dirty="0">
                  <a:solidFill>
                    <a:schemeClr val="tx2">
                      <a:lumMod val="75000"/>
                    </a:schemeClr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1BA77FD-AEA3-4440-8E28-69FB82BBD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624" y="4535175"/>
                <a:ext cx="2961654" cy="590931"/>
              </a:xfrm>
              <a:prstGeom prst="rect">
                <a:avLst/>
              </a:prstGeom>
              <a:blipFill>
                <a:blip r:embed="rId6"/>
                <a:stretch>
                  <a:fillRect b="-41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A4F592BA-DB27-4862-9CAE-4BD125C8342F}"/>
              </a:ext>
            </a:extLst>
          </p:cNvPr>
          <p:cNvSpPr txBox="1"/>
          <p:nvPr/>
        </p:nvSpPr>
        <p:spPr>
          <a:xfrm>
            <a:off x="822961" y="5412061"/>
            <a:ext cx="5029199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100" b="0" i="0" dirty="0">
                <a:solidFill>
                  <a:srgbClr val="21295C"/>
                </a:solidFill>
                <a:latin typeface="Calibri"/>
              </a:rPr>
              <a:t>LOESS – </a:t>
            </a:r>
            <a:r>
              <a:rPr lang="ru-RU" sz="1100" b="0" i="0" dirty="0">
                <a:solidFill>
                  <a:srgbClr val="21295C"/>
                </a:solidFill>
                <a:latin typeface="Calibri"/>
              </a:rPr>
              <a:t>локальная регрессия</a:t>
            </a:r>
            <a:r>
              <a:rPr lang="en-US" sz="1100" b="0" i="0" dirty="0">
                <a:solidFill>
                  <a:srgbClr val="21295C"/>
                </a:solidFill>
                <a:latin typeface="Calibri"/>
              </a:rPr>
              <a:t>: </a:t>
            </a:r>
            <a:r>
              <a:rPr lang="ru-RU" sz="1100" b="0" i="0" dirty="0">
                <a:solidFill>
                  <a:srgbClr val="21295C"/>
                </a:solidFill>
                <a:latin typeface="Calibri"/>
              </a:rPr>
              <a:t>для каждой точки строится сглаженная оценка по соседним наблюдениям с большими весами у ближайших точек</a:t>
            </a:r>
            <a:endParaRPr sz="1100" b="0" i="1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Классические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ARIMA, ETS, Prophet — базовые модели сравнения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0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749039" cy="5212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749039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35661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ARIMA(p,d,q)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783080"/>
            <a:ext cx="3474719" cy="894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32251" y="2137866"/>
                <a:ext cx="3383279" cy="474425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nary>
                        <m:naryPr>
                          <m:chr m:val="∑"/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0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0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l-GR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10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0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0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0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10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0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0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51" y="2137866"/>
                <a:ext cx="3383279" cy="474425"/>
              </a:xfrm>
              <a:prstGeom prst="rect">
                <a:avLst/>
              </a:prstGeom>
              <a:blipFill>
                <a:blip r:embed="rId3"/>
                <a:stretch>
                  <a:fillRect t="-105128" b="-1551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48639" y="2781400"/>
                <a:ext cx="3566159" cy="2949910"/>
              </a:xfrm>
              <a:prstGeom prst="rect">
                <a:avLst/>
              </a:prstGeom>
              <a:noFill/>
            </p:spPr>
            <p:txBody>
              <a:bodyPr wrap="square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lang="en-US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ARIMA = AR + I + MA</a:t>
                </a:r>
              </a:p>
              <a:p>
                <a:pPr>
                  <a:spcAft>
                    <a:spcPts val="400"/>
                  </a:spcAft>
                </a:pPr>
                <a:endParaRPr lang="en-US" sz="11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171450" indent="-171450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</a:rPr>
                  <a:t>AR —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зависимость от прошлых значений:</a:t>
                </a:r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ru-RU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ru-RU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1100" b="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171450" indent="-171450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</a:rPr>
                  <a:t>I —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дифференцирование</a:t>
                </a:r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</a:rPr>
                  <a:t> (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помогает убрать нестационарность):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10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1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171450" indent="-171450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</a:rPr>
                  <a:t>MA —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учёт прошлых ошибок:</a:t>
                </a:r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…, </m:t>
                    </m:r>
                    <m:sSub>
                      <m:sSubPr>
                        <m:ctrlPr>
                          <a:rPr lang="el-GR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1100" b="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spcAft>
                    <a:spcPts val="400"/>
                  </a:spcAft>
                </a:pPr>
                <a:endParaRPr lang="en-US" sz="11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spcAft>
                    <a:spcPts val="400"/>
                  </a:spcAft>
                </a:pP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В работе:</a:t>
                </a:r>
                <a:endParaRPr lang="en-US" sz="11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spcAft>
                    <a:spcPts val="400"/>
                  </a:spcAft>
                </a:pPr>
                <a:b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▪ 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ARIMA(</a:t>
                </a:r>
                <a:r>
                  <a:rPr lang="ru-RU" sz="1100" dirty="0" err="1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auto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): подбор по ACF/PACF (порядки ≤ 3)</a:t>
                </a:r>
              </a:p>
              <a:p>
                <a:pPr>
                  <a:spcAft>
                    <a:spcPts val="400"/>
                  </a:spcAft>
                </a:pP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▪ 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защита от вырожденного прогноза</a:t>
                </a:r>
              </a:p>
              <a:p>
                <a:pPr>
                  <a:spcAft>
                    <a:spcPts val="400"/>
                  </a:spcAft>
                </a:pP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▪ 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резервный набор порядков:</a:t>
                </a:r>
                <a:b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(0,1,1), (1,1,0), (0,1,0), (1,0,1)</a:t>
                </a:r>
                <a:endParaRPr lang="ru-RU" sz="1100" dirty="0">
                  <a:solidFill>
                    <a:schemeClr val="accent1">
                      <a:lumMod val="50000"/>
                    </a:schemeClr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2781400"/>
                <a:ext cx="3566159" cy="2949910"/>
              </a:xfrm>
              <a:prstGeom prst="rect">
                <a:avLst/>
              </a:prstGeom>
              <a:blipFill>
                <a:blip r:embed="rId4"/>
                <a:stretch>
                  <a:fillRect l="-1197" t="-207" b="-4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297679" y="1188720"/>
            <a:ext cx="3749039" cy="5212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79" y="1188720"/>
            <a:ext cx="3749039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39" y="1234440"/>
            <a:ext cx="35661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39" y="1783080"/>
            <a:ext cx="3474719" cy="894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434838" y="2781400"/>
                <a:ext cx="3566159" cy="2123658"/>
              </a:xfrm>
              <a:prstGeom prst="rect">
                <a:avLst/>
              </a:prstGeom>
              <a:noFill/>
            </p:spPr>
            <p:txBody>
              <a:bodyPr wrap="square" lIns="45720" rIns="45720">
                <a:spAutoFit/>
              </a:bodyPr>
              <a:lstStyle/>
              <a:p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ETS = Error + Trend + Seasonality</a:t>
                </a:r>
                <a:endParaRPr lang="en-US" sz="11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endParaRPr lang="ru-RU" sz="11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уровень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​</a:t>
                </a:r>
                <a:r>
                  <a:rPr lang="en-US" sz="1100" dirty="0">
                    <a:solidFill>
                      <a:srgbClr val="21295C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 — текущий базовый уровень ряда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тренд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​ — направление изменения ряда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сезонность</a:t>
                </a:r>
                <a:r>
                  <a:rPr lang="en-US" sz="1100" dirty="0">
                    <a:solidFill>
                      <a:srgbClr val="21295C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​— повторяющиеся колебания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экспоненциальное сглаживание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— обновление состояний с весами </a:t>
                </a:r>
                <a14:m>
                  <m:oMath xmlns:m="http://schemas.openxmlformats.org/officeDocument/2006/math">
                    <m:r>
                      <a:rPr lang="ru-RU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US" sz="11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ru-RU" sz="11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В работе:</a:t>
                </a:r>
                <a:endParaRPr lang="en-US" sz="11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ru-RU" sz="11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хорошо работает на коротких рядах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устойчива для плавной динамики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838" y="2781400"/>
                <a:ext cx="3566159" cy="2123658"/>
              </a:xfrm>
              <a:prstGeom prst="rect">
                <a:avLst/>
              </a:prstGeom>
              <a:blipFill>
                <a:blip r:embed="rId5"/>
                <a:stretch>
                  <a:fillRect l="-1026" t="-287" b="-8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8138158" y="1188720"/>
            <a:ext cx="3749039" cy="5212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58" y="1188720"/>
            <a:ext cx="3749039" cy="4572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18" y="1234440"/>
            <a:ext cx="35661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Prophet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18" y="1783080"/>
            <a:ext cx="3474719" cy="894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321037" y="2137866"/>
                <a:ext cx="3383279" cy="19082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sSub>
                        <m:sSubPr>
                          <m:ctrlPr>
                            <a:rPr lang="ru-RU" sz="1000" b="0" i="1" dirty="0" err="1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000" b="0" i="1" dirty="0" err="1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u-RU" sz="1000" b="0" i="1" dirty="0" err="1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10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1037" y="2137866"/>
                <a:ext cx="3383279" cy="190821"/>
              </a:xfrm>
              <a:prstGeom prst="rect">
                <a:avLst/>
              </a:prstGeom>
              <a:blipFill>
                <a:blip r:embed="rId6"/>
                <a:stretch>
                  <a:fillRect b="-22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275318" y="2781400"/>
                <a:ext cx="3566159" cy="2246769"/>
              </a:xfrm>
              <a:prstGeom prst="rect">
                <a:avLst/>
              </a:prstGeom>
              <a:noFill/>
            </p:spPr>
            <p:txBody>
              <a:bodyPr wrap="square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lang="en-US" sz="1100" b="1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Prophet = Trend + Seasonality + Holidays + Error</a:t>
                </a:r>
              </a:p>
              <a:p>
                <a:pPr algn="l">
                  <a:spcAft>
                    <a:spcPts val="400"/>
                  </a:spcAft>
                </a:pPr>
                <a:endParaRPr lang="en-US" sz="1100" b="1" dirty="0">
                  <a:solidFill>
                    <a:schemeClr val="accent1">
                      <a:lumMod val="50000"/>
                    </a:schemeClr>
                  </a:solidFill>
                  <a:latin typeface="Calibri"/>
                </a:endParaRPr>
              </a:p>
              <a:p>
                <a:pPr marL="171450" indent="-171450" algn="l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—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кусочно-линейный тренд</a:t>
                </a:r>
              </a:p>
              <a:p>
                <a:pPr marL="171450" indent="-171450" algn="l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—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сезонность через ряд Фурье</a:t>
                </a:r>
              </a:p>
              <a:p>
                <a:pPr marL="171450" indent="-171450" algn="l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—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календарные события</a:t>
                </a:r>
              </a:p>
              <a:p>
                <a:pPr marL="171450" indent="-171450" algn="l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—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ошибка</a:t>
                </a:r>
              </a:p>
              <a:p>
                <a:pPr algn="l">
                  <a:spcAft>
                    <a:spcPts val="400"/>
                  </a:spcAft>
                </a:pPr>
                <a:endParaRPr lang="ru-RU" sz="1100" b="1" dirty="0">
                  <a:solidFill>
                    <a:schemeClr val="accent1">
                      <a:lumMod val="50000"/>
                    </a:schemeClr>
                  </a:solidFill>
                  <a:latin typeface="Calibri"/>
                </a:endParaRPr>
              </a:p>
              <a:p>
                <a:pPr algn="l">
                  <a:spcAft>
                    <a:spcPts val="400"/>
                  </a:spcAft>
                </a:pP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В работе:</a:t>
                </a:r>
              </a:p>
              <a:p>
                <a:pPr marL="171450" indent="-171450" algn="l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аддитивная модель</a:t>
                </a:r>
              </a:p>
              <a:p>
                <a:pPr marL="171450" indent="-171450" algn="l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без встроенных календарных сезонностей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318" y="2781400"/>
                <a:ext cx="3566159" cy="2246769"/>
              </a:xfrm>
              <a:prstGeom prst="rect">
                <a:avLst/>
              </a:prstGeom>
              <a:blipFill>
                <a:blip r:embed="rId7"/>
                <a:stretch>
                  <a:fillRect l="-1026" t="-271" b="-8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349532-1564-4EA0-9FF3-48B5780235EB}"/>
                  </a:ext>
                </a:extLst>
              </p:cNvPr>
              <p:cNvSpPr txBox="1"/>
              <p:nvPr/>
            </p:nvSpPr>
            <p:spPr>
              <a:xfrm>
                <a:off x="685801" y="1898631"/>
                <a:ext cx="3329730" cy="193515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00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p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𝐴𝑅𝑀𝐴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349532-1564-4EA0-9FF3-48B578023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1" y="1898631"/>
                <a:ext cx="3329730" cy="193515"/>
              </a:xfrm>
              <a:prstGeom prst="rect">
                <a:avLst/>
              </a:prstGeom>
              <a:blipFill>
                <a:blip r:embed="rId8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12337C9-1E69-41B6-BAA1-CB3B3D9457F0}"/>
                  </a:ext>
                </a:extLst>
              </p:cNvPr>
              <p:cNvSpPr txBox="1"/>
              <p:nvPr/>
            </p:nvSpPr>
            <p:spPr>
              <a:xfrm>
                <a:off x="4507333" y="2381344"/>
                <a:ext cx="3329730" cy="193515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sz="10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12337C9-1E69-41B6-BAA1-CB3B3D945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333" y="2381344"/>
                <a:ext cx="3329730" cy="193515"/>
              </a:xfrm>
              <a:prstGeom prst="rect">
                <a:avLst/>
              </a:prstGeom>
              <a:blipFill>
                <a:blip r:embed="rId9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5218E-24EE-4E26-8C8F-A939B9C3BEF2}"/>
                  </a:ext>
                </a:extLst>
              </p:cNvPr>
              <p:cNvSpPr txBox="1"/>
              <p:nvPr/>
            </p:nvSpPr>
            <p:spPr>
              <a:xfrm>
                <a:off x="4513596" y="1888697"/>
                <a:ext cx="3329730" cy="667299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i="1" dirty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000" b="0" i="0" dirty="0">
                  <a:solidFill>
                    <a:srgbClr val="21295C"/>
                  </a:solidFill>
                  <a:latin typeface="Consolas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1000" i="1" dirty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00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sSub>
                        <m:sSubPr>
                          <m:ctrlP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000" b="0" i="0" dirty="0">
                  <a:solidFill>
                    <a:srgbClr val="21295C"/>
                  </a:solidFill>
                  <a:latin typeface="Consolas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ru-RU" sz="1000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1000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1000" i="1" dirty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00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1000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sSub>
                        <m:sSubPr>
                          <m:ctrlP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1000" b="0" i="0" dirty="0">
                  <a:solidFill>
                    <a:srgbClr val="21295C"/>
                  </a:solidFill>
                  <a:latin typeface="Consolas"/>
                </a:endParaRPr>
              </a:p>
              <a:p>
                <a:endParaRPr lang="en-US" sz="10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5218E-24EE-4E26-8C8F-A939B9C3B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596" y="1888697"/>
                <a:ext cx="3329730" cy="667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Архитектура TimesNet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459078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 dirty="0" err="1">
                <a:solidFill>
                  <a:srgbClr val="1C7293"/>
                </a:solidFill>
                <a:latin typeface="Calibri"/>
              </a:rPr>
              <a:t>Превращение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1D-ряда в 2D-представления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по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периодам</a:t>
            </a:r>
            <a:endParaRPr sz="1400" b="0" i="1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6444641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 dirty="0" err="1">
                <a:solidFill>
                  <a:srgbClr val="21295C"/>
                </a:solidFill>
                <a:latin typeface="Calibri"/>
              </a:rPr>
              <a:t>Идея</a:t>
            </a:r>
            <a:r>
              <a:rPr sz="1400" b="0" i="1" dirty="0">
                <a:solidFill>
                  <a:srgbClr val="21295C"/>
                </a:solidFill>
                <a:latin typeface="Calibri"/>
              </a:rPr>
              <a:t>: </a:t>
            </a:r>
            <a:r>
              <a:rPr lang="ru-RU" sz="1400" b="0" i="1" dirty="0">
                <a:solidFill>
                  <a:srgbClr val="21295C"/>
                </a:solidFill>
                <a:latin typeface="Calibri"/>
              </a:rPr>
              <a:t>одномерный ряд → набор 2D-«изображений» по доминирующим периодам</a:t>
            </a:r>
            <a:endParaRPr sz="1400" b="0" i="1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2194560" cy="8229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083760"/>
            <a:ext cx="2194560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Входной ряд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560321" y="2057400"/>
            <a:ext cx="91439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06040" y="1783080"/>
            <a:ext cx="2194560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6040" y="1899094"/>
            <a:ext cx="2194560" cy="59093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FFT</a:t>
            </a:r>
            <a:r>
              <a:rPr lang="ru-RU" sz="1200" dirty="0">
                <a:solidFill>
                  <a:schemeClr val="bg1"/>
                </a:solidFill>
              </a:rPr>
              <a:t> (быстрое дискретное преобразование Фурье)</a:t>
            </a:r>
            <a:r>
              <a:rPr lang="en-US" sz="1200" dirty="0">
                <a:solidFill>
                  <a:schemeClr val="bg1"/>
                </a:solidFill>
              </a:rPr>
              <a:t>: </a:t>
            </a:r>
            <a:r>
              <a:rPr lang="ru-RU" sz="1200" dirty="0">
                <a:solidFill>
                  <a:schemeClr val="bg1"/>
                </a:solidFill>
              </a:rPr>
              <a:t>поиск доминирующих периодов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800601" y="2057400"/>
            <a:ext cx="91439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46320" y="1783080"/>
            <a:ext cx="2194560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1991427"/>
            <a:ext cx="219456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ru-RU" sz="1200" dirty="0" err="1">
                <a:solidFill>
                  <a:schemeClr val="bg1"/>
                </a:solidFill>
              </a:rPr>
              <a:t>Reshape</a:t>
            </a:r>
            <a:r>
              <a:rPr lang="ru-RU" sz="1200" dirty="0">
                <a:solidFill>
                  <a:schemeClr val="bg1"/>
                </a:solidFill>
              </a:rPr>
              <a:t>: 1D → 2D по каждому периоду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7040881" y="2057400"/>
            <a:ext cx="91439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86600" y="1783080"/>
            <a:ext cx="2194560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86600" y="1991427"/>
            <a:ext cx="219456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2D-</a:t>
            </a:r>
            <a:r>
              <a:rPr lang="ru-RU" sz="1200" dirty="0">
                <a:solidFill>
                  <a:schemeClr val="bg1"/>
                </a:solidFill>
              </a:rPr>
              <a:t>свёртки: обработка </a:t>
            </a:r>
            <a:r>
              <a:rPr lang="en-US" sz="1200" dirty="0">
                <a:solidFill>
                  <a:schemeClr val="bg1"/>
                </a:solidFill>
              </a:rPr>
              <a:t>intra + inter-period variation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9281161" y="2057400"/>
            <a:ext cx="91439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26880" y="1783080"/>
            <a:ext cx="2194560" cy="8229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1991427"/>
            <a:ext cx="219456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Softmax</a:t>
            </a:r>
            <a:r>
              <a:rPr lang="en-US" sz="1200" dirty="0">
                <a:solidFill>
                  <a:schemeClr val="bg1"/>
                </a:solidFill>
              </a:rPr>
              <a:t>-</a:t>
            </a:r>
            <a:r>
              <a:rPr lang="ru-RU" sz="1200" dirty="0">
                <a:solidFill>
                  <a:schemeClr val="bg1"/>
                </a:solidFill>
              </a:rPr>
              <a:t>агрегация по амплитудам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03171" y="2958309"/>
            <a:ext cx="4434841" cy="867253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86051" y="3049749"/>
            <a:ext cx="1490598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200" b="1" dirty="0">
                <a:solidFill>
                  <a:srgbClr val="21295C"/>
                </a:solidFill>
                <a:latin typeface="Calibri"/>
              </a:rPr>
              <a:t>Ключевая формула</a:t>
            </a:r>
            <a:r>
              <a:rPr lang="en-US" sz="1200" b="1" dirty="0">
                <a:solidFill>
                  <a:srgbClr val="21295C"/>
                </a:solidFill>
                <a:latin typeface="Calibri"/>
              </a:rPr>
              <a:t>:</a:t>
            </a:r>
            <a:endParaRPr sz="1200" b="1" i="0" dirty="0">
              <a:solidFill>
                <a:srgbClr val="21295C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520700" y="3031685"/>
                <a:ext cx="2917311" cy="267509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  <m:r>
                        <a:rPr lang="en-US" sz="1300" b="0" i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300" b="0" i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𝑅𝑒𝑠</m:t>
                      </m:r>
                      <m:r>
                        <a:rPr lang="en-US" sz="1300" b="0" i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300" b="0" i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𝑎𝑝</m:t>
                      </m:r>
                      <m:sSub>
                        <m:sSubPr>
                          <m:ctrlPr>
                            <a:rPr lang="en-US" sz="1300" b="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b="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lang="en-US" sz="13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3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3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3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sz="1300" b="0" i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𝑃𝑎𝑑𝑑𝑖𝑛𝑔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300" b="0" i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1300" b="0" i="0" dirty="0">
                  <a:solidFill>
                    <a:srgbClr val="065A82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0700" y="3031685"/>
                <a:ext cx="2917311" cy="267509"/>
              </a:xfrm>
              <a:prstGeom prst="rect">
                <a:avLst/>
              </a:prstGeom>
              <a:blipFill>
                <a:blip r:embed="rId3"/>
                <a:stretch>
                  <a:fillRect b="-113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457200" y="5237548"/>
            <a:ext cx="219456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 err="1">
                <a:solidFill>
                  <a:srgbClr val="E76F51"/>
                </a:solidFill>
                <a:latin typeface="Calibri"/>
              </a:rPr>
              <a:t>Реализация</a:t>
            </a:r>
            <a:r>
              <a:rPr sz="1400" b="1" i="0" dirty="0">
                <a:solidFill>
                  <a:srgbClr val="E76F51"/>
                </a:solidFill>
                <a:latin typeface="Calibri"/>
              </a:rPr>
              <a:t> (TimesNetV2):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01631"/>
            <a:ext cx="3886200" cy="51296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d_model</a:t>
            </a:r>
            <a:r>
              <a:rPr sz="1200" dirty="0">
                <a:solidFill>
                  <a:srgbClr val="21295C"/>
                </a:solidFill>
                <a:latin typeface="Calibri"/>
              </a:rPr>
              <a:t>=64, layers=4, top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_</a:t>
            </a:r>
            <a:r>
              <a:rPr sz="1200" dirty="0">
                <a:solidFill>
                  <a:srgbClr val="21295C"/>
                </a:solidFill>
                <a:latin typeface="Calibri"/>
              </a:rPr>
              <a:t>k=3, dropout=0.1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MSUnit</a:t>
            </a:r>
            <a:r>
              <a:rPr sz="1200" dirty="0">
                <a:solidFill>
                  <a:srgbClr val="21295C"/>
                </a:solidFill>
                <a:latin typeface="Calibri"/>
              </a:rPr>
              <a:t>: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ветки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1×1, 3×3, 7×7 +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avgpool</a:t>
            </a:r>
            <a:endParaRPr sz="120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id="{350CF4FC-1717-410A-AB92-80146C56BB95}"/>
              </a:ext>
            </a:extLst>
          </p:cNvPr>
          <p:cNvSpPr/>
          <p:nvPr/>
        </p:nvSpPr>
        <p:spPr>
          <a:xfrm>
            <a:off x="1385448" y="2953205"/>
            <a:ext cx="4434841" cy="867253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0FE255-9768-4CD7-8B13-3E9DC0B2EF67}"/>
              </a:ext>
            </a:extLst>
          </p:cNvPr>
          <p:cNvSpPr txBox="1"/>
          <p:nvPr/>
        </p:nvSpPr>
        <p:spPr>
          <a:xfrm>
            <a:off x="1637220" y="3083068"/>
            <a:ext cx="1490598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21295C"/>
                </a:solidFill>
                <a:latin typeface="Calibri"/>
              </a:rPr>
              <a:t>FFT / DFT</a:t>
            </a:r>
            <a:r>
              <a:rPr sz="1200" b="1" i="0" dirty="0">
                <a:solidFill>
                  <a:srgbClr val="21295C"/>
                </a:solidFill>
                <a:latin typeface="Calibri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A7B759B-72F6-425F-8469-E484178A9BA4}"/>
                  </a:ext>
                </a:extLst>
              </p:cNvPr>
              <p:cNvSpPr txBox="1"/>
              <p:nvPr/>
            </p:nvSpPr>
            <p:spPr>
              <a:xfrm>
                <a:off x="2382519" y="2964123"/>
                <a:ext cx="3370580" cy="34067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30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ru-RU" sz="14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ru-RU" sz="1400" b="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4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4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sSub>
                        <m:sSubPr>
                          <m:ctrlPr>
                            <a:rPr lang="en-US" sz="13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13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3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3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3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3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3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13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𝑘𝑡</m:t>
                              </m:r>
                            </m:num>
                            <m:den>
                              <m:r>
                                <a:rPr lang="en-US" sz="13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…, 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sz="1300" b="0" i="0" dirty="0">
                  <a:solidFill>
                    <a:srgbClr val="065A82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A7B759B-72F6-425F-8469-E484178A9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519" y="2964123"/>
                <a:ext cx="3370580" cy="340671"/>
              </a:xfrm>
              <a:prstGeom prst="rect">
                <a:avLst/>
              </a:prstGeom>
              <a:blipFill>
                <a:blip r:embed="rId4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724B77-A794-4B23-92D1-0072C41224C2}"/>
                  </a:ext>
                </a:extLst>
              </p:cNvPr>
              <p:cNvSpPr txBox="1"/>
              <p:nvPr/>
            </p:nvSpPr>
            <p:spPr>
              <a:xfrm>
                <a:off x="1568330" y="3357081"/>
                <a:ext cx="4251959" cy="412357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:r>
                  <a:rPr lang="ru-RU" sz="1000" b="1" dirty="0">
                    <a:solidFill>
                      <a:schemeClr val="tx2">
                        <a:lumMod val="75000"/>
                      </a:schemeClr>
                    </a:solidFill>
                  </a:rPr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ru-RU" sz="1000" b="1" dirty="0">
                    <a:solidFill>
                      <a:schemeClr val="tx2">
                        <a:lumMod val="75000"/>
                      </a:schemeClr>
                    </a:solidFill>
                  </a:rPr>
                  <a:t>| </a:t>
                </a:r>
                <a:r>
                  <a:rPr lang="ru-RU" sz="1000" dirty="0">
                    <a:solidFill>
                      <a:schemeClr val="tx2">
                        <a:lumMod val="75000"/>
                      </a:schemeClr>
                    </a:solidFill>
                  </a:rPr>
                  <a:t>— </a:t>
                </a:r>
                <a:r>
                  <a:rPr lang="ru-RU" sz="1000" i="1" dirty="0">
                    <a:solidFill>
                      <a:schemeClr val="tx2">
                        <a:lumMod val="75000"/>
                      </a:schemeClr>
                    </a:solidFill>
                  </a:rPr>
                  <a:t>амплитуда частоты k</a:t>
                </a:r>
                <a:r>
                  <a:rPr lang="ru-RU" sz="1000" dirty="0">
                    <a:solidFill>
                      <a:schemeClr val="tx2">
                        <a:lumMod val="75000"/>
                      </a:schemeClr>
                    </a:solidFill>
                  </a:rPr>
                  <a:t>,</a:t>
                </a:r>
                <a:r>
                  <a:rPr lang="en-US" sz="1000" dirty="0">
                    <a:solidFill>
                      <a:schemeClr val="tx2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ru-RU" sz="1000" b="1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000" b="1" dirty="0">
                    <a:solidFill>
                      <a:schemeClr val="tx2">
                        <a:lumMod val="75000"/>
                      </a:schemeClr>
                    </a:solidFill>
                  </a:rPr>
                  <a:t>≈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num>
                      <m:den>
                        <m:r>
                          <a:rPr lang="en-US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den>
                    </m:f>
                    <m:r>
                      <a:rPr lang="en-US" sz="1000" b="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1000" b="1" i="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000" b="1" i="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sz="1000" b="1" i="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000" b="1" i="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ru-RU" sz="1000" dirty="0">
                    <a:solidFill>
                      <a:schemeClr val="tx2">
                        <a:lumMod val="75000"/>
                      </a:schemeClr>
                    </a:solidFill>
                  </a:rPr>
                  <a:t>— </a:t>
                </a:r>
                <a:r>
                  <a:rPr lang="ru-RU" sz="1000" i="1" dirty="0">
                    <a:solidFill>
                      <a:schemeClr val="tx2">
                        <a:lumMod val="75000"/>
                      </a:schemeClr>
                    </a:solidFill>
                  </a:rPr>
                  <a:t>соответствующий период</a:t>
                </a:r>
                <a:r>
                  <a:rPr lang="en-US" sz="1000" i="1" dirty="0">
                    <a:solidFill>
                      <a:schemeClr val="tx2">
                        <a:lumMod val="75000"/>
                      </a:schemeClr>
                    </a:solidFill>
                  </a:rPr>
                  <a:t> </a:t>
                </a:r>
                <a:r>
                  <a:rPr lang="en-US" sz="1000" b="0" i="1" dirty="0">
                    <a:solidFill>
                      <a:schemeClr val="tx2">
                        <a:lumMod val="75000"/>
                      </a:schemeClr>
                    </a:solidFill>
                    <a:latin typeface="Calibri"/>
                  </a:rPr>
                  <a:t>(</a:t>
                </a:r>
                <a:r>
                  <a:rPr lang="ru-RU" sz="1000" i="1" dirty="0">
                    <a:solidFill>
                      <a:schemeClr val="tx2">
                        <a:lumMod val="75000"/>
                      </a:schemeClr>
                    </a:solidFill>
                  </a:rPr>
                  <a:t>большие амплитуды показывают доминирующие частоты</a:t>
                </a:r>
                <a:r>
                  <a:rPr lang="en-US" sz="1000" b="0" i="1" dirty="0">
                    <a:solidFill>
                      <a:schemeClr val="tx2">
                        <a:lumMod val="75000"/>
                      </a:schemeClr>
                    </a:solidFill>
                    <a:latin typeface="Calibri"/>
                  </a:rPr>
                  <a:t>)</a:t>
                </a:r>
                <a:endParaRPr lang="ru-RU" sz="1000" b="0" i="1" dirty="0">
                  <a:solidFill>
                    <a:schemeClr val="tx2">
                      <a:lumMod val="75000"/>
                    </a:schemeClr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724B77-A794-4B23-92D1-0072C4122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330" y="3357081"/>
                <a:ext cx="4251959" cy="412357"/>
              </a:xfrm>
              <a:prstGeom prst="rect">
                <a:avLst/>
              </a:prstGeom>
              <a:blipFill>
                <a:blip r:embed="rId5"/>
                <a:stretch>
                  <a:fillRect l="-716" b="-149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21">
            <a:extLst>
              <a:ext uri="{FF2B5EF4-FFF2-40B4-BE49-F238E27FC236}">
                <a16:creationId xmlns:a16="http://schemas.microsoft.com/office/drawing/2014/main" id="{C440BBDD-53DF-450B-B4EF-6D2FCE408D32}"/>
              </a:ext>
            </a:extLst>
          </p:cNvPr>
          <p:cNvSpPr/>
          <p:nvPr/>
        </p:nvSpPr>
        <p:spPr>
          <a:xfrm>
            <a:off x="3878579" y="3988280"/>
            <a:ext cx="4434841" cy="867253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001121-39D3-43AD-83F1-7BA9CB43B13E}"/>
              </a:ext>
            </a:extLst>
          </p:cNvPr>
          <p:cNvSpPr txBox="1"/>
          <p:nvPr/>
        </p:nvSpPr>
        <p:spPr>
          <a:xfrm>
            <a:off x="4328465" y="4118143"/>
            <a:ext cx="849472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200" b="1" i="0" dirty="0" err="1">
                <a:solidFill>
                  <a:srgbClr val="21295C"/>
                </a:solidFill>
                <a:latin typeface="Calibri"/>
              </a:rPr>
              <a:t>Softmax</a:t>
            </a:r>
            <a:r>
              <a:rPr sz="1200" b="1" i="0" dirty="0">
                <a:solidFill>
                  <a:srgbClr val="21295C"/>
                </a:solidFill>
                <a:latin typeface="Calibri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E1ACEB7-791E-48C2-9164-D04A28904F41}"/>
                  </a:ext>
                </a:extLst>
              </p:cNvPr>
              <p:cNvSpPr txBox="1"/>
              <p:nvPr/>
            </p:nvSpPr>
            <p:spPr>
              <a:xfrm>
                <a:off x="4893462" y="3999198"/>
                <a:ext cx="2854961" cy="462050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ar-AE" sz="1200" b="0" i="1" dirty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200" b="0" i="1" dirty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1200" b="0" i="1" dirty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ar-AE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ar-AE" sz="12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12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sz="12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ar-AE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ar-AE" sz="1200" b="0" i="1" dirty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200" b="0" i="1" dirty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1200" b="0" i="1" dirty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  <m:r>
                        <a:rPr lang="ar-AE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ar-AE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…, </m:t>
                      </m:r>
                      <m:r>
                        <a:rPr lang="ar-AE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ar-AE" sz="1200" b="0" i="0" dirty="0">
                  <a:solidFill>
                    <a:schemeClr val="tx2">
                      <a:lumMod val="50000"/>
                    </a:schemeClr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E1ACEB7-791E-48C2-9164-D04A28904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462" y="3999198"/>
                <a:ext cx="2854961" cy="462050"/>
              </a:xfrm>
              <a:prstGeom prst="rect">
                <a:avLst/>
              </a:prstGeom>
              <a:blipFill>
                <a:blip r:embed="rId6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7F6FB6E7-99B8-4BC6-90EF-28F4D8758AE1}"/>
              </a:ext>
            </a:extLst>
          </p:cNvPr>
          <p:cNvSpPr txBox="1"/>
          <p:nvPr/>
        </p:nvSpPr>
        <p:spPr>
          <a:xfrm>
            <a:off x="6186053" y="3393438"/>
            <a:ext cx="4251959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000" b="0" i="1" dirty="0">
                <a:solidFill>
                  <a:srgbClr val="21295C"/>
                </a:solidFill>
                <a:latin typeface="Calibri"/>
              </a:rPr>
              <a:t>столбцы —</a:t>
            </a:r>
            <a:r>
              <a:rPr lang="en-US" sz="10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000" b="0" i="1" dirty="0">
                <a:solidFill>
                  <a:srgbClr val="21295C"/>
                </a:solidFill>
                <a:latin typeface="Calibri"/>
              </a:rPr>
              <a:t>изменения внутри одного периода</a:t>
            </a:r>
            <a:r>
              <a:rPr lang="en-US" sz="1000" b="0" i="1" dirty="0">
                <a:solidFill>
                  <a:srgbClr val="21295C"/>
                </a:solidFill>
                <a:latin typeface="Calibri"/>
              </a:rPr>
              <a:t> (</a:t>
            </a:r>
            <a:r>
              <a:rPr lang="ru-RU" sz="1000" b="1" i="1" dirty="0" err="1">
                <a:solidFill>
                  <a:srgbClr val="21295C"/>
                </a:solidFill>
                <a:latin typeface="Calibri"/>
              </a:rPr>
              <a:t>intra-period</a:t>
            </a:r>
            <a:r>
              <a:rPr lang="ru-RU" sz="1000" b="1" i="1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000" b="1" i="1" dirty="0" err="1">
                <a:solidFill>
                  <a:srgbClr val="21295C"/>
                </a:solidFill>
                <a:latin typeface="Calibri"/>
              </a:rPr>
              <a:t>variation</a:t>
            </a:r>
            <a:r>
              <a:rPr lang="en-US" sz="1000" b="0" i="1" dirty="0">
                <a:solidFill>
                  <a:srgbClr val="21295C"/>
                </a:solidFill>
                <a:latin typeface="Calibri"/>
              </a:rPr>
              <a:t>)</a:t>
            </a:r>
            <a:r>
              <a:rPr lang="ru-RU" sz="1000" b="0" i="1" dirty="0">
                <a:solidFill>
                  <a:srgbClr val="21295C"/>
                </a:solidFill>
                <a:latin typeface="Calibri"/>
              </a:rPr>
              <a:t>;</a:t>
            </a:r>
          </a:p>
          <a:p>
            <a:pPr algn="l"/>
            <a:r>
              <a:rPr lang="ru-RU" sz="1000" b="0" i="1" dirty="0">
                <a:solidFill>
                  <a:srgbClr val="21295C"/>
                </a:solidFill>
                <a:latin typeface="Calibri"/>
              </a:rPr>
              <a:t>строки — изменения между соседними периодами</a:t>
            </a:r>
            <a:r>
              <a:rPr lang="en-US" sz="1000" b="0" i="1" dirty="0">
                <a:solidFill>
                  <a:srgbClr val="21295C"/>
                </a:solidFill>
                <a:latin typeface="Calibri"/>
              </a:rPr>
              <a:t> (</a:t>
            </a:r>
            <a:r>
              <a:rPr lang="ru-RU" sz="1000" b="1" i="1" dirty="0" err="1">
                <a:solidFill>
                  <a:srgbClr val="21295C"/>
                </a:solidFill>
                <a:latin typeface="Calibri"/>
              </a:rPr>
              <a:t>inter-period</a:t>
            </a:r>
            <a:r>
              <a:rPr lang="ru-RU" sz="1000" b="1" i="1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000" b="1" i="1" dirty="0" err="1">
                <a:solidFill>
                  <a:srgbClr val="21295C"/>
                </a:solidFill>
                <a:latin typeface="Calibri"/>
              </a:rPr>
              <a:t>variation</a:t>
            </a:r>
            <a:r>
              <a:rPr lang="ru-RU" sz="1000" b="0" i="1" dirty="0">
                <a:solidFill>
                  <a:srgbClr val="21295C"/>
                </a:solidFill>
                <a:latin typeface="Calibri"/>
              </a:rPr>
              <a:t>);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569768A-0F38-4F96-AFA7-5BD246448C08}"/>
                  </a:ext>
                </a:extLst>
              </p:cNvPr>
              <p:cNvSpPr txBox="1"/>
              <p:nvPr/>
            </p:nvSpPr>
            <p:spPr>
              <a:xfrm>
                <a:off x="4061461" y="4474905"/>
                <a:ext cx="4251959" cy="344710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ru-RU" sz="1000" i="1" dirty="0">
                    <a:solidFill>
                      <a:schemeClr val="tx2">
                        <a:lumMod val="75000"/>
                      </a:schemeClr>
                    </a:solidFill>
                  </a:rPr>
                  <a:t>​ — амплитуда или оценка значимости i-го периода</a:t>
                </a:r>
                <a:r>
                  <a:rPr lang="en-US" sz="1000" i="1" dirty="0">
                    <a:solidFill>
                      <a:schemeClr val="tx2">
                        <a:lumMod val="75000"/>
                      </a:schemeClr>
                    </a:solidFill>
                  </a:rPr>
                  <a:t>;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000" b="1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1000" b="1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000" b="1" i="1" dirty="0">
                    <a:solidFill>
                      <a:schemeClr val="tx2">
                        <a:lumMod val="75000"/>
                      </a:schemeClr>
                    </a:solidFill>
                  </a:rPr>
                  <a:t> </a:t>
                </a:r>
                <a:r>
                  <a:rPr lang="ru-RU" sz="1000" i="1" dirty="0">
                    <a:solidFill>
                      <a:schemeClr val="tx2">
                        <a:lumMod val="75000"/>
                      </a:schemeClr>
                    </a:solidFill>
                  </a:rPr>
                  <a:t>— его нормированный вес</a:t>
                </a:r>
                <a:r>
                  <a:rPr lang="en-US" sz="1000" i="1" dirty="0">
                    <a:solidFill>
                      <a:schemeClr val="tx2">
                        <a:lumMod val="75000"/>
                      </a:schemeClr>
                    </a:solidFill>
                  </a:rPr>
                  <a:t>;</a:t>
                </a:r>
                <a:endParaRPr lang="ru-RU" sz="1000" b="0" i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569768A-0F38-4F96-AFA7-5BD246448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461" y="4474905"/>
                <a:ext cx="4251959" cy="344710"/>
              </a:xfrm>
              <a:prstGeom prst="rect">
                <a:avLst/>
              </a:prstGeom>
              <a:blipFill>
                <a:blip r:embed="rId7"/>
                <a:stretch>
                  <a:fillRect t="-5263" b="-175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0CD7A283-6F16-44B9-A7F0-A3FAB3FFA601}"/>
              </a:ext>
            </a:extLst>
          </p:cNvPr>
          <p:cNvSpPr txBox="1"/>
          <p:nvPr/>
        </p:nvSpPr>
        <p:spPr>
          <a:xfrm>
            <a:off x="4538880" y="5601632"/>
            <a:ext cx="7165440" cy="51296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Padding —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повторением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последнего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значения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(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не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нулями –</a:t>
            </a:r>
            <a:r>
              <a:rPr lang="en-US"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без </a:t>
            </a:r>
            <a:r>
              <a:rPr lang="ru-RU" sz="1200" dirty="0">
                <a:solidFill>
                  <a:schemeClr val="tx2">
                    <a:lumMod val="75000"/>
                  </a:schemeClr>
                </a:solidFill>
              </a:rPr>
              <a:t>искусственного скачка на границе окна</a:t>
            </a:r>
            <a:r>
              <a:rPr sz="1200" dirty="0">
                <a:solidFill>
                  <a:srgbClr val="21295C"/>
                </a:solidFill>
                <a:latin typeface="Calibri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опция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якоря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— </a:t>
            </a:r>
            <a:r>
              <a:rPr lang="ru-RU" sz="1200" dirty="0">
                <a:solidFill>
                  <a:schemeClr val="tx2">
                    <a:lumMod val="75000"/>
                  </a:schemeClr>
                </a:solidFill>
              </a:rPr>
              <a:t>прогнозируется приращение относительно последнего наблюдения</a:t>
            </a:r>
            <a:endParaRPr sz="1200" dirty="0">
              <a:solidFill>
                <a:schemeClr val="tx2">
                  <a:lumMod val="75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9">
            <a:extLst>
              <a:ext uri="{FF2B5EF4-FFF2-40B4-BE49-F238E27FC236}">
                <a16:creationId xmlns:a16="http://schemas.microsoft.com/office/drawing/2014/main" id="{73ED30BF-AFC7-4BB3-A8D2-3169B1AA7A08}"/>
              </a:ext>
            </a:extLst>
          </p:cNvPr>
          <p:cNvSpPr/>
          <p:nvPr/>
        </p:nvSpPr>
        <p:spPr>
          <a:xfrm>
            <a:off x="469951" y="1654701"/>
            <a:ext cx="3669901" cy="1502615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10">
            <a:extLst>
              <a:ext uri="{FF2B5EF4-FFF2-40B4-BE49-F238E27FC236}">
                <a16:creationId xmlns:a16="http://schemas.microsoft.com/office/drawing/2014/main" id="{18D98935-965C-40C1-A870-61640F4C67F3}"/>
              </a:ext>
            </a:extLst>
          </p:cNvPr>
          <p:cNvSpPr/>
          <p:nvPr/>
        </p:nvSpPr>
        <p:spPr>
          <a:xfrm>
            <a:off x="469951" y="1654701"/>
            <a:ext cx="3669901" cy="86457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6004BD-F72D-4DA3-AFA8-BDD810909CFB}"/>
              </a:ext>
            </a:extLst>
          </p:cNvPr>
          <p:cNvSpPr txBox="1"/>
          <p:nvPr/>
        </p:nvSpPr>
        <p:spPr>
          <a:xfrm>
            <a:off x="469951" y="1746142"/>
            <a:ext cx="372426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ru-RU" sz="1400" b="1" dirty="0">
                <a:solidFill>
                  <a:schemeClr val="accent1">
                    <a:lumMod val="75000"/>
                  </a:schemeClr>
                </a:solidFill>
              </a:rPr>
              <a:t>Трендовый стек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</a:rPr>
              <a:t> — полиномиальный базис</a:t>
            </a:r>
            <a:endParaRPr sz="1300" b="1" i="0" dirty="0">
              <a:solidFill>
                <a:schemeClr val="accent1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939419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Архитектура N-BEATS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7095995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Стек блоков, остаточное обновление входа и базисное разложение прогноза</a:t>
            </a:r>
            <a:endParaRPr sz="1400" b="0" i="1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ru-RU" sz="1000" dirty="0">
                <a:solidFill>
                  <a:srgbClr val="6B7280"/>
                </a:solidFill>
                <a:latin typeface="Calibri"/>
              </a:rPr>
              <a:t>2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7164888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 dirty="0" err="1">
                <a:solidFill>
                  <a:srgbClr val="21295C"/>
                </a:solidFill>
                <a:latin typeface="Calibri"/>
              </a:rPr>
              <a:t>Прогноз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=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сумма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вкладов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блоков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.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Каждый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блок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«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объясняет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»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часть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истории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и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уточняет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прогноз</a:t>
            </a:r>
            <a:endParaRPr sz="1300" b="0" i="1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7366" y="2069369"/>
            <a:ext cx="1704823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7366" y="2160809"/>
            <a:ext cx="1704823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Block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366" y="2480849"/>
            <a:ext cx="1704823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  <a:latin typeface="Consolas"/>
              </a:rPr>
              <a:t>FC + </a:t>
            </a:r>
            <a:r>
              <a:rPr sz="1000" b="0" i="0" dirty="0" err="1">
                <a:solidFill>
                  <a:srgbClr val="FFFFFF"/>
                </a:solidFill>
                <a:latin typeface="Consolas"/>
              </a:rPr>
              <a:t>ReLU</a:t>
            </a:r>
            <a:r>
              <a:rPr sz="1000" b="0" i="0" dirty="0">
                <a:solidFill>
                  <a:srgbClr val="FFFFFF"/>
                </a:solidFill>
                <a:latin typeface="Consolas"/>
              </a:rPr>
              <a:t> ×4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9706" y="2735152"/>
                <a:ext cx="1704823" cy="19082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𝑏𝑎𝑐𝑘𝑐𝑎𝑠𝑡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i="1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𝑓𝑜𝑟𝑒</m:t>
                      </m:r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𝑐𝑎𝑠𝑡</m:t>
                      </m:r>
                    </m:oMath>
                  </m:oMathPara>
                </a14:m>
                <a:endParaRPr sz="1000" b="0" i="0" dirty="0">
                  <a:solidFill>
                    <a:srgbClr val="CADCF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06" y="2735152"/>
                <a:ext cx="1704823" cy="190821"/>
              </a:xfrm>
              <a:prstGeom prst="rect">
                <a:avLst/>
              </a:prstGeom>
              <a:blipFill>
                <a:blip r:embed="rId3"/>
                <a:stretch>
                  <a:fillRect l="-357" b="-193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2389413" y="2071580"/>
            <a:ext cx="1704823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89413" y="2163020"/>
            <a:ext cx="1704823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Block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9413" y="2483060"/>
            <a:ext cx="1704823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FC + ReLU ×4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951" y="4457550"/>
            <a:ext cx="207848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 err="1">
                <a:solidFill>
                  <a:srgbClr val="E76F51"/>
                </a:solidFill>
                <a:latin typeface="Calibri"/>
              </a:rPr>
              <a:t>Реализация</a:t>
            </a:r>
            <a:r>
              <a:rPr sz="1400" b="1" i="0" dirty="0">
                <a:solidFill>
                  <a:srgbClr val="E76F51"/>
                </a:solidFill>
                <a:latin typeface="Calibri"/>
              </a:rPr>
              <a:t> (NBEATSV2)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30963" y="4853797"/>
            <a:ext cx="3308873" cy="51296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200" dirty="0" err="1">
                <a:solidFill>
                  <a:srgbClr val="21295C"/>
                </a:solidFill>
                <a:latin typeface="Calibri"/>
              </a:rPr>
              <a:t>автовыбор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числа гармоник Фурье</a:t>
            </a:r>
            <a:endParaRPr sz="12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стабилизация первого шага прогноза</a:t>
            </a:r>
            <a:endParaRPr sz="1200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071A3CC-CE60-40A6-8BCB-1F7424CA532A}"/>
                  </a:ext>
                </a:extLst>
              </p:cNvPr>
              <p:cNvSpPr txBox="1"/>
              <p:nvPr/>
            </p:nvSpPr>
            <p:spPr>
              <a:xfrm>
                <a:off x="2425114" y="2728631"/>
                <a:ext cx="1704823" cy="19082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𝑏𝑎𝑐𝑘𝑐𝑎𝑠𝑡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i="1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𝑓𝑜𝑟𝑒</m:t>
                      </m:r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𝑐𝑎𝑠𝑡</m:t>
                      </m:r>
                    </m:oMath>
                  </m:oMathPara>
                </a14:m>
                <a:endParaRPr sz="1000" b="0" i="0" dirty="0">
                  <a:solidFill>
                    <a:srgbClr val="CADCF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071A3CC-CE60-40A6-8BCB-1F7424CA5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114" y="2728631"/>
                <a:ext cx="1704823" cy="190821"/>
              </a:xfrm>
              <a:prstGeom prst="rect">
                <a:avLst/>
              </a:prstGeom>
              <a:blipFill>
                <a:blip r:embed="rId4"/>
                <a:stretch>
                  <a:fillRect l="-717" b="-193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Arrow 9">
            <a:extLst>
              <a:ext uri="{FF2B5EF4-FFF2-40B4-BE49-F238E27FC236}">
                <a16:creationId xmlns:a16="http://schemas.microsoft.com/office/drawing/2014/main" id="{5E0C4AB6-9769-48F4-AD4B-5A8D06FE2CF5}"/>
              </a:ext>
            </a:extLst>
          </p:cNvPr>
          <p:cNvSpPr/>
          <p:nvPr/>
        </p:nvSpPr>
        <p:spPr>
          <a:xfrm>
            <a:off x="2274529" y="2443093"/>
            <a:ext cx="82544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ght Arrow 9">
            <a:extLst>
              <a:ext uri="{FF2B5EF4-FFF2-40B4-BE49-F238E27FC236}">
                <a16:creationId xmlns:a16="http://schemas.microsoft.com/office/drawing/2014/main" id="{3881C583-4255-4AC7-A16A-F79386C2E78F}"/>
              </a:ext>
            </a:extLst>
          </p:cNvPr>
          <p:cNvSpPr/>
          <p:nvPr/>
        </p:nvSpPr>
        <p:spPr>
          <a:xfrm>
            <a:off x="4129937" y="2451771"/>
            <a:ext cx="91439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9">
            <a:extLst>
              <a:ext uri="{FF2B5EF4-FFF2-40B4-BE49-F238E27FC236}">
                <a16:creationId xmlns:a16="http://schemas.microsoft.com/office/drawing/2014/main" id="{3867AFF3-B78C-4CFA-8828-DF74EE228159}"/>
              </a:ext>
            </a:extLst>
          </p:cNvPr>
          <p:cNvSpPr/>
          <p:nvPr/>
        </p:nvSpPr>
        <p:spPr>
          <a:xfrm>
            <a:off x="4229921" y="1659785"/>
            <a:ext cx="3669901" cy="1497531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10">
            <a:extLst>
              <a:ext uri="{FF2B5EF4-FFF2-40B4-BE49-F238E27FC236}">
                <a16:creationId xmlns:a16="http://schemas.microsoft.com/office/drawing/2014/main" id="{AB9D35AE-61BC-4C40-8D3A-F4D6F8793906}"/>
              </a:ext>
            </a:extLst>
          </p:cNvPr>
          <p:cNvSpPr/>
          <p:nvPr/>
        </p:nvSpPr>
        <p:spPr>
          <a:xfrm>
            <a:off x="4229921" y="1659785"/>
            <a:ext cx="3669901" cy="86457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CA6006-F290-43EF-AF15-0012E6D870CF}"/>
              </a:ext>
            </a:extLst>
          </p:cNvPr>
          <p:cNvSpPr txBox="1"/>
          <p:nvPr/>
        </p:nvSpPr>
        <p:spPr>
          <a:xfrm>
            <a:off x="4229921" y="1751226"/>
            <a:ext cx="372426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ru-RU" sz="1400" b="1">
                <a:solidFill>
                  <a:schemeClr val="accent1">
                    <a:lumMod val="75000"/>
                  </a:schemeClr>
                </a:solidFill>
              </a:rPr>
              <a:t>Сезонный</a:t>
            </a:r>
            <a:r>
              <a:rPr lang="ru-RU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1400" b="1">
                <a:solidFill>
                  <a:schemeClr val="accent1">
                    <a:lumMod val="75000"/>
                  </a:schemeClr>
                </a:solidFill>
              </a:rPr>
              <a:t>стек 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</a:rPr>
              <a:t>— базис Фурье</a:t>
            </a:r>
            <a:endParaRPr lang="ru-RU" sz="1300" b="1" i="0" dirty="0">
              <a:solidFill>
                <a:schemeClr val="accent1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D8863822-B1C6-435B-AB2C-DC7D248E9975}"/>
              </a:ext>
            </a:extLst>
          </p:cNvPr>
          <p:cNvSpPr/>
          <p:nvPr/>
        </p:nvSpPr>
        <p:spPr>
          <a:xfrm>
            <a:off x="4282121" y="2067158"/>
            <a:ext cx="1704823" cy="10058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C71577-E557-4446-B47C-4D97E4E6680F}"/>
              </a:ext>
            </a:extLst>
          </p:cNvPr>
          <p:cNvSpPr txBox="1"/>
          <p:nvPr/>
        </p:nvSpPr>
        <p:spPr>
          <a:xfrm>
            <a:off x="4282121" y="2158598"/>
            <a:ext cx="1704823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Block </a:t>
            </a:r>
            <a:r>
              <a:rPr lang="ru-RU" sz="1200" b="1" dirty="0">
                <a:solidFill>
                  <a:srgbClr val="FFFFFF"/>
                </a:solidFill>
                <a:latin typeface="Calibri"/>
              </a:rPr>
              <a:t>3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1CB4E7D-8CF8-4746-87CB-358D700B5AAF}"/>
              </a:ext>
            </a:extLst>
          </p:cNvPr>
          <p:cNvSpPr txBox="1"/>
          <p:nvPr/>
        </p:nvSpPr>
        <p:spPr>
          <a:xfrm>
            <a:off x="4282121" y="2478638"/>
            <a:ext cx="1704823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  <a:latin typeface="Consolas"/>
              </a:rPr>
              <a:t>FC + </a:t>
            </a:r>
            <a:r>
              <a:rPr sz="1000" b="0" i="0" dirty="0" err="1">
                <a:solidFill>
                  <a:srgbClr val="FFFFFF"/>
                </a:solidFill>
                <a:latin typeface="Consolas"/>
              </a:rPr>
              <a:t>ReLU</a:t>
            </a:r>
            <a:r>
              <a:rPr sz="1000" b="0" i="0" dirty="0">
                <a:solidFill>
                  <a:srgbClr val="FFFFFF"/>
                </a:solidFill>
                <a:latin typeface="Consolas"/>
              </a:rPr>
              <a:t> ×4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0B3DF86-75D0-4648-9F14-DC1808A70A6C}"/>
                  </a:ext>
                </a:extLst>
              </p:cNvPr>
              <p:cNvSpPr txBox="1"/>
              <p:nvPr/>
            </p:nvSpPr>
            <p:spPr>
              <a:xfrm>
                <a:off x="4314461" y="2732941"/>
                <a:ext cx="1704823" cy="19082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𝑏𝑎𝑐𝑘𝑐𝑎𝑠𝑡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i="1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𝑓𝑜𝑟𝑒</m:t>
                      </m:r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𝑐𝑎𝑠𝑡</m:t>
                      </m:r>
                    </m:oMath>
                  </m:oMathPara>
                </a14:m>
                <a:endParaRPr sz="1000" b="0" i="0" dirty="0">
                  <a:solidFill>
                    <a:srgbClr val="CADCF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0B3DF86-75D0-4648-9F14-DC1808A70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461" y="2732941"/>
                <a:ext cx="1704823" cy="190821"/>
              </a:xfrm>
              <a:prstGeom prst="rect">
                <a:avLst/>
              </a:prstGeom>
              <a:blipFill>
                <a:blip r:embed="rId4"/>
                <a:stretch>
                  <a:fillRect l="-717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11">
            <a:extLst>
              <a:ext uri="{FF2B5EF4-FFF2-40B4-BE49-F238E27FC236}">
                <a16:creationId xmlns:a16="http://schemas.microsoft.com/office/drawing/2014/main" id="{6949B59D-67D9-406B-9C96-296440A21CFD}"/>
              </a:ext>
            </a:extLst>
          </p:cNvPr>
          <p:cNvSpPr/>
          <p:nvPr/>
        </p:nvSpPr>
        <p:spPr>
          <a:xfrm>
            <a:off x="6134168" y="2069369"/>
            <a:ext cx="1704823" cy="1005840"/>
          </a:xfrm>
          <a:prstGeom prst="rect">
            <a:avLst/>
          </a:prstGeom>
          <a:solidFill>
            <a:srgbClr val="EC8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4C845C-FA6A-4DDA-916C-F05F3C0A01C5}"/>
              </a:ext>
            </a:extLst>
          </p:cNvPr>
          <p:cNvSpPr txBox="1"/>
          <p:nvPr/>
        </p:nvSpPr>
        <p:spPr>
          <a:xfrm>
            <a:off x="6134168" y="2160809"/>
            <a:ext cx="1704823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Block </a:t>
            </a:r>
            <a:r>
              <a:rPr lang="ru-RU" sz="1200" b="1" i="0" dirty="0">
                <a:solidFill>
                  <a:srgbClr val="FFFFFF"/>
                </a:solidFill>
                <a:latin typeface="Calibri"/>
              </a:rPr>
              <a:t>4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99598E-651A-4248-89F9-1A35C3CAAF89}"/>
              </a:ext>
            </a:extLst>
          </p:cNvPr>
          <p:cNvSpPr txBox="1"/>
          <p:nvPr/>
        </p:nvSpPr>
        <p:spPr>
          <a:xfrm>
            <a:off x="6134168" y="2480849"/>
            <a:ext cx="1704823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FC + ReLU ×4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5BDF6E1-C8D4-4478-8FAE-2C493B1DBFFD}"/>
                  </a:ext>
                </a:extLst>
              </p:cNvPr>
              <p:cNvSpPr txBox="1"/>
              <p:nvPr/>
            </p:nvSpPr>
            <p:spPr>
              <a:xfrm>
                <a:off x="6169869" y="2726420"/>
                <a:ext cx="1704823" cy="19082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𝑏𝑎𝑐𝑘𝑐𝑎𝑠𝑡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i="1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𝑓𝑜𝑟𝑒</m:t>
                      </m:r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𝑐𝑎𝑠𝑡</m:t>
                      </m:r>
                    </m:oMath>
                  </m:oMathPara>
                </a14:m>
                <a:endParaRPr sz="1000" b="0" i="0" dirty="0">
                  <a:solidFill>
                    <a:srgbClr val="CADCF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5BDF6E1-C8D4-4478-8FAE-2C493B1DB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869" y="2726420"/>
                <a:ext cx="1704823" cy="190821"/>
              </a:xfrm>
              <a:prstGeom prst="rect">
                <a:avLst/>
              </a:prstGeom>
              <a:blipFill>
                <a:blip r:embed="rId5"/>
                <a:stretch>
                  <a:fillRect l="-714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ight Arrow 9">
            <a:extLst>
              <a:ext uri="{FF2B5EF4-FFF2-40B4-BE49-F238E27FC236}">
                <a16:creationId xmlns:a16="http://schemas.microsoft.com/office/drawing/2014/main" id="{F06C6B1C-1618-4ADB-8F40-E25236311A60}"/>
              </a:ext>
            </a:extLst>
          </p:cNvPr>
          <p:cNvSpPr/>
          <p:nvPr/>
        </p:nvSpPr>
        <p:spPr>
          <a:xfrm>
            <a:off x="6019284" y="2440882"/>
            <a:ext cx="82544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ight Arrow 9">
            <a:extLst>
              <a:ext uri="{FF2B5EF4-FFF2-40B4-BE49-F238E27FC236}">
                <a16:creationId xmlns:a16="http://schemas.microsoft.com/office/drawing/2014/main" id="{AAB00120-5F9B-46C7-BB19-2D879C2FE7A3}"/>
              </a:ext>
            </a:extLst>
          </p:cNvPr>
          <p:cNvSpPr/>
          <p:nvPr/>
        </p:nvSpPr>
        <p:spPr>
          <a:xfrm>
            <a:off x="7874692" y="2438147"/>
            <a:ext cx="91439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9">
            <a:extLst>
              <a:ext uri="{FF2B5EF4-FFF2-40B4-BE49-F238E27FC236}">
                <a16:creationId xmlns:a16="http://schemas.microsoft.com/office/drawing/2014/main" id="{38DB494C-8A3C-4881-80B9-A122EC754AC1}"/>
              </a:ext>
            </a:extLst>
          </p:cNvPr>
          <p:cNvSpPr/>
          <p:nvPr/>
        </p:nvSpPr>
        <p:spPr>
          <a:xfrm>
            <a:off x="8001430" y="1659785"/>
            <a:ext cx="3669901" cy="1497531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10">
            <a:extLst>
              <a:ext uri="{FF2B5EF4-FFF2-40B4-BE49-F238E27FC236}">
                <a16:creationId xmlns:a16="http://schemas.microsoft.com/office/drawing/2014/main" id="{D430A9E0-BB6E-43E5-A6BD-20EC74C85B80}"/>
              </a:ext>
            </a:extLst>
          </p:cNvPr>
          <p:cNvSpPr/>
          <p:nvPr/>
        </p:nvSpPr>
        <p:spPr>
          <a:xfrm>
            <a:off x="8001430" y="1659785"/>
            <a:ext cx="3669901" cy="8645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6940F8-C6E6-4106-8801-230C6087C45B}"/>
              </a:ext>
            </a:extLst>
          </p:cNvPr>
          <p:cNvSpPr txBox="1"/>
          <p:nvPr/>
        </p:nvSpPr>
        <p:spPr>
          <a:xfrm>
            <a:off x="8001430" y="1751226"/>
            <a:ext cx="372426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Generic-</a:t>
            </a:r>
            <a:r>
              <a:rPr lang="ru-RU" sz="1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стек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</a:rPr>
              <a:t>— 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обучаемый базис</a:t>
            </a:r>
          </a:p>
        </p:txBody>
      </p:sp>
      <p:sp>
        <p:nvSpPr>
          <p:cNvPr id="63" name="Rectangle 7">
            <a:extLst>
              <a:ext uri="{FF2B5EF4-FFF2-40B4-BE49-F238E27FC236}">
                <a16:creationId xmlns:a16="http://schemas.microsoft.com/office/drawing/2014/main" id="{2D3B8978-E152-4709-8DE9-E23611B610AE}"/>
              </a:ext>
            </a:extLst>
          </p:cNvPr>
          <p:cNvSpPr/>
          <p:nvPr/>
        </p:nvSpPr>
        <p:spPr>
          <a:xfrm>
            <a:off x="8065424" y="2075375"/>
            <a:ext cx="1704823" cy="100584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DA939F-A8CC-48B6-B329-3E04F6B04B59}"/>
              </a:ext>
            </a:extLst>
          </p:cNvPr>
          <p:cNvSpPr txBox="1"/>
          <p:nvPr/>
        </p:nvSpPr>
        <p:spPr>
          <a:xfrm>
            <a:off x="8065424" y="2166815"/>
            <a:ext cx="1704823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Block </a:t>
            </a:r>
            <a:r>
              <a:rPr lang="ru-RU" sz="1200" b="1" i="0" dirty="0">
                <a:solidFill>
                  <a:srgbClr val="FFFFFF"/>
                </a:solidFill>
                <a:latin typeface="Calibri"/>
              </a:rPr>
              <a:t>5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4697323-7642-4023-8EDC-A3E2B163066B}"/>
              </a:ext>
            </a:extLst>
          </p:cNvPr>
          <p:cNvSpPr txBox="1"/>
          <p:nvPr/>
        </p:nvSpPr>
        <p:spPr>
          <a:xfrm>
            <a:off x="8065424" y="2486855"/>
            <a:ext cx="1704823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  <a:latin typeface="Consolas"/>
              </a:rPr>
              <a:t>FC + </a:t>
            </a:r>
            <a:r>
              <a:rPr sz="1000" b="0" i="0" dirty="0" err="1">
                <a:solidFill>
                  <a:srgbClr val="FFFFFF"/>
                </a:solidFill>
                <a:latin typeface="Consolas"/>
              </a:rPr>
              <a:t>ReLU</a:t>
            </a:r>
            <a:r>
              <a:rPr sz="1000" b="0" i="0" dirty="0">
                <a:solidFill>
                  <a:srgbClr val="FFFFFF"/>
                </a:solidFill>
                <a:latin typeface="Consolas"/>
              </a:rPr>
              <a:t> ×4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8DA8968-4C86-42AB-A6EA-26E24642A106}"/>
                  </a:ext>
                </a:extLst>
              </p:cNvPr>
              <p:cNvSpPr txBox="1"/>
              <p:nvPr/>
            </p:nvSpPr>
            <p:spPr>
              <a:xfrm>
                <a:off x="8097764" y="2741158"/>
                <a:ext cx="1704823" cy="19082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𝑏𝑎𝑐𝑘𝑐𝑎𝑠𝑡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i="1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𝑓𝑜𝑟𝑒</m:t>
                      </m:r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𝑐𝑎𝑠𝑡</m:t>
                      </m:r>
                    </m:oMath>
                  </m:oMathPara>
                </a14:m>
                <a:endParaRPr sz="1000" b="0" i="0" dirty="0">
                  <a:solidFill>
                    <a:srgbClr val="CADCF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8DA8968-4C86-42AB-A6EA-26E24642A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7764" y="2741158"/>
                <a:ext cx="1704823" cy="190821"/>
              </a:xfrm>
              <a:prstGeom prst="rect">
                <a:avLst/>
              </a:prstGeom>
              <a:blipFill>
                <a:blip r:embed="rId3"/>
                <a:stretch>
                  <a:fillRect l="-357" b="-193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11">
            <a:extLst>
              <a:ext uri="{FF2B5EF4-FFF2-40B4-BE49-F238E27FC236}">
                <a16:creationId xmlns:a16="http://schemas.microsoft.com/office/drawing/2014/main" id="{907558B1-9904-4C4D-8AFE-1706D3CBC733}"/>
              </a:ext>
            </a:extLst>
          </p:cNvPr>
          <p:cNvSpPr/>
          <p:nvPr/>
        </p:nvSpPr>
        <p:spPr>
          <a:xfrm>
            <a:off x="9917471" y="2077586"/>
            <a:ext cx="1704823" cy="100584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580C223-E6AD-408A-8E6A-C94018609D68}"/>
              </a:ext>
            </a:extLst>
          </p:cNvPr>
          <p:cNvSpPr txBox="1"/>
          <p:nvPr/>
        </p:nvSpPr>
        <p:spPr>
          <a:xfrm>
            <a:off x="9917471" y="2169026"/>
            <a:ext cx="1704823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Block </a:t>
            </a:r>
            <a:r>
              <a:rPr lang="ru-RU" sz="1200" b="1" i="0" dirty="0">
                <a:solidFill>
                  <a:srgbClr val="FFFFFF"/>
                </a:solidFill>
                <a:latin typeface="Calibri"/>
              </a:rPr>
              <a:t>6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1480157-8FAE-46A0-A4E2-E789ED47C342}"/>
              </a:ext>
            </a:extLst>
          </p:cNvPr>
          <p:cNvSpPr txBox="1"/>
          <p:nvPr/>
        </p:nvSpPr>
        <p:spPr>
          <a:xfrm>
            <a:off x="9917471" y="2489066"/>
            <a:ext cx="1704823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FC + ReLU ×4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8EC5DC6-202F-4F24-A57F-210C15E9DB40}"/>
                  </a:ext>
                </a:extLst>
              </p:cNvPr>
              <p:cNvSpPr txBox="1"/>
              <p:nvPr/>
            </p:nvSpPr>
            <p:spPr>
              <a:xfrm>
                <a:off x="9953172" y="2734637"/>
                <a:ext cx="1704823" cy="19082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𝑏𝑎𝑐𝑘𝑐𝑎𝑠𝑡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i="1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𝑓𝑜𝑟𝑒</m:t>
                      </m:r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𝑐𝑎𝑠𝑡</m:t>
                      </m:r>
                    </m:oMath>
                  </m:oMathPara>
                </a14:m>
                <a:endParaRPr sz="1000" b="0" i="0" dirty="0">
                  <a:solidFill>
                    <a:srgbClr val="CADCF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8EC5DC6-202F-4F24-A57F-210C15E9D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3172" y="2734637"/>
                <a:ext cx="1704823" cy="190821"/>
              </a:xfrm>
              <a:prstGeom prst="rect">
                <a:avLst/>
              </a:prstGeom>
              <a:blipFill>
                <a:blip r:embed="rId4"/>
                <a:stretch>
                  <a:fillRect l="-717" b="-193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ight Arrow 9">
            <a:extLst>
              <a:ext uri="{FF2B5EF4-FFF2-40B4-BE49-F238E27FC236}">
                <a16:creationId xmlns:a16="http://schemas.microsoft.com/office/drawing/2014/main" id="{AE9B22EA-819F-4AF3-B7AF-5AE99F177E8E}"/>
              </a:ext>
            </a:extLst>
          </p:cNvPr>
          <p:cNvSpPr/>
          <p:nvPr/>
        </p:nvSpPr>
        <p:spPr>
          <a:xfrm>
            <a:off x="9802587" y="2449099"/>
            <a:ext cx="82544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21">
            <a:extLst>
              <a:ext uri="{FF2B5EF4-FFF2-40B4-BE49-F238E27FC236}">
                <a16:creationId xmlns:a16="http://schemas.microsoft.com/office/drawing/2014/main" id="{D17A0170-2F88-4E69-AB4B-54FDC446532E}"/>
              </a:ext>
            </a:extLst>
          </p:cNvPr>
          <p:cNvSpPr/>
          <p:nvPr/>
        </p:nvSpPr>
        <p:spPr>
          <a:xfrm>
            <a:off x="469951" y="3419504"/>
            <a:ext cx="6444416" cy="7154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0941716-6F6E-4E54-9462-4E6A94E387A9}"/>
              </a:ext>
            </a:extLst>
          </p:cNvPr>
          <p:cNvSpPr txBox="1"/>
          <p:nvPr/>
        </p:nvSpPr>
        <p:spPr>
          <a:xfrm>
            <a:off x="652831" y="3510943"/>
            <a:ext cx="1490598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200" b="1" dirty="0">
                <a:solidFill>
                  <a:srgbClr val="21295C"/>
                </a:solidFill>
                <a:latin typeface="Calibri"/>
              </a:rPr>
              <a:t>Ключевая формула</a:t>
            </a:r>
            <a:r>
              <a:rPr sz="1200" b="1" i="0" dirty="0">
                <a:solidFill>
                  <a:srgbClr val="21295C"/>
                </a:solidFill>
                <a:latin typeface="Calibri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839A7EB-7389-412D-BC7D-59839BF817DB}"/>
                  </a:ext>
                </a:extLst>
              </p:cNvPr>
              <p:cNvSpPr txBox="1"/>
              <p:nvPr/>
            </p:nvSpPr>
            <p:spPr>
              <a:xfrm>
                <a:off x="1987480" y="3492879"/>
                <a:ext cx="2442883" cy="221599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2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̂"/>
                          <m:ctrlP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2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2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2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1200" b="0" i="1" dirty="0">
                  <a:solidFill>
                    <a:srgbClr val="065A82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839A7EB-7389-412D-BC7D-59839BF81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480" y="3492879"/>
                <a:ext cx="2442883" cy="221599"/>
              </a:xfrm>
              <a:prstGeom prst="rect">
                <a:avLst/>
              </a:prstGeom>
              <a:blipFill>
                <a:blip r:embed="rId6"/>
                <a:stretch>
                  <a:fillRect t="-11111" b="-13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E408B836-AA72-4256-9E85-E3B3D814A4E1}"/>
              </a:ext>
            </a:extLst>
          </p:cNvPr>
          <p:cNvSpPr txBox="1"/>
          <p:nvPr/>
        </p:nvSpPr>
        <p:spPr>
          <a:xfrm>
            <a:off x="652833" y="3754433"/>
            <a:ext cx="6374268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000" i="1" dirty="0" err="1">
                <a:solidFill>
                  <a:schemeClr val="accent1">
                    <a:lumMod val="75000"/>
                  </a:schemeClr>
                </a:solidFill>
              </a:rPr>
              <a:t>backcast</a:t>
            </a:r>
            <a:r>
              <a:rPr lang="ru-RU" sz="1000" i="1" dirty="0">
                <a:solidFill>
                  <a:schemeClr val="accent1">
                    <a:lumMod val="75000"/>
                  </a:schemeClr>
                </a:solidFill>
              </a:rPr>
              <a:t> вычитается из входа (блок работает с той частью ряда, которую предыдущие блоки не объяснили)</a:t>
            </a:r>
            <a:r>
              <a:rPr lang="en-US" sz="1000" i="1" dirty="0">
                <a:solidFill>
                  <a:schemeClr val="accent1">
                    <a:lumMod val="75000"/>
                  </a:schemeClr>
                </a:solidFill>
              </a:rPr>
              <a:t>;</a:t>
            </a:r>
            <a:endParaRPr lang="ru-RU" sz="1000" i="1" dirty="0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ru-RU" sz="1000" i="1" dirty="0" err="1">
                <a:solidFill>
                  <a:schemeClr val="accent1">
                    <a:lumMod val="75000"/>
                  </a:schemeClr>
                </a:solidFill>
              </a:rPr>
              <a:t>forecast</a:t>
            </a:r>
            <a:r>
              <a:rPr lang="ru-RU" sz="1000" i="1" dirty="0">
                <a:solidFill>
                  <a:schemeClr val="accent1">
                    <a:lumMod val="75000"/>
                  </a:schemeClr>
                </a:solidFill>
              </a:rPr>
              <a:t> суммируется в итоговый прогноз</a:t>
            </a:r>
            <a:r>
              <a:rPr lang="en-US" sz="1000" i="1" dirty="0">
                <a:solidFill>
                  <a:schemeClr val="accent1">
                    <a:lumMod val="75000"/>
                  </a:schemeClr>
                </a:solidFill>
              </a:rPr>
              <a:t>;</a:t>
            </a:r>
            <a:endParaRPr lang="ru-RU" sz="1000" i="1" dirty="0">
              <a:solidFill>
                <a:schemeClr val="accent1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77" name="Rectangle 12">
            <a:extLst>
              <a:ext uri="{FF2B5EF4-FFF2-40B4-BE49-F238E27FC236}">
                <a16:creationId xmlns:a16="http://schemas.microsoft.com/office/drawing/2014/main" id="{669C53E6-D081-4347-A598-070953EF6B88}"/>
              </a:ext>
            </a:extLst>
          </p:cNvPr>
          <p:cNvSpPr/>
          <p:nvPr/>
        </p:nvSpPr>
        <p:spPr>
          <a:xfrm>
            <a:off x="457200" y="5873708"/>
            <a:ext cx="11247120" cy="527091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443CA6D-CB9E-4642-B74E-022A46CE938C}"/>
              </a:ext>
            </a:extLst>
          </p:cNvPr>
          <p:cNvSpPr txBox="1"/>
          <p:nvPr/>
        </p:nvSpPr>
        <p:spPr>
          <a:xfrm>
            <a:off x="537366" y="5947484"/>
            <a:ext cx="10972800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100" b="0" i="1" dirty="0">
                <a:solidFill>
                  <a:srgbClr val="6B7280"/>
                </a:solidFill>
                <a:latin typeface="Calibri"/>
              </a:rPr>
              <a:t>Важно: декомпозиции STL/MODWT и базисы N-BEATS не дублируют, а дополняют друг друга. STL/MODWT заранее разделяют исходный ряд на компоненты, </a:t>
            </a:r>
          </a:p>
          <a:p>
            <a:pPr algn="l"/>
            <a:r>
              <a:rPr lang="ru-RU" sz="1100" b="0" i="1" dirty="0">
                <a:solidFill>
                  <a:srgbClr val="6B7280"/>
                </a:solidFill>
                <a:latin typeface="Calibri"/>
              </a:rPr>
              <a:t>а N-BEATS внутри модели раскладывает прогноз отдельной компоненты на вклад блоков.</a:t>
            </a:r>
            <a:endParaRPr sz="1100" b="0" i="1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02FC14F-139A-4087-9EA6-72BC9E49255E}"/>
              </a:ext>
            </a:extLst>
          </p:cNvPr>
          <p:cNvSpPr txBox="1"/>
          <p:nvPr/>
        </p:nvSpPr>
        <p:spPr>
          <a:xfrm>
            <a:off x="457200" y="4856329"/>
            <a:ext cx="3308873" cy="74892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width=256, depth=4, n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_</a:t>
            </a:r>
            <a:r>
              <a:rPr sz="1200" dirty="0">
                <a:solidFill>
                  <a:srgbClr val="21295C"/>
                </a:solidFill>
                <a:latin typeface="Calibri"/>
              </a:rPr>
              <a:t>blocks=4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share_weights</a:t>
            </a:r>
            <a:r>
              <a:rPr sz="1200" dirty="0">
                <a:solidFill>
                  <a:srgbClr val="21295C"/>
                </a:solidFill>
                <a:latin typeface="Calibri"/>
              </a:rPr>
              <a:t>=true (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компактнее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степень полинома</a:t>
            </a:r>
            <a:r>
              <a:rPr sz="1200" dirty="0">
                <a:solidFill>
                  <a:srgbClr val="21295C"/>
                </a:solidFill>
                <a:latin typeface="Calibri"/>
              </a:rPr>
              <a:t>: 3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,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если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H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&lt;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18,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иначе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3548"/>
            <a:ext cx="7132320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Концепция HybridPlus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6037545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 dirty="0" err="1">
                <a:solidFill>
                  <a:srgbClr val="1C7293"/>
                </a:solidFill>
                <a:latin typeface="Calibri"/>
              </a:rPr>
              <a:t>Раздельное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моделирование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компонент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после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MODWT-</a:t>
            </a:r>
            <a:r>
              <a:rPr lang="ru-RU" sz="1400" i="1" dirty="0">
                <a:solidFill>
                  <a:srgbClr val="1C7293"/>
                </a:solidFill>
                <a:latin typeface="Calibri"/>
              </a:rPr>
              <a:t>(</a:t>
            </a:r>
            <a:r>
              <a:rPr lang="en-US" sz="1400" i="1" dirty="0">
                <a:solidFill>
                  <a:srgbClr val="1C7293"/>
                </a:solidFill>
                <a:latin typeface="Calibri"/>
              </a:rPr>
              <a:t>STL-)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разложения</a:t>
            </a:r>
            <a:endParaRPr sz="1400" b="0" i="1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3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3679" y="2811047"/>
            <a:ext cx="1611505" cy="7315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3679" y="3058313"/>
            <a:ext cx="1611505" cy="2369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Calibri"/>
              </a:rPr>
              <a:t>Исходный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ряд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ight Arrow 8"/>
          <p:cNvSpPr/>
          <p:nvPr/>
        </p:nvSpPr>
        <p:spPr>
          <a:xfrm rot="18834465">
            <a:off x="2055928" y="2381131"/>
            <a:ext cx="5486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1730" y="1677802"/>
            <a:ext cx="1503125" cy="7315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1730" y="1909679"/>
            <a:ext cx="1503125" cy="2677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libri"/>
              </a:rPr>
              <a:t>MODWT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4941" y="2015202"/>
            <a:ext cx="417115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 flipH="1">
            <a:off x="4656337" y="1357762"/>
            <a:ext cx="45719" cy="130759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56338" y="1357761"/>
            <a:ext cx="365760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56337" y="2650353"/>
            <a:ext cx="380165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13538" y="1129162"/>
            <a:ext cx="1828800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13538" y="1177265"/>
            <a:ext cx="1828800" cy="4524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НЧ: </a:t>
            </a:r>
            <a:r>
              <a:rPr sz="900" b="1" i="0" dirty="0" err="1">
                <a:solidFill>
                  <a:srgbClr val="FFFFFF"/>
                </a:solidFill>
                <a:latin typeface="Calibri"/>
              </a:rPr>
              <a:t>тренд</a:t>
            </a:r>
            <a:r>
              <a:rPr lang="ru-RU" sz="900" b="1" dirty="0">
                <a:solidFill>
                  <a:srgbClr val="FFFFFF"/>
                </a:solidFill>
                <a:latin typeface="Calibri"/>
              </a:rPr>
              <a:t> + </a:t>
            </a:r>
            <a:r>
              <a:rPr lang="ru-RU" sz="900" b="1" dirty="0" err="1">
                <a:solidFill>
                  <a:srgbClr val="FFFFFF"/>
                </a:solidFill>
                <a:latin typeface="Calibri"/>
              </a:rPr>
              <a:t>длиннопериодные</a:t>
            </a:r>
            <a:r>
              <a:rPr lang="ru-RU" sz="900" b="1" dirty="0">
                <a:solidFill>
                  <a:srgbClr val="FFFFFF"/>
                </a:solidFill>
                <a:latin typeface="Calibri"/>
              </a:rPr>
              <a:t>, медленно меняющиеся составляющие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7060709" y="1273540"/>
            <a:ext cx="36576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17909" y="1136380"/>
            <a:ext cx="182880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17909" y="11363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TimesNet / N-BEATS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13538" y="2360346"/>
            <a:ext cx="1828800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13538" y="2523866"/>
            <a:ext cx="1828800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ВЧ: детали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41085" y="2504724"/>
            <a:ext cx="36576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285" y="2367564"/>
            <a:ext cx="1828800" cy="5486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285" y="2367564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ARIMA / 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16434" y="3890105"/>
            <a:ext cx="2053646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16434" y="4091651"/>
            <a:ext cx="2053646" cy="2369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Реконструкция прогноза  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680" y="5349240"/>
            <a:ext cx="5958839" cy="51296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нейросеть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—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 на компонентах со сложной структурой и долгосрочными зависимостями</a:t>
            </a:r>
          </a:p>
          <a:p>
            <a:pPr algn="l">
              <a:spcAft>
                <a:spcPts val="400"/>
              </a:spcAft>
            </a:pPr>
            <a:r>
              <a:rPr lang="ru-RU"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статистика — на регулярных/высокочастотных компонентах, где важна устойчивость</a:t>
            </a:r>
          </a:p>
        </p:txBody>
      </p:sp>
      <p:sp>
        <p:nvSpPr>
          <p:cNvPr id="53" name="Right Arrow 8">
            <a:extLst>
              <a:ext uri="{FF2B5EF4-FFF2-40B4-BE49-F238E27FC236}">
                <a16:creationId xmlns:a16="http://schemas.microsoft.com/office/drawing/2014/main" id="{F681ABE1-05D7-477C-AECC-A8279AB2E6B7}"/>
              </a:ext>
            </a:extLst>
          </p:cNvPr>
          <p:cNvSpPr/>
          <p:nvPr/>
        </p:nvSpPr>
        <p:spPr>
          <a:xfrm rot="2350989">
            <a:off x="2069286" y="3609427"/>
            <a:ext cx="5486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9">
            <a:extLst>
              <a:ext uri="{FF2B5EF4-FFF2-40B4-BE49-F238E27FC236}">
                <a16:creationId xmlns:a16="http://schemas.microsoft.com/office/drawing/2014/main" id="{31031D30-0008-4B35-8325-7ECC08542509}"/>
              </a:ext>
            </a:extLst>
          </p:cNvPr>
          <p:cNvSpPr/>
          <p:nvPr/>
        </p:nvSpPr>
        <p:spPr>
          <a:xfrm>
            <a:off x="2722106" y="3903259"/>
            <a:ext cx="1503125" cy="7315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834216-F295-449E-83D8-EC20BDCA0C07}"/>
              </a:ext>
            </a:extLst>
          </p:cNvPr>
          <p:cNvSpPr txBox="1"/>
          <p:nvPr/>
        </p:nvSpPr>
        <p:spPr>
          <a:xfrm>
            <a:off x="2722106" y="4135136"/>
            <a:ext cx="1503125" cy="2677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STL</a:t>
            </a:r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6" name="Rectangle 11">
            <a:extLst>
              <a:ext uri="{FF2B5EF4-FFF2-40B4-BE49-F238E27FC236}">
                <a16:creationId xmlns:a16="http://schemas.microsoft.com/office/drawing/2014/main" id="{74217C92-726D-4813-8152-71F1B2989777}"/>
              </a:ext>
            </a:extLst>
          </p:cNvPr>
          <p:cNvSpPr/>
          <p:nvPr/>
        </p:nvSpPr>
        <p:spPr>
          <a:xfrm>
            <a:off x="4265317" y="4240659"/>
            <a:ext cx="417115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12">
            <a:extLst>
              <a:ext uri="{FF2B5EF4-FFF2-40B4-BE49-F238E27FC236}">
                <a16:creationId xmlns:a16="http://schemas.microsoft.com/office/drawing/2014/main" id="{079F3B0D-CC58-4509-9042-F74B37C03BC8}"/>
              </a:ext>
            </a:extLst>
          </p:cNvPr>
          <p:cNvSpPr/>
          <p:nvPr/>
        </p:nvSpPr>
        <p:spPr>
          <a:xfrm flipH="1">
            <a:off x="4636713" y="3583219"/>
            <a:ext cx="45719" cy="130759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13">
            <a:extLst>
              <a:ext uri="{FF2B5EF4-FFF2-40B4-BE49-F238E27FC236}">
                <a16:creationId xmlns:a16="http://schemas.microsoft.com/office/drawing/2014/main" id="{5E607CDC-0BE2-4059-86AF-3AE154EE5086}"/>
              </a:ext>
            </a:extLst>
          </p:cNvPr>
          <p:cNvSpPr/>
          <p:nvPr/>
        </p:nvSpPr>
        <p:spPr>
          <a:xfrm>
            <a:off x="4636714" y="3583218"/>
            <a:ext cx="365760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14">
            <a:extLst>
              <a:ext uri="{FF2B5EF4-FFF2-40B4-BE49-F238E27FC236}">
                <a16:creationId xmlns:a16="http://schemas.microsoft.com/office/drawing/2014/main" id="{11C78395-6FE0-4AE5-8A0E-314D0630C4D5}"/>
              </a:ext>
            </a:extLst>
          </p:cNvPr>
          <p:cNvSpPr/>
          <p:nvPr/>
        </p:nvSpPr>
        <p:spPr>
          <a:xfrm>
            <a:off x="4636713" y="4875810"/>
            <a:ext cx="380165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15">
            <a:extLst>
              <a:ext uri="{FF2B5EF4-FFF2-40B4-BE49-F238E27FC236}">
                <a16:creationId xmlns:a16="http://schemas.microsoft.com/office/drawing/2014/main" id="{4F65F38C-E684-4E3E-AC35-E5A599C09B68}"/>
              </a:ext>
            </a:extLst>
          </p:cNvPr>
          <p:cNvSpPr/>
          <p:nvPr/>
        </p:nvSpPr>
        <p:spPr>
          <a:xfrm>
            <a:off x="5093914" y="3354619"/>
            <a:ext cx="1828800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ABE7BE0-C0E4-4745-AB83-65DA60F22CB6}"/>
              </a:ext>
            </a:extLst>
          </p:cNvPr>
          <p:cNvSpPr txBox="1"/>
          <p:nvPr/>
        </p:nvSpPr>
        <p:spPr>
          <a:xfrm>
            <a:off x="5093914" y="3518139"/>
            <a:ext cx="1828800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Calibri"/>
              </a:rPr>
              <a:t>тренд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2" name="Right Arrow 17">
            <a:extLst>
              <a:ext uri="{FF2B5EF4-FFF2-40B4-BE49-F238E27FC236}">
                <a16:creationId xmlns:a16="http://schemas.microsoft.com/office/drawing/2014/main" id="{B30E87E1-6BAB-48C7-B0C5-442922BD76B2}"/>
              </a:ext>
            </a:extLst>
          </p:cNvPr>
          <p:cNvSpPr/>
          <p:nvPr/>
        </p:nvSpPr>
        <p:spPr>
          <a:xfrm>
            <a:off x="7041085" y="3498997"/>
            <a:ext cx="36576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18">
            <a:extLst>
              <a:ext uri="{FF2B5EF4-FFF2-40B4-BE49-F238E27FC236}">
                <a16:creationId xmlns:a16="http://schemas.microsoft.com/office/drawing/2014/main" id="{E926E4D6-6845-4DB3-AE0F-0B68D27D269E}"/>
              </a:ext>
            </a:extLst>
          </p:cNvPr>
          <p:cNvSpPr/>
          <p:nvPr/>
        </p:nvSpPr>
        <p:spPr>
          <a:xfrm>
            <a:off x="7498285" y="3361837"/>
            <a:ext cx="182880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278AAD2-ACCB-41D1-91AF-A8F111721A3E}"/>
              </a:ext>
            </a:extLst>
          </p:cNvPr>
          <p:cNvSpPr txBox="1"/>
          <p:nvPr/>
        </p:nvSpPr>
        <p:spPr>
          <a:xfrm>
            <a:off x="7498285" y="3361837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TimesNet / N-BEATS</a:t>
            </a:r>
          </a:p>
        </p:txBody>
      </p:sp>
      <p:sp>
        <p:nvSpPr>
          <p:cNvPr id="65" name="Rectangle 20">
            <a:extLst>
              <a:ext uri="{FF2B5EF4-FFF2-40B4-BE49-F238E27FC236}">
                <a16:creationId xmlns:a16="http://schemas.microsoft.com/office/drawing/2014/main" id="{6F55FE3D-F2A9-47A5-B8A4-F868A355736F}"/>
              </a:ext>
            </a:extLst>
          </p:cNvPr>
          <p:cNvSpPr/>
          <p:nvPr/>
        </p:nvSpPr>
        <p:spPr>
          <a:xfrm>
            <a:off x="5093500" y="4585803"/>
            <a:ext cx="1829213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9328A4F-AD52-4243-A323-FDC42062697E}"/>
              </a:ext>
            </a:extLst>
          </p:cNvPr>
          <p:cNvSpPr txBox="1"/>
          <p:nvPr/>
        </p:nvSpPr>
        <p:spPr>
          <a:xfrm>
            <a:off x="5074290" y="4749323"/>
            <a:ext cx="1848424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ru-RU" sz="1200" b="1" i="0" dirty="0">
                <a:solidFill>
                  <a:srgbClr val="FFFFFF"/>
                </a:solidFill>
                <a:latin typeface="Calibri"/>
              </a:rPr>
              <a:t>остаток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7" name="Right Arrow 22">
            <a:extLst>
              <a:ext uri="{FF2B5EF4-FFF2-40B4-BE49-F238E27FC236}">
                <a16:creationId xmlns:a16="http://schemas.microsoft.com/office/drawing/2014/main" id="{F1F3CE80-89D9-4238-B842-1D9C2C0B7FF0}"/>
              </a:ext>
            </a:extLst>
          </p:cNvPr>
          <p:cNvSpPr/>
          <p:nvPr/>
        </p:nvSpPr>
        <p:spPr>
          <a:xfrm>
            <a:off x="7021461" y="4730181"/>
            <a:ext cx="36576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23">
            <a:extLst>
              <a:ext uri="{FF2B5EF4-FFF2-40B4-BE49-F238E27FC236}">
                <a16:creationId xmlns:a16="http://schemas.microsoft.com/office/drawing/2014/main" id="{F56E8EB9-719E-4751-A4F8-BAB979F990C7}"/>
              </a:ext>
            </a:extLst>
          </p:cNvPr>
          <p:cNvSpPr/>
          <p:nvPr/>
        </p:nvSpPr>
        <p:spPr>
          <a:xfrm>
            <a:off x="7497872" y="4585803"/>
            <a:ext cx="1828800" cy="5486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B0B9E0-1F69-4CC7-89C5-0A1A2712260D}"/>
              </a:ext>
            </a:extLst>
          </p:cNvPr>
          <p:cNvSpPr txBox="1"/>
          <p:nvPr/>
        </p:nvSpPr>
        <p:spPr>
          <a:xfrm>
            <a:off x="7497872" y="4585803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ARIMA / ETS</a:t>
            </a:r>
          </a:p>
        </p:txBody>
      </p:sp>
      <p:sp>
        <p:nvSpPr>
          <p:cNvPr id="70" name="Rectangle 11">
            <a:extLst>
              <a:ext uri="{FF2B5EF4-FFF2-40B4-BE49-F238E27FC236}">
                <a16:creationId xmlns:a16="http://schemas.microsoft.com/office/drawing/2014/main" id="{A89242D5-4833-41E4-9CBB-B887ED7E00C1}"/>
              </a:ext>
            </a:extLst>
          </p:cNvPr>
          <p:cNvSpPr/>
          <p:nvPr/>
        </p:nvSpPr>
        <p:spPr>
          <a:xfrm>
            <a:off x="4575962" y="4240659"/>
            <a:ext cx="417115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15">
            <a:extLst>
              <a:ext uri="{FF2B5EF4-FFF2-40B4-BE49-F238E27FC236}">
                <a16:creationId xmlns:a16="http://schemas.microsoft.com/office/drawing/2014/main" id="{70BBDC1A-E035-4B26-B7FF-46AB2E3665D8}"/>
              </a:ext>
            </a:extLst>
          </p:cNvPr>
          <p:cNvSpPr/>
          <p:nvPr/>
        </p:nvSpPr>
        <p:spPr>
          <a:xfrm>
            <a:off x="5093501" y="3966602"/>
            <a:ext cx="1828800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705C769-C4AD-4E9B-B95C-FB30C9BE3FA2}"/>
              </a:ext>
            </a:extLst>
          </p:cNvPr>
          <p:cNvSpPr txBox="1"/>
          <p:nvPr/>
        </p:nvSpPr>
        <p:spPr>
          <a:xfrm>
            <a:off x="5093501" y="4130122"/>
            <a:ext cx="1828800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ru-RU" sz="1200" b="1" dirty="0">
                <a:solidFill>
                  <a:srgbClr val="FFFFFF"/>
                </a:solidFill>
                <a:latin typeface="Calibri"/>
              </a:rPr>
              <a:t>сезонность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3" name="Right Arrow 17">
            <a:extLst>
              <a:ext uri="{FF2B5EF4-FFF2-40B4-BE49-F238E27FC236}">
                <a16:creationId xmlns:a16="http://schemas.microsoft.com/office/drawing/2014/main" id="{F9F7A984-4330-4DFF-9223-A4EFB6F80B4D}"/>
              </a:ext>
            </a:extLst>
          </p:cNvPr>
          <p:cNvSpPr/>
          <p:nvPr/>
        </p:nvSpPr>
        <p:spPr>
          <a:xfrm>
            <a:off x="7040672" y="4110980"/>
            <a:ext cx="36576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18">
            <a:extLst>
              <a:ext uri="{FF2B5EF4-FFF2-40B4-BE49-F238E27FC236}">
                <a16:creationId xmlns:a16="http://schemas.microsoft.com/office/drawing/2014/main" id="{276E31C0-D43E-4E4C-A817-2E1F065EAC50}"/>
              </a:ext>
            </a:extLst>
          </p:cNvPr>
          <p:cNvSpPr/>
          <p:nvPr/>
        </p:nvSpPr>
        <p:spPr>
          <a:xfrm>
            <a:off x="7497872" y="3973820"/>
            <a:ext cx="1828800" cy="548640"/>
          </a:xfrm>
          <a:prstGeom prst="rect">
            <a:avLst/>
          </a:prstGeom>
          <a:solidFill>
            <a:srgbClr val="2F9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000080"/>
              </a:highlight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94F862-3B1A-402C-BEF4-0FD1D90308BE}"/>
              </a:ext>
            </a:extLst>
          </p:cNvPr>
          <p:cNvSpPr txBox="1"/>
          <p:nvPr/>
        </p:nvSpPr>
        <p:spPr>
          <a:xfrm>
            <a:off x="7497872" y="4060397"/>
            <a:ext cx="1828800" cy="37548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Calibri"/>
              </a:rPr>
              <a:t>TimesNet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/ N-BEATS</a:t>
            </a:r>
            <a:r>
              <a:rPr lang="ru-RU" sz="1100" b="1" dirty="0">
                <a:solidFill>
                  <a:srgbClr val="FFFFFF"/>
                </a:solidFill>
                <a:latin typeface="Calibri"/>
              </a:rPr>
              <a:t> или </a:t>
            </a: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ARIMA / ETS</a:t>
            </a:r>
            <a:r>
              <a:rPr lang="ru-RU" sz="1100" b="1" dirty="0">
                <a:solidFill>
                  <a:srgbClr val="FFFFFF"/>
                </a:solidFill>
                <a:latin typeface="Calibri"/>
              </a:rPr>
              <a:t> 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7" name="Rectangle 12">
            <a:extLst>
              <a:ext uri="{FF2B5EF4-FFF2-40B4-BE49-F238E27FC236}">
                <a16:creationId xmlns:a16="http://schemas.microsoft.com/office/drawing/2014/main" id="{61EF8984-DC87-42EE-B1C7-43797AA8C96D}"/>
              </a:ext>
            </a:extLst>
          </p:cNvPr>
          <p:cNvSpPr/>
          <p:nvPr/>
        </p:nvSpPr>
        <p:spPr>
          <a:xfrm flipH="1">
            <a:off x="9747956" y="1354543"/>
            <a:ext cx="45719" cy="130759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13">
            <a:extLst>
              <a:ext uri="{FF2B5EF4-FFF2-40B4-BE49-F238E27FC236}">
                <a16:creationId xmlns:a16="http://schemas.microsoft.com/office/drawing/2014/main" id="{EFF4BEF3-02EF-400B-BA49-91B58956E639}"/>
              </a:ext>
            </a:extLst>
          </p:cNvPr>
          <p:cNvSpPr/>
          <p:nvPr/>
        </p:nvSpPr>
        <p:spPr>
          <a:xfrm>
            <a:off x="9427915" y="1342166"/>
            <a:ext cx="365760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14">
            <a:extLst>
              <a:ext uri="{FF2B5EF4-FFF2-40B4-BE49-F238E27FC236}">
                <a16:creationId xmlns:a16="http://schemas.microsoft.com/office/drawing/2014/main" id="{A611BA51-3DA5-47DF-A90D-FA240D64AD50}"/>
              </a:ext>
            </a:extLst>
          </p:cNvPr>
          <p:cNvSpPr/>
          <p:nvPr/>
        </p:nvSpPr>
        <p:spPr>
          <a:xfrm>
            <a:off x="9413510" y="2647134"/>
            <a:ext cx="380165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11">
            <a:extLst>
              <a:ext uri="{FF2B5EF4-FFF2-40B4-BE49-F238E27FC236}">
                <a16:creationId xmlns:a16="http://schemas.microsoft.com/office/drawing/2014/main" id="{7FA24413-5EAF-4022-BD84-893510AFF9C1}"/>
              </a:ext>
            </a:extLst>
          </p:cNvPr>
          <p:cNvSpPr/>
          <p:nvPr/>
        </p:nvSpPr>
        <p:spPr>
          <a:xfrm>
            <a:off x="9765800" y="2038779"/>
            <a:ext cx="227769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12">
            <a:extLst>
              <a:ext uri="{FF2B5EF4-FFF2-40B4-BE49-F238E27FC236}">
                <a16:creationId xmlns:a16="http://schemas.microsoft.com/office/drawing/2014/main" id="{D4205A92-AFAB-4EA7-B30D-2CF514F58EBF}"/>
              </a:ext>
            </a:extLst>
          </p:cNvPr>
          <p:cNvSpPr/>
          <p:nvPr/>
        </p:nvSpPr>
        <p:spPr>
          <a:xfrm flipH="1">
            <a:off x="9742941" y="3586863"/>
            <a:ext cx="45719" cy="130759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13">
            <a:extLst>
              <a:ext uri="{FF2B5EF4-FFF2-40B4-BE49-F238E27FC236}">
                <a16:creationId xmlns:a16="http://schemas.microsoft.com/office/drawing/2014/main" id="{8778FD84-E746-404B-965D-1BA16BE86939}"/>
              </a:ext>
            </a:extLst>
          </p:cNvPr>
          <p:cNvSpPr/>
          <p:nvPr/>
        </p:nvSpPr>
        <p:spPr>
          <a:xfrm>
            <a:off x="9422900" y="3574486"/>
            <a:ext cx="365760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4">
            <a:extLst>
              <a:ext uri="{FF2B5EF4-FFF2-40B4-BE49-F238E27FC236}">
                <a16:creationId xmlns:a16="http://schemas.microsoft.com/office/drawing/2014/main" id="{A4EFC865-D643-4E9E-9CD6-3A6470E0FC19}"/>
              </a:ext>
            </a:extLst>
          </p:cNvPr>
          <p:cNvSpPr/>
          <p:nvPr/>
        </p:nvSpPr>
        <p:spPr>
          <a:xfrm>
            <a:off x="9408495" y="4879454"/>
            <a:ext cx="380165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11">
            <a:extLst>
              <a:ext uri="{FF2B5EF4-FFF2-40B4-BE49-F238E27FC236}">
                <a16:creationId xmlns:a16="http://schemas.microsoft.com/office/drawing/2014/main" id="{E98E9CC4-3989-4D72-B10A-8210494C7E76}"/>
              </a:ext>
            </a:extLst>
          </p:cNvPr>
          <p:cNvSpPr/>
          <p:nvPr/>
        </p:nvSpPr>
        <p:spPr>
          <a:xfrm>
            <a:off x="9747956" y="4225280"/>
            <a:ext cx="227769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13">
            <a:extLst>
              <a:ext uri="{FF2B5EF4-FFF2-40B4-BE49-F238E27FC236}">
                <a16:creationId xmlns:a16="http://schemas.microsoft.com/office/drawing/2014/main" id="{010CB1AA-288C-4534-AE73-37657B53215C}"/>
              </a:ext>
            </a:extLst>
          </p:cNvPr>
          <p:cNvSpPr/>
          <p:nvPr/>
        </p:nvSpPr>
        <p:spPr>
          <a:xfrm>
            <a:off x="9418112" y="4228339"/>
            <a:ext cx="365760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61">
            <a:extLst>
              <a:ext uri="{FF2B5EF4-FFF2-40B4-BE49-F238E27FC236}">
                <a16:creationId xmlns:a16="http://schemas.microsoft.com/office/drawing/2014/main" id="{B2431991-1137-449C-9137-A83516924B10}"/>
              </a:ext>
            </a:extLst>
          </p:cNvPr>
          <p:cNvSpPr/>
          <p:nvPr/>
        </p:nvSpPr>
        <p:spPr>
          <a:xfrm>
            <a:off x="443208" y="6064222"/>
            <a:ext cx="11247119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DF73C8F-02E9-4BAE-AFD2-4CC7C1A728F3}"/>
              </a:ext>
            </a:extLst>
          </p:cNvPr>
          <p:cNvSpPr txBox="1"/>
          <p:nvPr/>
        </p:nvSpPr>
        <p:spPr>
          <a:xfrm>
            <a:off x="404378" y="6121137"/>
            <a:ext cx="1124712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 i="1" dirty="0" err="1">
                <a:solidFill>
                  <a:srgbClr val="21295C"/>
                </a:solidFill>
                <a:latin typeface="Calibri"/>
              </a:rPr>
              <a:t>Единый</a:t>
            </a:r>
            <a:r>
              <a:rPr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21295C"/>
                </a:solidFill>
                <a:latin typeface="Calibri"/>
              </a:rPr>
              <a:t>интерфейс</a:t>
            </a:r>
            <a:r>
              <a:rPr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21295C"/>
                </a:solidFill>
                <a:latin typeface="Calibri"/>
              </a:rPr>
              <a:t>класса</a:t>
            </a:r>
            <a:r>
              <a:rPr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21295C"/>
                </a:solidFill>
                <a:latin typeface="Calibri"/>
              </a:rPr>
              <a:t>HybridPlus</a:t>
            </a:r>
            <a:r>
              <a:rPr sz="1100" b="0" i="1" dirty="0">
                <a:solidFill>
                  <a:srgbClr val="21295C"/>
                </a:solidFill>
                <a:latin typeface="Calibri"/>
              </a:rPr>
              <a:t> — </a:t>
            </a:r>
            <a:r>
              <a:rPr sz="1100" b="0" i="1" dirty="0" err="1">
                <a:solidFill>
                  <a:srgbClr val="21295C"/>
                </a:solidFill>
                <a:latin typeface="Calibri"/>
              </a:rPr>
              <a:t>режим</a:t>
            </a:r>
            <a:r>
              <a:rPr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21295C"/>
                </a:solidFill>
                <a:latin typeface="Calibri"/>
              </a:rPr>
              <a:t>декомпозиции</a:t>
            </a:r>
            <a:r>
              <a:rPr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21295C"/>
                </a:solidFill>
                <a:latin typeface="Calibri"/>
              </a:rPr>
              <a:t>выбирается</a:t>
            </a:r>
            <a:r>
              <a:rPr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100" b="0" i="1" dirty="0">
                <a:solidFill>
                  <a:srgbClr val="21295C"/>
                </a:solidFill>
                <a:latin typeface="Calibri"/>
              </a:rPr>
              <a:t>с помощью</a:t>
            </a:r>
            <a:r>
              <a:rPr lang="en-US"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100" i="1" dirty="0">
                <a:solidFill>
                  <a:srgbClr val="21295C"/>
                </a:solidFill>
                <a:latin typeface="Calibri"/>
              </a:rPr>
              <a:t>конфигурации </a:t>
            </a:r>
            <a:r>
              <a:rPr lang="en-US" sz="1100" i="1" dirty="0">
                <a:solidFill>
                  <a:srgbClr val="21295C"/>
                </a:solidFill>
                <a:latin typeface="Calibri"/>
              </a:rPr>
              <a:t>.json</a:t>
            </a:r>
            <a:endParaRPr sz="1100" b="0" i="1" dirty="0">
              <a:solidFill>
                <a:srgbClr val="21295C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296BA38-8F0A-4C0C-A9FA-428DA1EE156D}"/>
                  </a:ext>
                </a:extLst>
              </p:cNvPr>
              <p:cNvSpPr txBox="1"/>
              <p:nvPr/>
            </p:nvSpPr>
            <p:spPr>
              <a:xfrm>
                <a:off x="6540984" y="5350552"/>
                <a:ext cx="5376279" cy="512961"/>
              </a:xfrm>
              <a:prstGeom prst="rect">
                <a:avLst/>
              </a:prstGeom>
              <a:noFill/>
            </p:spPr>
            <p:txBody>
              <a:bodyPr wrap="square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lang="ru-RU" sz="1200" b="1" dirty="0">
                    <a:solidFill>
                      <a:srgbClr val="E76F51"/>
                    </a:solidFill>
                    <a:latin typeface="Calibri"/>
                  </a:rPr>
                  <a:t>▪  </a:t>
                </a:r>
                <a:r>
                  <a:rPr lang="ru-RU" sz="1200" dirty="0">
                    <a:solidFill>
                      <a:srgbClr val="21295C"/>
                    </a:solidFill>
                    <a:latin typeface="Calibri"/>
                  </a:rPr>
                  <a:t>вклад ВЧ-компонент монотонно уменьшается с ростом шага горизонта</a:t>
                </a:r>
              </a:p>
              <a:p>
                <a:pPr algn="l">
                  <a:spcAft>
                    <a:spcPts val="400"/>
                  </a:spcAft>
                </a:pPr>
                <a:r>
                  <a:rPr lang="ru-RU" sz="1200" b="1" dirty="0">
                    <a:solidFill>
                      <a:srgbClr val="E76F51"/>
                    </a:solidFill>
                    <a:latin typeface="Calibri"/>
                  </a:rPr>
                  <a:t>▪  </a:t>
                </a:r>
                <a:r>
                  <a:rPr lang="ru-RU" sz="1200" dirty="0">
                    <a:solidFill>
                      <a:srgbClr val="21295C"/>
                    </a:solidFill>
                    <a:latin typeface="Calibri"/>
                  </a:rPr>
                  <a:t>разность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2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2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ŷ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200" dirty="0">
                    <a:solidFill>
                      <a:srgbClr val="21295C"/>
                    </a:solidFill>
                    <a:latin typeface="Calibri"/>
                  </a:rPr>
                  <a:t> ограничена робастной оценкой типичного шага ряда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296BA38-8F0A-4C0C-A9FA-428DA1EE1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984" y="5350552"/>
                <a:ext cx="5376279" cy="512961"/>
              </a:xfrm>
              <a:prstGeom prst="rect">
                <a:avLst/>
              </a:prstGeom>
              <a:blipFill>
                <a:blip r:embed="rId3"/>
                <a:stretch>
                  <a:fillRect l="-907" t="-1190" b="-95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ectangle 25">
            <a:extLst>
              <a:ext uri="{FF2B5EF4-FFF2-40B4-BE49-F238E27FC236}">
                <a16:creationId xmlns:a16="http://schemas.microsoft.com/office/drawing/2014/main" id="{BFCA5555-D01E-4446-ABC3-D1642D899462}"/>
              </a:ext>
            </a:extLst>
          </p:cNvPr>
          <p:cNvSpPr/>
          <p:nvPr/>
        </p:nvSpPr>
        <p:spPr>
          <a:xfrm>
            <a:off x="10016434" y="1729175"/>
            <a:ext cx="2053646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F140D28-C45B-46C2-AD65-F9015C5B797A}"/>
              </a:ext>
            </a:extLst>
          </p:cNvPr>
          <p:cNvSpPr txBox="1"/>
          <p:nvPr/>
        </p:nvSpPr>
        <p:spPr>
          <a:xfrm>
            <a:off x="10016434" y="1930721"/>
            <a:ext cx="2053646" cy="2369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Реконструкция прогноза  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Список построенных моделей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Базовые, нейросетевые, гибридные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4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7490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Базовые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749039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ARIMA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ARIMA (с автоподбором)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ETS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Prophet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188720"/>
            <a:ext cx="37490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Нейросетевые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54480"/>
            <a:ext cx="3749039" cy="1046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1C7293"/>
                </a:solidFill>
                <a:latin typeface="Calibri"/>
              </a:rPr>
              <a:t>▪ 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(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без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MODWT)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1C7293"/>
                </a:solidFill>
                <a:latin typeface="Calibri"/>
              </a:rPr>
              <a:t>▪  </a:t>
            </a:r>
            <a:r>
              <a:rPr sz="1300" dirty="0">
                <a:solidFill>
                  <a:srgbClr val="21295C"/>
                </a:solidFill>
                <a:latin typeface="Calibri"/>
              </a:rPr>
              <a:t>N-BEATS (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без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MODWT)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1C7293"/>
                </a:solidFill>
                <a:latin typeface="Calibri"/>
              </a:rPr>
              <a:t>▪ 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300" dirty="0">
                <a:solidFill>
                  <a:srgbClr val="21295C"/>
                </a:solidFill>
                <a:latin typeface="Calibri"/>
              </a:rPr>
              <a:t>+ (MODWT +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300" dirty="0">
                <a:solidFill>
                  <a:srgbClr val="21295C"/>
                </a:solidFill>
                <a:latin typeface="Calibri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1C7293"/>
                </a:solidFill>
                <a:latin typeface="Calibri"/>
              </a:rPr>
              <a:t>▪  </a:t>
            </a:r>
            <a:r>
              <a:rPr sz="1300" dirty="0">
                <a:solidFill>
                  <a:srgbClr val="21295C"/>
                </a:solidFill>
                <a:latin typeface="Calibri"/>
              </a:rPr>
              <a:t>N-BEATS</a:t>
            </a:r>
            <a:r>
              <a:rPr lang="ru-RU"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Full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(MODWT + N-BEATS)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188720"/>
            <a:ext cx="37490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E76F51"/>
                </a:solidFill>
                <a:latin typeface="Calibri"/>
              </a:rPr>
              <a:t>Гибридные (HybridPlus)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554480"/>
            <a:ext cx="3749039" cy="20518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MODWT (V</a:t>
            </a:r>
            <a:r>
              <a:rPr sz="1300" dirty="0">
                <a:solidFill>
                  <a:srgbClr val="21295C"/>
                </a:solidFill>
                <a:latin typeface="Calibri"/>
              </a:rPr>
              <a:t>W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)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+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+ ARIMA(auto)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MODWT (VW)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+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+ ETS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MODWT (VW)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+ N-Beats + ARIMA(auto)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MODWT (VW)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+ N-Beats + ETS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300" dirty="0">
                <a:solidFill>
                  <a:srgbClr val="21295C"/>
                </a:solidFill>
                <a:latin typeface="Calibri"/>
              </a:rPr>
              <a:t>STL +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+ ARIMA(auto)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300" dirty="0">
                <a:solidFill>
                  <a:srgbClr val="21295C"/>
                </a:solidFill>
                <a:latin typeface="Calibri"/>
              </a:rPr>
              <a:t>STL + N-BEATS + ARIMA(auto)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300" dirty="0">
                <a:solidFill>
                  <a:srgbClr val="21295C"/>
                </a:solidFill>
                <a:latin typeface="Calibri"/>
              </a:rPr>
              <a:t>STL +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+ ETS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300" dirty="0">
                <a:solidFill>
                  <a:srgbClr val="21295C"/>
                </a:solidFill>
                <a:latin typeface="Calibri"/>
              </a:rPr>
              <a:t>STL + N-BEATS + 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109728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 dirty="0">
                <a:solidFill>
                  <a:srgbClr val="6B7280"/>
                </a:solidFill>
                <a:latin typeface="Calibri"/>
              </a:rPr>
              <a:t>VW —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сокращение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для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MODWT (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от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англ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. wavelet),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используется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в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легендах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графиков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и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таблиц</a:t>
            </a:r>
            <a:r>
              <a:rPr lang="en-US" sz="11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lang="ru-RU" sz="1100" b="0" i="1" dirty="0">
                <a:solidFill>
                  <a:srgbClr val="6B7280"/>
                </a:solidFill>
                <a:latin typeface="Calibri"/>
              </a:rPr>
              <a:t>в ВКР</a:t>
            </a:r>
            <a:endParaRPr sz="1100" b="0" i="1" dirty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Инженерные меры устойчивости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 dirty="0" err="1">
                <a:solidFill>
                  <a:srgbClr val="1C7293"/>
                </a:solidFill>
                <a:latin typeface="Calibri"/>
              </a:rPr>
              <a:t>Где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скрыта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основная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сложность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гибридной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модели</a:t>
            </a:r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?</a:t>
            </a:r>
            <a:endParaRPr sz="1400" b="0" i="1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1143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73152" cy="1143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Граница окна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931920" y="1325880"/>
                <a:ext cx="7589520" cy="406265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Padding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повторением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последнего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значения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вместо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нулей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.</a:t>
                </a:r>
              </a:p>
              <a:p>
                <a:pPr algn="l"/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Уменьшает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скачки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на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границе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при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укладке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в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матрицу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ru-RU" sz="12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12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 × </m:t>
                    </m:r>
                    <m:r>
                      <a:rPr lang="ru-RU" sz="12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12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в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TimesNet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0" y="1325880"/>
                <a:ext cx="7589520" cy="406265"/>
              </a:xfrm>
              <a:prstGeom prst="rect">
                <a:avLst/>
              </a:prstGeom>
              <a:blipFill>
                <a:blip r:embed="rId3"/>
                <a:stretch>
                  <a:fillRect l="-643" t="-7576" b="-181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57200" y="2514600"/>
            <a:ext cx="11247120" cy="1143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73152" cy="1143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6060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Первый шаг прогноза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931920" y="2606040"/>
                <a:ext cx="7589520" cy="406265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Прогноз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деталей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смешивается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с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последним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наблюдаемым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уровнем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.</a:t>
                </a:r>
              </a:p>
              <a:p>
                <a:pPr algn="l"/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Разность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y-GB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y-GB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ŷ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cy-GB" sz="12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ar-AE" sz="1200" b="0" i="1" dirty="0" err="1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b="0" i="1" dirty="0" err="1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1200" b="0" i="1" dirty="0" err="1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200" b="0" i="1" dirty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ограничена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робастной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оценкой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типичного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шага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.</a:t>
                </a:r>
                <a:endParaRPr sz="1200" b="0" i="0" dirty="0">
                  <a:solidFill>
                    <a:srgbClr val="21295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0" y="2606040"/>
                <a:ext cx="7589520" cy="406265"/>
              </a:xfrm>
              <a:prstGeom prst="rect">
                <a:avLst/>
              </a:prstGeom>
              <a:blipFill>
                <a:blip r:embed="rId4"/>
                <a:stretch>
                  <a:fillRect l="-643" t="-7576" b="-181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457200" y="3794760"/>
            <a:ext cx="11247120" cy="1143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73152" cy="1143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Горизонт прогноза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886200"/>
            <a:ext cx="7589520" cy="960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21295C"/>
                </a:solidFill>
                <a:latin typeface="Calibri"/>
              </a:rPr>
              <a:t>Вклад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высокочастотных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компонент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монотонно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уменьшается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с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шагом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.</a:t>
            </a:r>
          </a:p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→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не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доверяем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дальним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прогнозам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шумоподобных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компонент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74920"/>
            <a:ext cx="11247120" cy="1143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074920"/>
            <a:ext cx="73152" cy="1143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16636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Краевые артефакты MODWT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166360"/>
            <a:ext cx="758952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21295C"/>
                </a:solidFill>
                <a:latin typeface="Calibri"/>
              </a:rPr>
              <a:t>Циклическое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продолжение</a:t>
            </a:r>
            <a:r>
              <a:rPr lang="ru-RU"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lang="en-US" sz="1200" b="0" i="0" dirty="0">
                <a:solidFill>
                  <a:srgbClr val="21295C"/>
                </a:solidFill>
                <a:latin typeface="Calibri"/>
              </a:rPr>
              <a:t>/ </a:t>
            </a:r>
            <a:r>
              <a:rPr lang="ru-RU" sz="1200" b="0" i="0" dirty="0">
                <a:solidFill>
                  <a:srgbClr val="21295C"/>
                </a:solidFill>
                <a:latin typeface="Calibri"/>
              </a:rPr>
              <a:t>симметрическое дополнение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в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качестве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граничного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условия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.</a:t>
            </a:r>
          </a:p>
          <a:p>
            <a:pPr algn="l"/>
            <a:r>
              <a:rPr sz="1200" b="0" i="0" dirty="0" err="1">
                <a:solidFill>
                  <a:srgbClr val="21295C"/>
                </a:solidFill>
                <a:latin typeface="Calibri"/>
              </a:rPr>
              <a:t>Снижает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артефакты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при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разложении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синтетических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сезонных</a:t>
            </a:r>
            <a:r>
              <a:rPr lang="en-US" sz="1200" b="0" i="0" dirty="0">
                <a:solidFill>
                  <a:srgbClr val="21295C"/>
                </a:solidFill>
                <a:latin typeface="Calibri"/>
              </a:rPr>
              <a:t> / </a:t>
            </a:r>
            <a:r>
              <a:rPr lang="ru-RU" sz="1200" b="0" i="0">
                <a:solidFill>
                  <a:srgbClr val="21295C"/>
                </a:solidFill>
                <a:latin typeface="Calibri"/>
              </a:rPr>
              <a:t>трендовых</a:t>
            </a:r>
            <a:r>
              <a:rPr sz="1200" b="0" i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сигналов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2600" b="1" i="0" dirty="0">
                <a:solidFill>
                  <a:srgbClr val="21295C"/>
                </a:solidFill>
                <a:latin typeface="Calibri"/>
              </a:rPr>
              <a:t>Экспериментальная схема исследования</a:t>
            </a:r>
            <a:endParaRPr sz="26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 dirty="0" err="1">
                <a:solidFill>
                  <a:srgbClr val="1C7293"/>
                </a:solidFill>
                <a:latin typeface="Calibri"/>
              </a:rPr>
              <a:t>Раздел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3. </a:t>
            </a:r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От валидации моделей к проверке гипотезы MODWT </a:t>
            </a:r>
            <a:r>
              <a:rPr lang="ru-RU" sz="1400" b="0" i="1" dirty="0" err="1">
                <a:solidFill>
                  <a:srgbClr val="1C7293"/>
                </a:solidFill>
                <a:latin typeface="Calibri"/>
              </a:rPr>
              <a:t>vs</a:t>
            </a:r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 STL</a:t>
            </a:r>
            <a:endParaRPr sz="1400" b="0" i="1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21034"/>
            <a:ext cx="3749039" cy="2341677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749039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252728"/>
            <a:ext cx="3566159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FFFFFF"/>
                </a:solidFill>
                <a:latin typeface="Calibri"/>
              </a:rPr>
              <a:t>Синтетические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ряды</a:t>
            </a:r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39" y="1766924"/>
            <a:ext cx="3566159" cy="172354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lang="ru-RU" sz="1200" b="1" dirty="0">
                <a:solidFill>
                  <a:srgbClr val="1C7293"/>
                </a:solidFill>
                <a:latin typeface="Calibri"/>
              </a:rPr>
              <a:t>▪  Цель: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проверить корректность работы моделей и декомпозиции на контролируемых структурах данных</a:t>
            </a:r>
            <a:endParaRPr lang="ru-RU" sz="1200" b="1" dirty="0">
              <a:solidFill>
                <a:srgbClr val="065A82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1C7293"/>
                </a:solidFill>
                <a:latin typeface="Calibri"/>
              </a:rPr>
              <a:t>▪</a:t>
            </a:r>
            <a:r>
              <a:rPr sz="1200" b="1" dirty="0">
                <a:solidFill>
                  <a:srgbClr val="065A82"/>
                </a:solidFill>
                <a:latin typeface="Calibri"/>
              </a:rPr>
              <a:t>  </a:t>
            </a:r>
            <a:r>
              <a:rPr lang="ru-RU" sz="1200" b="1" dirty="0">
                <a:solidFill>
                  <a:srgbClr val="1C7293"/>
                </a:solidFill>
                <a:latin typeface="Calibri"/>
              </a:rPr>
              <a:t>Профили</a:t>
            </a:r>
            <a:r>
              <a:rPr sz="1200" dirty="0">
                <a:solidFill>
                  <a:srgbClr val="21295C"/>
                </a:solidFill>
                <a:latin typeface="Calibri"/>
              </a:rPr>
              <a:t>: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плоские ряды, тренд, простая сезонность, шум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1C7293"/>
                </a:solidFill>
                <a:latin typeface="Calibri"/>
              </a:rPr>
              <a:t>▪ </a:t>
            </a:r>
            <a:r>
              <a:rPr sz="1200" b="1" dirty="0">
                <a:solidFill>
                  <a:srgbClr val="065A82"/>
                </a:solidFill>
                <a:latin typeface="Calibri"/>
              </a:rPr>
              <a:t> </a:t>
            </a:r>
            <a:r>
              <a:rPr lang="ru-RU" sz="1200" b="1" dirty="0">
                <a:solidFill>
                  <a:srgbClr val="1C7293"/>
                </a:solidFill>
                <a:latin typeface="Calibri"/>
              </a:rPr>
              <a:t>Объем</a:t>
            </a:r>
            <a:r>
              <a:rPr lang="en-US" sz="1200" b="1" dirty="0">
                <a:solidFill>
                  <a:srgbClr val="1C7293"/>
                </a:solidFill>
                <a:latin typeface="Calibri"/>
              </a:rPr>
              <a:t>: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500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рядов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на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профиль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 (отличие в силе шума)</a:t>
            </a:r>
            <a:endParaRPr sz="12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1C7293"/>
                </a:solidFill>
                <a:latin typeface="Calibri"/>
              </a:rPr>
              <a:t>▪ </a:t>
            </a:r>
            <a:r>
              <a:rPr sz="1200" b="1" dirty="0">
                <a:solidFill>
                  <a:srgbClr val="065A82"/>
                </a:solidFill>
                <a:latin typeface="Calibri"/>
              </a:rPr>
              <a:t> </a:t>
            </a:r>
            <a:r>
              <a:rPr lang="ru-RU" sz="1200" b="1" dirty="0">
                <a:solidFill>
                  <a:srgbClr val="1C7293"/>
                </a:solidFill>
                <a:latin typeface="Calibri"/>
              </a:rPr>
              <a:t>Параметры </a:t>
            </a:r>
            <a:r>
              <a:rPr sz="1200" b="1" dirty="0" err="1">
                <a:solidFill>
                  <a:srgbClr val="1C7293"/>
                </a:solidFill>
                <a:latin typeface="Calibri"/>
              </a:rPr>
              <a:t>обучени</a:t>
            </a:r>
            <a:r>
              <a:rPr lang="ru-RU" sz="1200" b="1" dirty="0">
                <a:solidFill>
                  <a:srgbClr val="1C7293"/>
                </a:solidFill>
                <a:latin typeface="Calibri"/>
              </a:rPr>
              <a:t>я</a:t>
            </a:r>
            <a:r>
              <a:rPr lang="en-US" sz="1200" b="1" dirty="0">
                <a:solidFill>
                  <a:srgbClr val="1C7293"/>
                </a:solidFill>
                <a:latin typeface="Calibri"/>
              </a:rPr>
              <a:t>:</a:t>
            </a:r>
            <a:r>
              <a:rPr sz="1200" b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24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эпохи</a:t>
            </a:r>
            <a:endParaRPr sz="120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46961" y="3762804"/>
            <a:ext cx="3749039" cy="1980703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46961" y="3762804"/>
            <a:ext cx="3749039" cy="5029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84121" y="3826812"/>
            <a:ext cx="35661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M3 Competition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39215" y="1177211"/>
            <a:ext cx="3749039" cy="251155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39215" y="1177211"/>
            <a:ext cx="3749039" cy="502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76375" y="1241219"/>
            <a:ext cx="35661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M4 Competition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65AB9F-F242-4AF1-9527-5FAB7422B71D}"/>
              </a:ext>
            </a:extLst>
          </p:cNvPr>
          <p:cNvSpPr txBox="1"/>
          <p:nvPr/>
        </p:nvSpPr>
        <p:spPr>
          <a:xfrm>
            <a:off x="2438401" y="4311444"/>
            <a:ext cx="3566159" cy="135421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lang="ru-RU" sz="1200" b="1" dirty="0">
                <a:solidFill>
                  <a:srgbClr val="1C7293"/>
                </a:solidFill>
                <a:latin typeface="Calibri"/>
              </a:rPr>
              <a:t>▪  Цель: </a:t>
            </a:r>
            <a:r>
              <a:rPr lang="ru-RU" sz="1200" dirty="0">
                <a:solidFill>
                  <a:srgbClr val="21295C"/>
                </a:solidFill>
              </a:rPr>
              <a:t>проверка конкурентоспособности моделей на реальных коротких рядах, оценка устойчивости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1C7293"/>
                </a:solidFill>
                <a:latin typeface="Calibri"/>
              </a:rPr>
              <a:t>▪</a:t>
            </a:r>
            <a:r>
              <a:rPr sz="1200" b="1" dirty="0">
                <a:solidFill>
                  <a:srgbClr val="065A82"/>
                </a:solidFill>
                <a:latin typeface="Calibri"/>
              </a:rPr>
              <a:t>  </a:t>
            </a:r>
            <a:r>
              <a:rPr lang="ru-RU" sz="1200" b="1" dirty="0">
                <a:solidFill>
                  <a:srgbClr val="1C7293"/>
                </a:solidFill>
                <a:latin typeface="Calibri"/>
              </a:rPr>
              <a:t>Частоты</a:t>
            </a:r>
            <a:r>
              <a:rPr sz="1200" dirty="0">
                <a:solidFill>
                  <a:srgbClr val="21295C"/>
                </a:solidFill>
                <a:latin typeface="Calibri"/>
              </a:rPr>
              <a:t>: </a:t>
            </a:r>
            <a:r>
              <a:rPr lang="en-US" sz="1200" dirty="0">
                <a:solidFill>
                  <a:srgbClr val="21295C"/>
                </a:solidFill>
                <a:latin typeface="Calibri"/>
              </a:rPr>
              <a:t>yearly / quarterly / monthly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1C7293"/>
                </a:solidFill>
                <a:latin typeface="Calibri"/>
              </a:rPr>
              <a:t>▪ </a:t>
            </a:r>
            <a:r>
              <a:rPr lang="ru-RU" sz="1200" b="1" dirty="0">
                <a:solidFill>
                  <a:srgbClr val="1C7293"/>
                </a:solidFill>
                <a:latin typeface="Calibri"/>
              </a:rPr>
              <a:t> Объем</a:t>
            </a:r>
            <a:r>
              <a:rPr lang="en-US" sz="1200" b="1" dirty="0">
                <a:solidFill>
                  <a:srgbClr val="1C7293"/>
                </a:solidFill>
                <a:latin typeface="Calibri"/>
              </a:rPr>
              <a:t>: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100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рядов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на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частоту 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1C7293"/>
                </a:solidFill>
                <a:latin typeface="Calibri"/>
              </a:rPr>
              <a:t>▪ </a:t>
            </a:r>
            <a:r>
              <a:rPr sz="1200" b="1" dirty="0">
                <a:solidFill>
                  <a:srgbClr val="065A82"/>
                </a:solidFill>
                <a:latin typeface="Calibri"/>
              </a:rPr>
              <a:t> </a:t>
            </a:r>
            <a:r>
              <a:rPr lang="ru-RU" sz="1200" b="1" dirty="0">
                <a:solidFill>
                  <a:srgbClr val="1C7293"/>
                </a:solidFill>
                <a:latin typeface="Calibri"/>
              </a:rPr>
              <a:t>Параметры </a:t>
            </a:r>
            <a:r>
              <a:rPr sz="1200" b="1" dirty="0" err="1">
                <a:solidFill>
                  <a:srgbClr val="1C7293"/>
                </a:solidFill>
                <a:latin typeface="Calibri"/>
              </a:rPr>
              <a:t>обучени</a:t>
            </a:r>
            <a:r>
              <a:rPr lang="ru-RU" sz="1200" b="1" dirty="0">
                <a:solidFill>
                  <a:srgbClr val="1C7293"/>
                </a:solidFill>
                <a:latin typeface="Calibri"/>
              </a:rPr>
              <a:t>я</a:t>
            </a:r>
            <a:r>
              <a:rPr lang="en-US" sz="1200" b="1" dirty="0">
                <a:solidFill>
                  <a:srgbClr val="1C7293"/>
                </a:solidFill>
                <a:latin typeface="Calibri"/>
              </a:rPr>
              <a:t>:</a:t>
            </a:r>
            <a:r>
              <a:rPr sz="1200" b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24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эпохи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, уровень разложения </a:t>
            </a:r>
            <a:r>
              <a:rPr lang="en-US" sz="1200" dirty="0">
                <a:solidFill>
                  <a:srgbClr val="21295C"/>
                </a:solidFill>
                <a:latin typeface="Calibri"/>
              </a:rPr>
              <a:t>MODWT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= 2 - 3</a:t>
            </a:r>
            <a:endParaRPr sz="120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FAA682-B4A7-4C54-A2F0-D834A54C5C7E}"/>
              </a:ext>
            </a:extLst>
          </p:cNvPr>
          <p:cNvSpPr txBox="1"/>
          <p:nvPr/>
        </p:nvSpPr>
        <p:spPr>
          <a:xfrm>
            <a:off x="5730654" y="1721238"/>
            <a:ext cx="3566159" cy="195951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lang="ru-RU" sz="1200" b="1" dirty="0">
                <a:solidFill>
                  <a:srgbClr val="1C7293"/>
                </a:solidFill>
                <a:latin typeface="Calibri"/>
              </a:rPr>
              <a:t>▪  Цель: </a:t>
            </a:r>
            <a:r>
              <a:rPr lang="ru-RU" sz="1200" dirty="0">
                <a:solidFill>
                  <a:srgbClr val="21295C"/>
                </a:solidFill>
              </a:rPr>
              <a:t>анализ, на каких частотах гибридизация даёт выигрыш</a:t>
            </a:r>
            <a:r>
              <a:rPr lang="en-US" sz="1200" dirty="0">
                <a:solidFill>
                  <a:srgbClr val="21295C"/>
                </a:solidFill>
              </a:rPr>
              <a:t>, </a:t>
            </a:r>
            <a:r>
              <a:rPr lang="ru-RU" sz="1200" dirty="0">
                <a:solidFill>
                  <a:srgbClr val="21295C"/>
                </a:solidFill>
              </a:rPr>
              <a:t>сравнение общей устойчивости</a:t>
            </a:r>
          </a:p>
          <a:p>
            <a:pPr algn="l">
              <a:spcAft>
                <a:spcPts val="400"/>
              </a:spcAft>
            </a:pPr>
            <a:r>
              <a:rPr lang="ru-RU" sz="1200" b="1" dirty="0">
                <a:solidFill>
                  <a:srgbClr val="1C7293"/>
                </a:solidFill>
                <a:latin typeface="Calibri"/>
              </a:rPr>
              <a:t>▪</a:t>
            </a:r>
            <a:r>
              <a:rPr lang="ru-RU" sz="1200" b="1" dirty="0">
                <a:solidFill>
                  <a:srgbClr val="065A82"/>
                </a:solidFill>
                <a:latin typeface="Calibri"/>
              </a:rPr>
              <a:t>  </a:t>
            </a:r>
            <a:r>
              <a:rPr lang="ru-RU" sz="1200" b="1" dirty="0">
                <a:solidFill>
                  <a:srgbClr val="1C7293"/>
                </a:solidFill>
                <a:latin typeface="Calibri"/>
              </a:rPr>
              <a:t>Частоты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: </a:t>
            </a:r>
            <a:r>
              <a:rPr lang="en-US" sz="1200" dirty="0">
                <a:solidFill>
                  <a:srgbClr val="21295C"/>
                </a:solidFill>
              </a:rPr>
              <a:t>yearly / quarterly / daily / hourly </a:t>
            </a:r>
            <a:endParaRPr lang="ru-RU" sz="1200" dirty="0">
              <a:solidFill>
                <a:srgbClr val="21295C"/>
              </a:solidFill>
            </a:endParaRPr>
          </a:p>
          <a:p>
            <a:pPr algn="l">
              <a:spcAft>
                <a:spcPts val="400"/>
              </a:spcAft>
            </a:pPr>
            <a:r>
              <a:rPr lang="ru-RU" sz="1200" b="1" dirty="0">
                <a:solidFill>
                  <a:srgbClr val="1C7293"/>
                </a:solidFill>
                <a:latin typeface="Calibri"/>
              </a:rPr>
              <a:t>▪  Объем: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500 рядов на частоту</a:t>
            </a:r>
          </a:p>
          <a:p>
            <a:pPr>
              <a:spcAft>
                <a:spcPts val="400"/>
              </a:spcAft>
            </a:pPr>
            <a:r>
              <a:rPr lang="ru-RU" sz="1200" b="1" dirty="0">
                <a:solidFill>
                  <a:srgbClr val="1C7293"/>
                </a:solidFill>
                <a:latin typeface="Calibri"/>
              </a:rPr>
              <a:t>▪  Протокол: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последовательное построение прогноза на заданный горизонт с использованием ранее полученных значений</a:t>
            </a:r>
          </a:p>
          <a:p>
            <a:pPr>
              <a:spcAft>
                <a:spcPts val="400"/>
              </a:spcAft>
            </a:pPr>
            <a:r>
              <a:rPr lang="ru-RU" sz="1200" b="1" dirty="0">
                <a:solidFill>
                  <a:srgbClr val="1C7293"/>
                </a:solidFill>
                <a:latin typeface="Calibri"/>
              </a:rPr>
              <a:t>▪ </a:t>
            </a:r>
            <a:r>
              <a:rPr lang="ru-RU" sz="1200" b="1" dirty="0">
                <a:solidFill>
                  <a:srgbClr val="065A82"/>
                </a:solidFill>
                <a:latin typeface="Calibri"/>
              </a:rPr>
              <a:t> </a:t>
            </a:r>
            <a:r>
              <a:rPr lang="ru-RU" sz="1200" b="1" dirty="0">
                <a:solidFill>
                  <a:srgbClr val="1C7293"/>
                </a:solidFill>
                <a:latin typeface="Calibri"/>
              </a:rPr>
              <a:t>Параметры обучения: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64 эпохи, уровень разложения MODWT = 3 - 5</a:t>
            </a: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5032FB70-5796-442C-BE17-7B25AD954B84}"/>
              </a:ext>
            </a:extLst>
          </p:cNvPr>
          <p:cNvSpPr/>
          <p:nvPr/>
        </p:nvSpPr>
        <p:spPr>
          <a:xfrm>
            <a:off x="7955281" y="3859126"/>
            <a:ext cx="3749039" cy="2469585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2B7E5394-5EDC-4D5F-8A6D-C38C855293BB}"/>
              </a:ext>
            </a:extLst>
          </p:cNvPr>
          <p:cNvSpPr/>
          <p:nvPr/>
        </p:nvSpPr>
        <p:spPr>
          <a:xfrm>
            <a:off x="7955281" y="3826812"/>
            <a:ext cx="3749039" cy="502920"/>
          </a:xfrm>
          <a:prstGeom prst="rect">
            <a:avLst/>
          </a:prstGeom>
          <a:solidFill>
            <a:srgbClr val="EC8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29B97C-B2F0-4CDF-B02B-BE6802A28BDA}"/>
              </a:ext>
            </a:extLst>
          </p:cNvPr>
          <p:cNvSpPr txBox="1"/>
          <p:nvPr/>
        </p:nvSpPr>
        <p:spPr>
          <a:xfrm>
            <a:off x="8092441" y="3890820"/>
            <a:ext cx="3566159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500" b="1" i="0" dirty="0">
                <a:solidFill>
                  <a:srgbClr val="FFFFFF"/>
                </a:solidFill>
                <a:latin typeface="Calibri"/>
              </a:rPr>
              <a:t>Проверка гипотезы MODWT </a:t>
            </a:r>
            <a:r>
              <a:rPr lang="ru-RU" sz="1500" b="1" i="0" dirty="0" err="1">
                <a:solidFill>
                  <a:srgbClr val="FFFFFF"/>
                </a:solidFill>
                <a:latin typeface="Calibri"/>
              </a:rPr>
              <a:t>vs</a:t>
            </a:r>
            <a:r>
              <a:rPr lang="ru-RU" sz="1500" b="1" i="0" dirty="0">
                <a:solidFill>
                  <a:srgbClr val="FFFFFF"/>
                </a:solidFill>
                <a:latin typeface="Calibri"/>
              </a:rPr>
              <a:t> STL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3BF58F-07E6-4C4A-8040-8CE29BCEB472}"/>
              </a:ext>
            </a:extLst>
          </p:cNvPr>
          <p:cNvSpPr txBox="1"/>
          <p:nvPr/>
        </p:nvSpPr>
        <p:spPr>
          <a:xfrm>
            <a:off x="8046720" y="4405016"/>
            <a:ext cx="3566159" cy="190821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lang="ru-RU" sz="1200" b="1" dirty="0">
                <a:solidFill>
                  <a:srgbClr val="1C7293"/>
                </a:solidFill>
                <a:latin typeface="Calibri"/>
              </a:rPr>
              <a:t>▪  Цель: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проверка гипотезы о преимуществе использования </a:t>
            </a:r>
            <a:r>
              <a:rPr lang="en-US" sz="1200" dirty="0">
                <a:solidFill>
                  <a:srgbClr val="21295C"/>
                </a:solidFill>
                <a:latin typeface="Calibri"/>
              </a:rPr>
              <a:t>MODWT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разложения над </a:t>
            </a:r>
            <a:r>
              <a:rPr lang="en-US" sz="1200" dirty="0">
                <a:solidFill>
                  <a:srgbClr val="21295C"/>
                </a:solidFill>
                <a:latin typeface="Calibri"/>
              </a:rPr>
              <a:t>STL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в условиях сложной сезонности</a:t>
            </a:r>
            <a:endParaRPr lang="ru-RU" sz="1200" b="1" dirty="0">
              <a:solidFill>
                <a:srgbClr val="065A82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1C7293"/>
                </a:solidFill>
                <a:latin typeface="Calibri"/>
              </a:rPr>
              <a:t>▪</a:t>
            </a:r>
            <a:r>
              <a:rPr sz="1200" b="1" dirty="0">
                <a:solidFill>
                  <a:srgbClr val="065A82"/>
                </a:solidFill>
                <a:latin typeface="Calibri"/>
              </a:rPr>
              <a:t>  </a:t>
            </a:r>
            <a:r>
              <a:rPr lang="ru-RU" sz="1200" b="1" dirty="0">
                <a:solidFill>
                  <a:srgbClr val="1C7293"/>
                </a:solidFill>
                <a:latin typeface="Calibri"/>
              </a:rPr>
              <a:t>Профили</a:t>
            </a:r>
            <a:r>
              <a:rPr sz="1200" dirty="0">
                <a:solidFill>
                  <a:srgbClr val="21295C"/>
                </a:solidFill>
                <a:latin typeface="Calibri"/>
              </a:rPr>
              <a:t>: </a:t>
            </a:r>
            <a:r>
              <a:rPr lang="ru-RU" sz="1200" dirty="0">
                <a:solidFill>
                  <a:srgbClr val="21295C"/>
                </a:solidFill>
              </a:rPr>
              <a:t>многопериодная сезонность с НОК 60 и 105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1C7293"/>
                </a:solidFill>
                <a:latin typeface="Calibri"/>
              </a:rPr>
              <a:t>▪ </a:t>
            </a:r>
            <a:r>
              <a:rPr lang="ru-RU" sz="1200" b="1" dirty="0">
                <a:solidFill>
                  <a:srgbClr val="1C7293"/>
                </a:solidFill>
                <a:latin typeface="Calibri"/>
              </a:rPr>
              <a:t> Объем</a:t>
            </a:r>
            <a:r>
              <a:rPr lang="en-US" sz="1200" b="1" dirty="0">
                <a:solidFill>
                  <a:srgbClr val="1C7293"/>
                </a:solidFill>
                <a:latin typeface="Calibri"/>
              </a:rPr>
              <a:t>: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500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рядов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на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профиль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 (отличие в силе шума)</a:t>
            </a:r>
            <a:endParaRPr sz="12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1C7293"/>
                </a:solidFill>
                <a:latin typeface="Calibri"/>
              </a:rPr>
              <a:t>▪ </a:t>
            </a:r>
            <a:r>
              <a:rPr sz="1200" b="1" dirty="0">
                <a:solidFill>
                  <a:srgbClr val="065A82"/>
                </a:solidFill>
                <a:latin typeface="Calibri"/>
              </a:rPr>
              <a:t> </a:t>
            </a:r>
            <a:r>
              <a:rPr lang="ru-RU" sz="1200" b="1" dirty="0">
                <a:solidFill>
                  <a:srgbClr val="1C7293"/>
                </a:solidFill>
                <a:latin typeface="Calibri"/>
              </a:rPr>
              <a:t>Параметры </a:t>
            </a:r>
            <a:r>
              <a:rPr sz="1200" b="1" dirty="0" err="1">
                <a:solidFill>
                  <a:srgbClr val="1C7293"/>
                </a:solidFill>
                <a:latin typeface="Calibri"/>
              </a:rPr>
              <a:t>обучени</a:t>
            </a:r>
            <a:r>
              <a:rPr lang="ru-RU" sz="1200" b="1" dirty="0">
                <a:solidFill>
                  <a:srgbClr val="1C7293"/>
                </a:solidFill>
                <a:latin typeface="Calibri"/>
              </a:rPr>
              <a:t>я</a:t>
            </a:r>
            <a:r>
              <a:rPr lang="en-US" sz="1200" b="1" dirty="0">
                <a:solidFill>
                  <a:srgbClr val="1C7293"/>
                </a:solidFill>
                <a:latin typeface="Calibri"/>
              </a:rPr>
              <a:t>:</a:t>
            </a:r>
            <a:r>
              <a:rPr sz="1200" b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24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эпохи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, уровень разложения </a:t>
            </a:r>
            <a:r>
              <a:rPr lang="en-US" sz="1200" dirty="0">
                <a:solidFill>
                  <a:srgbClr val="21295C"/>
                </a:solidFill>
                <a:latin typeface="Calibri"/>
              </a:rPr>
              <a:t>MODWT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= 3</a:t>
            </a:r>
            <a:endParaRPr sz="1200" dirty="0">
              <a:solidFill>
                <a:srgbClr val="21295C"/>
              </a:solidFill>
              <a:latin typeface="Calibri"/>
            </a:endParaRPr>
          </a:p>
        </p:txBody>
      </p:sp>
      <p:cxnSp>
        <p:nvCxnSpPr>
          <p:cNvPr id="28" name="Соединитель: уступ 27">
            <a:extLst>
              <a:ext uri="{FF2B5EF4-FFF2-40B4-BE49-F238E27FC236}">
                <a16:creationId xmlns:a16="http://schemas.microsoft.com/office/drawing/2014/main" id="{6F6C0887-C2C6-4C93-A02B-8C614FCA467C}"/>
              </a:ext>
            </a:extLst>
          </p:cNvPr>
          <p:cNvCxnSpPr>
            <a:cxnSpLocks/>
            <a:endCxn id="11" idx="1"/>
          </p:cNvCxnSpPr>
          <p:nvPr/>
        </p:nvCxnSpPr>
        <p:spPr>
          <a:xfrm rot="16200000" flipH="1">
            <a:off x="1192033" y="3598228"/>
            <a:ext cx="1190446" cy="11194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Соединитель: уступ 29">
            <a:extLst>
              <a:ext uri="{FF2B5EF4-FFF2-40B4-BE49-F238E27FC236}">
                <a16:creationId xmlns:a16="http://schemas.microsoft.com/office/drawing/2014/main" id="{D45442F4-14E3-4095-A574-0FC838B0DDC9}"/>
              </a:ext>
            </a:extLst>
          </p:cNvPr>
          <p:cNvCxnSpPr>
            <a:cxnSpLocks/>
            <a:endCxn id="15" idx="1"/>
          </p:cNvCxnSpPr>
          <p:nvPr/>
        </p:nvCxnSpPr>
        <p:spPr>
          <a:xfrm rot="5400000" flipH="1" flipV="1">
            <a:off x="4676004" y="2798707"/>
            <a:ext cx="1328932" cy="59749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Соединитель: уступ 37">
            <a:extLst>
              <a:ext uri="{FF2B5EF4-FFF2-40B4-BE49-F238E27FC236}">
                <a16:creationId xmlns:a16="http://schemas.microsoft.com/office/drawing/2014/main" id="{5590F6F4-2259-4F89-A5AE-6D405A0570EE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9388254" y="2432986"/>
            <a:ext cx="1020875" cy="14106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Эксперимент: ряд Q2142 (M4, квартальный)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Точечная иллюстрация работы гибридных моделей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7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801391"/>
              </p:ext>
            </p:extLst>
          </p:nvPr>
        </p:nvGraphicFramePr>
        <p:xfrm>
          <a:off x="457200" y="1170432"/>
          <a:ext cx="5248404" cy="349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2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11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4.16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4.08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57.69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1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56.81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1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ETS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4.12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3.99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61.49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1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Prophet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23.62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20.92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233.59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1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TimesNet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4.93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4.86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67.72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11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MODWT + TimesNet + ETS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3.97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3.91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55.92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1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N-BEATS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4.74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4.68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59.03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1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N-BEATS + 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58.25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66618" y="4543236"/>
            <a:ext cx="5303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 dirty="0" err="1">
                <a:solidFill>
                  <a:srgbClr val="6B7280"/>
                </a:solidFill>
                <a:latin typeface="Calibri"/>
              </a:rPr>
              <a:t>Прогнозы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6B7280"/>
                </a:solidFill>
                <a:latin typeface="Calibri"/>
              </a:rPr>
              <a:t>моделей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6B7280"/>
                </a:solidFill>
                <a:latin typeface="Calibri"/>
              </a:rPr>
              <a:t>на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6B7280"/>
                </a:solidFill>
                <a:latin typeface="Calibri"/>
              </a:rPr>
              <a:t>ряду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Q2142 (H=8, L=16)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937760"/>
            <a:ext cx="73152" cy="13716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E76F51"/>
                </a:solidFill>
                <a:latin typeface="Calibri"/>
              </a:rPr>
              <a:t>Что видно: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10972800" cy="7027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лидер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по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всем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метрикам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— MODWT +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+ ETS </a:t>
            </a:r>
            <a:endParaRPr lang="ru-RU" sz="11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1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ru-RU" sz="1100" b="1" dirty="0">
                <a:solidFill>
                  <a:srgbClr val="E76F51"/>
                </a:solidFill>
                <a:latin typeface="Calibri"/>
              </a:rPr>
              <a:t> </a:t>
            </a:r>
            <a:r>
              <a:rPr lang="ru-RU" sz="1100" dirty="0" err="1">
                <a:solidFill>
                  <a:srgbClr val="21295C"/>
                </a:solidFill>
              </a:rPr>
              <a:t>Prophet</a:t>
            </a:r>
            <a:r>
              <a:rPr lang="ru-RU" sz="1100" dirty="0">
                <a:solidFill>
                  <a:srgbClr val="21295C"/>
                </a:solidFill>
              </a:rPr>
              <a:t> заметно отклоняется от ряда (нет встроенных календарных зависимостей, слишком короткий ряд)</a:t>
            </a:r>
          </a:p>
          <a:p>
            <a:pPr algn="l">
              <a:spcAft>
                <a:spcPts val="400"/>
              </a:spcAft>
            </a:pPr>
            <a:r>
              <a:rPr sz="11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ru-RU" sz="1100" b="1" dirty="0">
                <a:solidFill>
                  <a:srgbClr val="E76F51"/>
                </a:solidFill>
                <a:latin typeface="Calibri"/>
              </a:rPr>
              <a:t> </a:t>
            </a:r>
            <a:r>
              <a:rPr lang="ru-RU" sz="1100" dirty="0">
                <a:solidFill>
                  <a:srgbClr val="21295C"/>
                </a:solidFill>
              </a:rPr>
              <a:t>декомпозиция может быть полезна даже на коротком квартальном ряде</a:t>
            </a:r>
            <a:endParaRPr sz="1100" dirty="0">
              <a:solidFill>
                <a:srgbClr val="21295C"/>
              </a:solidFill>
              <a:latin typeface="Calibri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47DFC29-F8CE-498E-9140-5A88D9A00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408" y="3898749"/>
            <a:ext cx="3381939" cy="56988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F10729C-3048-48AF-983A-FA9630033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133" y="1141492"/>
            <a:ext cx="6355766" cy="27210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2600" b="1" i="0" dirty="0">
                <a:solidFill>
                  <a:srgbClr val="21295C"/>
                </a:solidFill>
                <a:latin typeface="Calibri"/>
              </a:rPr>
              <a:t>Эксперимент: ряд Q2147 (M4, квартальный)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Второй иллюстративный ряд — ярко выраженный тренд + сезонность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ru-RU" sz="1000" dirty="0">
                <a:solidFill>
                  <a:srgbClr val="6B7280"/>
                </a:solidFill>
                <a:latin typeface="Calibri"/>
              </a:rPr>
              <a:t>8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489735" y="4586808"/>
            <a:ext cx="530352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 dirty="0" err="1">
                <a:solidFill>
                  <a:srgbClr val="6B7280"/>
                </a:solidFill>
                <a:latin typeface="Calibri"/>
              </a:rPr>
              <a:t>Прогнозы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6B7280"/>
                </a:solidFill>
                <a:latin typeface="Calibri"/>
              </a:rPr>
              <a:t>моделей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6B7280"/>
                </a:solidFill>
                <a:latin typeface="Calibri"/>
              </a:rPr>
              <a:t>на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6B7280"/>
                </a:solidFill>
                <a:latin typeface="Calibri"/>
              </a:rPr>
              <a:t>ряду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Q214</a:t>
            </a:r>
            <a:r>
              <a:rPr lang="en-US" sz="1000" b="0" i="1" dirty="0">
                <a:solidFill>
                  <a:srgbClr val="6B7280"/>
                </a:solidFill>
                <a:latin typeface="Calibri"/>
              </a:rPr>
              <a:t>7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(H=8, L=16)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937760"/>
            <a:ext cx="73152" cy="13716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E76F51"/>
                </a:solidFill>
                <a:latin typeface="Calibri"/>
              </a:rPr>
              <a:t>Что видно: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10972800" cy="92333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1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100" dirty="0">
                <a:solidFill>
                  <a:srgbClr val="21295C"/>
                </a:solidFill>
                <a:latin typeface="Calibri"/>
              </a:rPr>
              <a:t>лидер с большим отрывом — </a:t>
            </a:r>
            <a:r>
              <a:rPr lang="en-US" sz="1100" dirty="0">
                <a:solidFill>
                  <a:srgbClr val="21295C"/>
                </a:solidFill>
                <a:latin typeface="Calibri"/>
              </a:rPr>
              <a:t>MODWT + N-BEATS + ETS </a:t>
            </a:r>
            <a:endParaRPr lang="ru-RU" sz="11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lang="en-US" sz="11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ru-RU" sz="1100" b="1" dirty="0">
                <a:solidFill>
                  <a:srgbClr val="E76F51"/>
                </a:solidFill>
                <a:latin typeface="Calibri"/>
              </a:rPr>
              <a:t> </a:t>
            </a:r>
            <a:r>
              <a:rPr lang="ru-RU" sz="1100" dirty="0">
                <a:solidFill>
                  <a:srgbClr val="21295C"/>
                </a:solidFill>
                <a:latin typeface="Calibri"/>
              </a:rPr>
              <a:t>гибрид улучшает чистый N-BEATS примерно в 1.3–1.5 раза по разным метрикам </a:t>
            </a:r>
          </a:p>
          <a:p>
            <a:pPr algn="l">
              <a:spcAft>
                <a:spcPts val="400"/>
              </a:spcAft>
            </a:pPr>
            <a:r>
              <a:rPr lang="ru-RU" sz="11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100" dirty="0">
                <a:solidFill>
                  <a:srgbClr val="21295C"/>
                </a:solidFill>
              </a:rPr>
              <a:t>классические модели хуже удерживают растущий тренд</a:t>
            </a:r>
          </a:p>
          <a:p>
            <a:pPr>
              <a:spcAft>
                <a:spcPts val="400"/>
              </a:spcAft>
            </a:pPr>
            <a:r>
              <a:rPr lang="ru-RU" sz="11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100" dirty="0">
                <a:solidFill>
                  <a:srgbClr val="21295C"/>
                </a:solidFill>
              </a:rPr>
              <a:t>на разных рядах лидируют разные MODWT-гибриды</a:t>
            </a:r>
          </a:p>
        </p:txBody>
      </p:sp>
      <p:graphicFrame>
        <p:nvGraphicFramePr>
          <p:cNvPr id="17" name="Table 6">
            <a:extLst>
              <a:ext uri="{FF2B5EF4-FFF2-40B4-BE49-F238E27FC236}">
                <a16:creationId xmlns:a16="http://schemas.microsoft.com/office/drawing/2014/main" id="{4725547B-4A73-47FD-9AC3-59A6241F0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9113"/>
              </p:ext>
            </p:extLst>
          </p:nvPr>
        </p:nvGraphicFramePr>
        <p:xfrm>
          <a:off x="487678" y="1057049"/>
          <a:ext cx="5355712" cy="378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8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285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  <a:endParaRPr sz="10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5.92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6.16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678.67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6.51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6.79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734.77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ETS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5.37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5.57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624.36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Prophet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12.84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12.02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1241.16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36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TimesNet (без MODWT)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5.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0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5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24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593.21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N-BEATS (без MODWT)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3.06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3.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10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420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.7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9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368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MODWT + </a:t>
                      </a: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N-BEATS</a:t>
                      </a:r>
                      <a:r>
                        <a:rPr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 + </a:t>
                      </a: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ETS</a:t>
                      </a:r>
                      <a:endParaRPr sz="1000" b="1" dirty="0">
                        <a:solidFill>
                          <a:srgbClr val="E76F51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2</a:t>
                      </a:r>
                      <a:r>
                        <a:rPr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3</a:t>
                      </a:r>
                      <a:r>
                        <a:rPr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2</a:t>
                      </a:r>
                      <a:r>
                        <a:rPr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33</a:t>
                      </a:r>
                      <a:endParaRPr sz="1000" b="1" dirty="0">
                        <a:solidFill>
                          <a:srgbClr val="E76F51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281</a:t>
                      </a:r>
                      <a:r>
                        <a:rPr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41</a:t>
                      </a:r>
                      <a:endParaRPr sz="1000" b="1" dirty="0">
                        <a:solidFill>
                          <a:srgbClr val="E76F51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368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+mn-lt"/>
                        </a:rPr>
                        <a:t>MODWT + N-BEATS + 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49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41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502.32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36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1295C"/>
                          </a:solidFill>
                          <a:latin typeface="+mn-lt"/>
                        </a:rPr>
                        <a:t>MODWT + </a:t>
                      </a:r>
                      <a:r>
                        <a:rPr lang="en-US" sz="1000" dirty="0" err="1">
                          <a:solidFill>
                            <a:srgbClr val="21295C"/>
                          </a:solidFill>
                          <a:latin typeface="+mn-lt"/>
                        </a:rPr>
                        <a:t>TimesNet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+mn-lt"/>
                        </a:rPr>
                        <a:t> + ETS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45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36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499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80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36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1295C"/>
                          </a:solidFill>
                          <a:latin typeface="+mn-lt"/>
                        </a:rPr>
                        <a:t>MODWT + </a:t>
                      </a:r>
                      <a:r>
                        <a:rPr lang="en-US" sz="1000" dirty="0" err="1">
                          <a:solidFill>
                            <a:srgbClr val="21295C"/>
                          </a:solidFill>
                          <a:latin typeface="+mn-lt"/>
                        </a:rPr>
                        <a:t>TimesNet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+mn-lt"/>
                        </a:rPr>
                        <a:t> + 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49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4.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41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502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32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F418CA0-7FAC-456D-A5F5-2F7A8DC51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525" y="3890507"/>
            <a:ext cx="3381939" cy="56988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ADE15F3-E3CA-4D1C-A5D3-84BD28D92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629" y="1102769"/>
            <a:ext cx="6297922" cy="269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57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 dirty="0">
                <a:solidFill>
                  <a:srgbClr val="21295C"/>
                </a:solidFill>
                <a:latin typeface="Calibri"/>
              </a:rPr>
              <a:t>M4: </a:t>
            </a:r>
            <a:r>
              <a:rPr sz="2600" b="1" i="0" dirty="0" err="1">
                <a:solidFill>
                  <a:srgbClr val="21295C"/>
                </a:solidFill>
                <a:latin typeface="Calibri"/>
              </a:rPr>
              <a:t>годовая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1295C"/>
                </a:solidFill>
                <a:latin typeface="Calibri"/>
              </a:rPr>
              <a:t>частотность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 (500 </a:t>
            </a:r>
            <a:r>
              <a:rPr sz="2600" b="1" i="0" dirty="0" err="1">
                <a:solidFill>
                  <a:srgbClr val="21295C"/>
                </a:solidFill>
                <a:latin typeface="Calibri"/>
              </a:rPr>
              <a:t>рядов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Короткие ряды — преимущество классики и осторожности с гибридами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ru-RU" sz="1000" dirty="0">
                <a:solidFill>
                  <a:srgbClr val="6B7280"/>
                </a:solidFill>
                <a:latin typeface="Calibri"/>
              </a:rPr>
              <a:t>19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7772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  <a:endParaRPr sz="10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14.66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17.63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812.07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14.77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18.01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828.43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ETS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17.77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22.64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909.61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Prophet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22.44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35.47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1384.24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TimesNet (без MODWT)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15.68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17.48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1002.51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N-BEATS (без MODWT)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26.55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31.02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1670.70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MODWT + TimesNet + ARIMA(auto)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13.52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15.00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764.00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TimesNet + 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16.86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19.93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1048.35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N-BEATS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22.72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27.85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1360.15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N-BEATS + 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20.90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24.97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1275.73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412480" y="1188720"/>
            <a:ext cx="338328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188720"/>
            <a:ext cx="338328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12344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Наблюдения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91640"/>
            <a:ext cx="3200400" cy="175432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065A82"/>
                </a:solidFill>
                <a:latin typeface="Calibri"/>
              </a:rPr>
              <a:t>▪ 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лучший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— </a:t>
            </a:r>
            <a:r>
              <a:rPr lang="en-US" sz="1100" dirty="0">
                <a:solidFill>
                  <a:srgbClr val="21295C"/>
                </a:solidFill>
                <a:latin typeface="Calibri"/>
              </a:rPr>
              <a:t>MOD</a:t>
            </a:r>
            <a:r>
              <a:rPr sz="1100" dirty="0">
                <a:solidFill>
                  <a:srgbClr val="21295C"/>
                </a:solidFill>
                <a:latin typeface="Calibri"/>
              </a:rPr>
              <a:t>W</a:t>
            </a:r>
            <a:r>
              <a:rPr lang="en-US" sz="1100" dirty="0">
                <a:solidFill>
                  <a:srgbClr val="21295C"/>
                </a:solidFill>
                <a:latin typeface="Calibri"/>
              </a:rPr>
              <a:t>T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+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+ ARIMA(auto)</a:t>
            </a: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065A82"/>
                </a:solidFill>
                <a:latin typeface="Calibri"/>
              </a:rPr>
              <a:t>▪  </a:t>
            </a:r>
            <a:r>
              <a:rPr lang="ru-RU" sz="1100" dirty="0">
                <a:solidFill>
                  <a:srgbClr val="21295C"/>
                </a:solidFill>
              </a:rPr>
              <a:t>преимущество гибрида есть, но оно умеренное</a:t>
            </a:r>
          </a:p>
          <a:p>
            <a:pPr algn="l">
              <a:spcAft>
                <a:spcPts val="600"/>
              </a:spcAft>
            </a:pPr>
            <a:r>
              <a:rPr lang="ru-RU" sz="1100" b="1" dirty="0">
                <a:solidFill>
                  <a:srgbClr val="065A82"/>
                </a:solidFill>
                <a:latin typeface="Calibri"/>
              </a:rPr>
              <a:t>▪  </a:t>
            </a:r>
            <a:r>
              <a:rPr lang="ru-RU" sz="1100" dirty="0">
                <a:solidFill>
                  <a:srgbClr val="21295C"/>
                </a:solidFill>
              </a:rPr>
              <a:t>годовые ряды короткие — нейросети обучаются менее устойчиво</a:t>
            </a:r>
            <a:endParaRPr lang="ru-RU" sz="1100" b="1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065A82"/>
                </a:solidFill>
                <a:latin typeface="Calibri"/>
              </a:rPr>
              <a:t>▪  </a:t>
            </a:r>
            <a:r>
              <a:rPr sz="1100" dirty="0">
                <a:solidFill>
                  <a:srgbClr val="21295C"/>
                </a:solidFill>
                <a:latin typeface="Calibri"/>
              </a:rPr>
              <a:t>ARIMA </a:t>
            </a:r>
            <a:r>
              <a:rPr lang="ru-RU" sz="1100" dirty="0">
                <a:solidFill>
                  <a:srgbClr val="21295C"/>
                </a:solidFill>
              </a:rPr>
              <a:t>остается конкурентоспособной по общей картине метрик </a:t>
            </a: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065A82"/>
                </a:solidFill>
                <a:latin typeface="Calibri"/>
              </a:rPr>
              <a:t>▪ </a:t>
            </a:r>
            <a:r>
              <a:rPr lang="ru-RU" sz="1100" dirty="0">
                <a:solidFill>
                  <a:srgbClr val="21295C"/>
                </a:solidFill>
              </a:rPr>
              <a:t>сложные N-BEATS-модели на этой частоте работают слабее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 dirty="0">
                <a:solidFill>
                  <a:srgbClr val="21295C"/>
                </a:solidFill>
                <a:latin typeface="Calibri"/>
              </a:rPr>
              <a:t>M4: </a:t>
            </a:r>
            <a:r>
              <a:rPr sz="2600" b="1" i="0" dirty="0" err="1">
                <a:solidFill>
                  <a:srgbClr val="21295C"/>
                </a:solidFill>
                <a:latin typeface="Calibri"/>
              </a:rPr>
              <a:t>квартальная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1295C"/>
                </a:solidFill>
                <a:latin typeface="Calibri"/>
              </a:rPr>
              <a:t>частотность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 (500 </a:t>
            </a:r>
            <a:r>
              <a:rPr sz="2600" b="1" i="0" dirty="0" err="1">
                <a:solidFill>
                  <a:srgbClr val="21295C"/>
                </a:solidFill>
                <a:latin typeface="Calibri"/>
              </a:rPr>
              <a:t>рядов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Промежуточный случай — лидерство ETS, гибриды близки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0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7772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14.39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19.54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538.91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14.02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19.59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519.91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ETS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13.15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15.34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505.15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Prophet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30.97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134.20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1104.47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TimesNet (без MODWT)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14.87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30.14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463.86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N-BEATS (без MODWT)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16.49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24.99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599.85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TimesNet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15.60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24.73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570.47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TimesNet + 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13.70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21.98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570.98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N-BEATS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15.85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22.13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848.81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N-BEATS + 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16.20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23.46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872.35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412480" y="1188720"/>
            <a:ext cx="338328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188720"/>
            <a:ext cx="33832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12344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Наблюдения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91640"/>
            <a:ext cx="3200400" cy="175432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1C7293"/>
                </a:solidFill>
                <a:latin typeface="Calibri"/>
              </a:rPr>
              <a:t>▪ </a:t>
            </a:r>
            <a:r>
              <a:rPr lang="ru-RU" sz="1100" b="1" dirty="0">
                <a:solidFill>
                  <a:srgbClr val="1C7293"/>
                </a:solidFill>
                <a:latin typeface="Calibri"/>
              </a:rPr>
              <a:t> </a:t>
            </a:r>
            <a:r>
              <a:rPr lang="ru-RU" sz="1100" dirty="0">
                <a:solidFill>
                  <a:srgbClr val="21295C"/>
                </a:solidFill>
              </a:rPr>
              <a:t>по общей картине сильнее всего выглядит ETS </a:t>
            </a: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1C7293"/>
                </a:solidFill>
                <a:latin typeface="Calibri"/>
              </a:rPr>
              <a:t>▪ </a:t>
            </a:r>
            <a:r>
              <a:rPr lang="ru-RU" sz="1100" b="1" dirty="0">
                <a:solidFill>
                  <a:srgbClr val="1C7293"/>
                </a:solidFill>
                <a:latin typeface="Calibri"/>
              </a:rPr>
              <a:t> </a:t>
            </a:r>
            <a:r>
              <a:rPr lang="ru-RU" sz="1100" dirty="0">
                <a:solidFill>
                  <a:srgbClr val="21295C"/>
                </a:solidFill>
              </a:rPr>
              <a:t>чистый </a:t>
            </a:r>
            <a:r>
              <a:rPr lang="ru-RU" sz="1100" dirty="0" err="1">
                <a:solidFill>
                  <a:srgbClr val="21295C"/>
                </a:solidFill>
              </a:rPr>
              <a:t>TimesNet</a:t>
            </a:r>
            <a:r>
              <a:rPr lang="ru-RU" sz="1100" dirty="0">
                <a:solidFill>
                  <a:srgbClr val="21295C"/>
                </a:solidFill>
              </a:rPr>
              <a:t> лучше отражает крупные уровни ряда</a:t>
            </a: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1C7293"/>
                </a:solidFill>
                <a:latin typeface="Calibri"/>
              </a:rPr>
              <a:t>▪ 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гладкая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динамика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+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слабая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сезонность</a:t>
            </a:r>
            <a:endParaRPr sz="11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1C7293"/>
                </a:solidFill>
                <a:latin typeface="Calibri"/>
              </a:rPr>
              <a:t>▪ </a:t>
            </a:r>
            <a:r>
              <a:rPr lang="ru-RU" sz="1100" b="1" dirty="0">
                <a:solidFill>
                  <a:srgbClr val="1C7293"/>
                </a:solidFill>
                <a:latin typeface="Calibri"/>
              </a:rPr>
              <a:t> </a:t>
            </a:r>
            <a:r>
              <a:rPr lang="ru-RU" sz="1100" dirty="0">
                <a:solidFill>
                  <a:srgbClr val="21295C"/>
                </a:solidFill>
              </a:rPr>
              <a:t>гибриды близки к лидерам, но без явного преимущества </a:t>
            </a: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1C7293"/>
                </a:solidFill>
                <a:latin typeface="Calibri"/>
              </a:rPr>
              <a:t>▪ </a:t>
            </a:r>
            <a:r>
              <a:rPr lang="ru-RU" sz="1100" b="1" dirty="0">
                <a:solidFill>
                  <a:srgbClr val="1C7293"/>
                </a:solidFill>
                <a:latin typeface="Calibri"/>
              </a:rPr>
              <a:t> </a:t>
            </a:r>
            <a:r>
              <a:rPr lang="ru-RU" sz="1100" dirty="0">
                <a:solidFill>
                  <a:srgbClr val="21295C"/>
                </a:solidFill>
              </a:rPr>
              <a:t>дополнительная сложность гибридов здесь не всегда окупается</a:t>
            </a:r>
            <a:endParaRPr sz="1100" dirty="0">
              <a:solidFill>
                <a:srgbClr val="21295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 dirty="0">
                <a:solidFill>
                  <a:srgbClr val="21295C"/>
                </a:solidFill>
                <a:latin typeface="Calibri"/>
              </a:rPr>
              <a:t>M4: </a:t>
            </a:r>
            <a:r>
              <a:rPr sz="2600" b="1" i="0" dirty="0" err="1">
                <a:solidFill>
                  <a:srgbClr val="21295C"/>
                </a:solidFill>
                <a:latin typeface="Calibri"/>
              </a:rPr>
              <a:t>дневная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1295C"/>
                </a:solidFill>
                <a:latin typeface="Calibri"/>
              </a:rPr>
              <a:t>частотность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 (500 </a:t>
            </a:r>
            <a:r>
              <a:rPr sz="2600" b="1" i="0" dirty="0" err="1">
                <a:solidFill>
                  <a:srgbClr val="21295C"/>
                </a:solidFill>
                <a:latin typeface="Calibri"/>
              </a:rPr>
              <a:t>рядов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) — </a:t>
            </a:r>
            <a:r>
              <a:rPr sz="2600" b="1" i="0" dirty="0" err="1">
                <a:solidFill>
                  <a:srgbClr val="21295C"/>
                </a:solidFill>
                <a:latin typeface="Calibri"/>
              </a:rPr>
              <a:t>главный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1295C"/>
                </a:solidFill>
                <a:latin typeface="Calibri"/>
              </a:rPr>
              <a:t>результат</a:t>
            </a:r>
            <a:endParaRPr sz="26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Где разложение работает лучше всего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7772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3.10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3.00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170.19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2.98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168.26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ETS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3.09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2.99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165.87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Prophet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12.46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16.54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963.78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TimesNet (без MODWT)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3.81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3.64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185.84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N-BEATS (без MODWT)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3.80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236.41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TimesNet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2.13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2.15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128.94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MODWT + TimesNet + ETS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2.05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2.06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111.61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N-BEATS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2.67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2.63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169.99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N-BEATS + 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2.70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2.66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168.89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412480" y="1188720"/>
            <a:ext cx="338328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188720"/>
            <a:ext cx="3383280" cy="4114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12344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Главный результат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91640"/>
            <a:ext cx="3200400" cy="209288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ru-RU" sz="1100" b="1" dirty="0">
                <a:solidFill>
                  <a:srgbClr val="E76F51"/>
                </a:solidFill>
                <a:latin typeface="Calibri"/>
              </a:rPr>
              <a:t> </a:t>
            </a:r>
            <a:r>
              <a:rPr lang="ru-RU" sz="1100" dirty="0">
                <a:solidFill>
                  <a:srgbClr val="21295C"/>
                </a:solidFill>
              </a:rPr>
              <a:t>лучший общий результат показывает MODWT + </a:t>
            </a:r>
            <a:r>
              <a:rPr lang="ru-RU" sz="1100" dirty="0" err="1">
                <a:solidFill>
                  <a:srgbClr val="21295C"/>
                </a:solidFill>
              </a:rPr>
              <a:t>TimesNet</a:t>
            </a:r>
            <a:r>
              <a:rPr lang="ru-RU" sz="1100" dirty="0">
                <a:solidFill>
                  <a:srgbClr val="21295C"/>
                </a:solidFill>
              </a:rPr>
              <a:t> + ETS </a:t>
            </a: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ru-RU" sz="1100" b="1" dirty="0">
                <a:solidFill>
                  <a:srgbClr val="E76F51"/>
                </a:solidFill>
                <a:latin typeface="Calibri"/>
              </a:rPr>
              <a:t> </a:t>
            </a:r>
            <a:r>
              <a:rPr lang="ru-RU" sz="1100" dirty="0">
                <a:solidFill>
                  <a:srgbClr val="21295C"/>
                </a:solidFill>
              </a:rPr>
              <a:t>гибрид стабильно лучше классических моделей по всем трём метрикам</a:t>
            </a: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ru-RU" sz="1100" b="1" dirty="0">
                <a:solidFill>
                  <a:srgbClr val="E76F51"/>
                </a:solidFill>
                <a:latin typeface="Calibri"/>
              </a:rPr>
              <a:t> </a:t>
            </a:r>
            <a:r>
              <a:rPr lang="ru-RU" sz="1100" dirty="0">
                <a:solidFill>
                  <a:srgbClr val="21295C"/>
                </a:solidFill>
              </a:rPr>
              <a:t>преимущество видно и по относительным, и по абсолютной ошибке</a:t>
            </a: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ru-RU" sz="1100" b="1" dirty="0">
                <a:solidFill>
                  <a:srgbClr val="E76F51"/>
                </a:solidFill>
                <a:latin typeface="Calibri"/>
              </a:rPr>
              <a:t> </a:t>
            </a:r>
            <a:r>
              <a:rPr lang="ru-RU" sz="1100" dirty="0">
                <a:solidFill>
                  <a:srgbClr val="21295C"/>
                </a:solidFill>
              </a:rPr>
              <a:t>дневные ряды лучше всего раскрывают пользу </a:t>
            </a:r>
            <a:r>
              <a:rPr lang="ru-RU" sz="1100" dirty="0" err="1">
                <a:solidFill>
                  <a:srgbClr val="21295C"/>
                </a:solidFill>
              </a:rPr>
              <a:t>многошкальной</a:t>
            </a:r>
            <a:r>
              <a:rPr lang="ru-RU" sz="1100" dirty="0">
                <a:solidFill>
                  <a:srgbClr val="21295C"/>
                </a:solidFill>
              </a:rPr>
              <a:t> декомпозиции</a:t>
            </a: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ru-RU" sz="1100" b="1" dirty="0">
                <a:solidFill>
                  <a:srgbClr val="E76F51"/>
                </a:solidFill>
                <a:latin typeface="Calibri"/>
              </a:rPr>
              <a:t> </a:t>
            </a:r>
            <a:r>
              <a:rPr lang="ru-RU" sz="1100" dirty="0">
                <a:solidFill>
                  <a:srgbClr val="21295C"/>
                </a:solidFill>
              </a:rPr>
              <a:t>именно здесь гибридизация даёт наиболее устойчивый выигрыш</a:t>
            </a:r>
            <a:endParaRPr sz="1100" dirty="0">
              <a:solidFill>
                <a:srgbClr val="21295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338560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2600" b="1" i="0" dirty="0">
                <a:solidFill>
                  <a:srgbClr val="21295C"/>
                </a:solidFill>
                <a:latin typeface="Calibri"/>
              </a:rPr>
              <a:t>Сравнение гибридов на базе </a:t>
            </a:r>
            <a:r>
              <a:rPr lang="en-US" sz="2600" b="1" i="0" dirty="0">
                <a:solidFill>
                  <a:srgbClr val="21295C"/>
                </a:solidFill>
                <a:latin typeface="Calibri"/>
              </a:rPr>
              <a:t>STL / MODWT </a:t>
            </a:r>
            <a:r>
              <a:rPr lang="ru-RU" sz="2600" b="1" dirty="0">
                <a:solidFill>
                  <a:srgbClr val="21295C"/>
                </a:solidFill>
                <a:latin typeface="Calibri"/>
              </a:rPr>
              <a:t>в условиях сложной сезонности</a:t>
            </a:r>
            <a:endParaRPr sz="26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Многопериодная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сезонность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с </a:t>
            </a:r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НОК =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60</a:t>
            </a:r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 (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500 </a:t>
            </a:r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синтетических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рядов</a:t>
            </a:r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 с меняющимся шумом)</a:t>
            </a:r>
            <a:endParaRPr sz="1400" b="0" i="1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2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466484"/>
              </p:ext>
            </p:extLst>
          </p:nvPr>
        </p:nvGraphicFramePr>
        <p:xfrm>
          <a:off x="457200" y="1188720"/>
          <a:ext cx="7772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21295C"/>
                          </a:solidFill>
                          <a:latin typeface="Calibri"/>
                        </a:rPr>
                        <a:t>TimesNet</a:t>
                      </a:r>
                      <a:r>
                        <a:rPr lang="en-US" sz="900" dirty="0">
                          <a:solidFill>
                            <a:srgbClr val="21295C"/>
                          </a:solidFill>
                          <a:latin typeface="Calibri"/>
                        </a:rPr>
                        <a:t>+</a:t>
                      </a:r>
                      <a:endParaRPr sz="9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7.49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7.54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21295C"/>
                          </a:solidFill>
                          <a:latin typeface="Calibri"/>
                        </a:rPr>
                        <a:t>N-BEATS</a:t>
                      </a:r>
                      <a:r>
                        <a:rPr lang="en-US" sz="900" dirty="0">
                          <a:solidFill>
                            <a:srgbClr val="21295C"/>
                          </a:solidFill>
                          <a:latin typeface="Calibri"/>
                        </a:rPr>
                        <a:t> Full</a:t>
                      </a:r>
                      <a:endParaRPr sz="9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7.58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7.64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MODWT + TimesNet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6.65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7.02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MODWT + N-BEATS + 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6.96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7.34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MODWT + TimesNet + ETS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7.15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7.49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76F51"/>
                          </a:solidFill>
                          <a:latin typeface="Calibri"/>
                        </a:rPr>
                        <a:t>MODWT + N-BEATS + ETS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76F51"/>
                          </a:solidFill>
                          <a:latin typeface="Calibri"/>
                        </a:rPr>
                        <a:t>6.63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76F51"/>
                          </a:solidFill>
                          <a:latin typeface="Calibri"/>
                        </a:rPr>
                        <a:t>6.98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76F51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STL + TimesNet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7.53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7.52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STL + N-BEATS + 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8.58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STL + TimesNet + ETS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8.94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8.51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STL + N-BEATS + 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9.10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8.65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1.01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17.99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16.54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2.06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12.79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12.23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1.43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17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Prophet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13.68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14.24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21295C"/>
                          </a:solidFill>
                          <a:latin typeface="Calibri"/>
                        </a:rPr>
                        <a:t>1.64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412480" y="1188720"/>
            <a:ext cx="3383280" cy="4846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188720"/>
            <a:ext cx="3383280" cy="4114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12344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Гипотеза подтверждена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91640"/>
            <a:ext cx="3200400" cy="16825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ru-RU" sz="1000" b="1" dirty="0">
                <a:solidFill>
                  <a:srgbClr val="E76F51"/>
                </a:solidFill>
                <a:latin typeface="Calibri"/>
              </a:rPr>
              <a:t> </a:t>
            </a:r>
            <a:r>
              <a:rPr lang="ru-RU" sz="1000" dirty="0">
                <a:solidFill>
                  <a:srgbClr val="21295C"/>
                </a:solidFill>
              </a:rPr>
              <a:t>MODWT-гибриды устойчиво лучше STL-гибридов при сложной сезонности </a:t>
            </a:r>
          </a:p>
          <a:p>
            <a:pPr algn="l">
              <a:spcAft>
                <a:spcPts val="400"/>
              </a:spcAft>
            </a:pPr>
            <a:r>
              <a:rPr lang="ru-RU" sz="10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000" dirty="0">
                <a:solidFill>
                  <a:srgbClr val="21295C"/>
                </a:solidFill>
              </a:rPr>
              <a:t>лучший результат показывает MODWT + N-BEATS + ETS </a:t>
            </a:r>
          </a:p>
          <a:p>
            <a:pPr algn="l">
              <a:spcAft>
                <a:spcPts val="400"/>
              </a:spcAft>
            </a:pPr>
            <a:r>
              <a:rPr lang="en-US" sz="10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ru-RU" sz="1000" b="1" dirty="0">
                <a:solidFill>
                  <a:srgbClr val="E76F51"/>
                </a:solidFill>
                <a:latin typeface="Calibri"/>
              </a:rPr>
              <a:t> </a:t>
            </a:r>
            <a:r>
              <a:rPr lang="ru-RU" sz="1000" dirty="0">
                <a:solidFill>
                  <a:srgbClr val="21295C"/>
                </a:solidFill>
              </a:rPr>
              <a:t>все MODWT-гибриды образуют более сильную группу, чем STL-гибриды </a:t>
            </a:r>
          </a:p>
          <a:p>
            <a:pPr algn="l">
              <a:spcAft>
                <a:spcPts val="400"/>
              </a:spcAft>
            </a:pPr>
            <a:r>
              <a:rPr sz="10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ru-RU" sz="1000" b="1" dirty="0">
                <a:solidFill>
                  <a:srgbClr val="E76F51"/>
                </a:solidFill>
                <a:latin typeface="Calibri"/>
              </a:rPr>
              <a:t> </a:t>
            </a:r>
            <a:r>
              <a:rPr lang="ru-RU" sz="1000" dirty="0">
                <a:solidFill>
                  <a:srgbClr val="21295C"/>
                </a:solidFill>
              </a:rPr>
              <a:t>при увеличении сложности сезонной структуры разрыв между MODWT и STL возрастает </a:t>
            </a:r>
          </a:p>
          <a:p>
            <a:pPr algn="l">
              <a:spcAft>
                <a:spcPts val="400"/>
              </a:spcAft>
            </a:pPr>
            <a:r>
              <a:rPr sz="10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ru-RU" sz="1000" b="1" dirty="0">
                <a:solidFill>
                  <a:srgbClr val="E76F51"/>
                </a:solidFill>
                <a:latin typeface="Calibri"/>
              </a:rPr>
              <a:t> </a:t>
            </a:r>
            <a:r>
              <a:rPr lang="ru-RU" sz="1000" dirty="0" err="1">
                <a:solidFill>
                  <a:srgbClr val="21295C"/>
                </a:solidFill>
              </a:rPr>
              <a:t>многошкальное</a:t>
            </a:r>
            <a:r>
              <a:rPr lang="ru-RU" sz="1000" dirty="0">
                <a:solidFill>
                  <a:srgbClr val="21295C"/>
                </a:solidFill>
              </a:rPr>
              <a:t> разложение лучше сохраняет полезную структуру сигнала</a:t>
            </a:r>
            <a:endParaRPr sz="1000" dirty="0">
              <a:solidFill>
                <a:srgbClr val="21295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Компонентные прогнозы: MODWT vs STL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 dirty="0" err="1">
                <a:solidFill>
                  <a:srgbClr val="1C7293"/>
                </a:solidFill>
                <a:latin typeface="Calibri"/>
              </a:rPr>
              <a:t>Ряд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со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сложной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сезонностью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(НОК = 60, p₁ = 12, p₂ = 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3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030815"/>
            <a:ext cx="5669280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" y="1074683"/>
                <a:ext cx="5669280" cy="278025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/>
                <a:r>
                  <a:rPr lang="en-US" sz="1300" b="1" i="0" dirty="0">
                    <a:solidFill>
                      <a:srgbClr val="FFFFFF"/>
                    </a:solidFill>
                    <a:latin typeface="Calibri"/>
                  </a:rPr>
                  <a:t>MODWT-</a:t>
                </a:r>
                <a:r>
                  <a:rPr lang="ru-RU" sz="1300" b="1" i="0" dirty="0" err="1">
                    <a:solidFill>
                      <a:srgbClr val="FFFFFF"/>
                    </a:solidFill>
                    <a:latin typeface="Calibri"/>
                  </a:rPr>
                  <a:t>разложение</a:t>
                </a:r>
                <a:r>
                  <a:rPr lang="ru-RU" sz="1300" b="1" i="0" dirty="0">
                    <a:solidFill>
                      <a:srgbClr val="FFFFFF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3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ar-AE" sz="13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sub>
                    </m:sSub>
                    <m:r>
                      <a:rPr lang="ru-RU" sz="13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ru-RU" sz="13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3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ru-RU" sz="13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ru-RU" sz="13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13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  <m:e>
                        <m:sSub>
                          <m:sSubPr>
                            <m:ctrlPr>
                              <a:rPr lang="en-US" sz="1300" b="1" i="1" dirty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1" i="1" dirty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sz="1300" b="1" i="1" dirty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nary>
                  </m:oMath>
                </a14:m>
                <a:endParaRPr sz="1300" b="1" i="0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74683"/>
                <a:ext cx="5669280" cy="278025"/>
              </a:xfrm>
              <a:prstGeom prst="rect">
                <a:avLst/>
              </a:prstGeom>
              <a:blipFill>
                <a:blip r:embed="rId3"/>
                <a:stretch>
                  <a:fillRect t="-110870" b="-1717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6263640" y="1030815"/>
            <a:ext cx="548640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030815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STL-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разложение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: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тренд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+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сезонность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+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остаток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5953230"/>
            <a:ext cx="11247120" cy="493289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5962754"/>
            <a:ext cx="73152" cy="4837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48640" y="5980766"/>
                <a:ext cx="10972800" cy="494046"/>
              </a:xfrm>
              <a:prstGeom prst="rect">
                <a:avLst/>
              </a:prstGeom>
              <a:noFill/>
            </p:spPr>
            <p:txBody>
              <a:bodyPr wrap="square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lang="en-US" sz="1100" b="1" dirty="0">
                    <a:solidFill>
                      <a:srgbClr val="E76F51"/>
                    </a:solidFill>
                    <a:latin typeface="Calibri"/>
                  </a:rPr>
                  <a:t>▪  </a:t>
                </a:r>
                <a:r>
                  <a:rPr lang="en-US" sz="1100" dirty="0">
                    <a:solidFill>
                      <a:srgbClr val="21295C"/>
                    </a:solidFill>
                    <a:latin typeface="Calibri"/>
                  </a:rPr>
                  <a:t>MODWT: </a:t>
                </a:r>
                <a:r>
                  <a:rPr lang="ru-RU" sz="1100" dirty="0" err="1">
                    <a:solidFill>
                      <a:srgbClr val="21295C"/>
                    </a:solidFill>
                    <a:latin typeface="Calibri"/>
                  </a:rPr>
                  <a:t>модели</a:t>
                </a:r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ru-RU" sz="1100" dirty="0" err="1">
                    <a:solidFill>
                      <a:srgbClr val="21295C"/>
                    </a:solidFill>
                    <a:latin typeface="Calibri"/>
                  </a:rPr>
                  <a:t>уверенно</a:t>
                </a:r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ru-RU" sz="1100" dirty="0" err="1">
                    <a:solidFill>
                      <a:srgbClr val="21295C"/>
                    </a:solidFill>
                    <a:latin typeface="Calibri"/>
                  </a:rPr>
                  <a:t>восстанавливают</a:t>
                </a:r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ru-RU" sz="1100" dirty="0" err="1">
                    <a:solidFill>
                      <a:srgbClr val="21295C"/>
                    </a:solidFill>
                    <a:latin typeface="Calibri"/>
                  </a:rPr>
                  <a:t>аппроксимацию</a:t>
                </a:r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  <m:r>
                      <a:rPr lang="en-US" sz="110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и </a:t>
                </a:r>
                <a:r>
                  <a:rPr lang="ru-RU" sz="1100" dirty="0" err="1">
                    <a:solidFill>
                      <a:srgbClr val="21295C"/>
                    </a:solidFill>
                    <a:latin typeface="Calibri"/>
                  </a:rPr>
                  <a:t>среднечастотную</a:t>
                </a:r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100" b="0" i="0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ar-AE" sz="110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21295C"/>
                    </a:solidFill>
                    <a:latin typeface="Calibri"/>
                  </a:rPr>
                  <a:t>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 сглажены и тяготеют к нулю</a:t>
                </a:r>
              </a:p>
              <a:p>
                <a:pPr algn="l">
                  <a:spcAft>
                    <a:spcPts val="400"/>
                  </a:spcAft>
                </a:pPr>
                <a:r>
                  <a:rPr lang="ru-RU" sz="1100" b="1" dirty="0">
                    <a:solidFill>
                      <a:srgbClr val="E76F51"/>
                    </a:solidFill>
                    <a:latin typeface="Calibri"/>
                  </a:rPr>
                  <a:t>▪  </a:t>
                </a:r>
                <a:r>
                  <a:rPr lang="en-US" sz="1100" dirty="0">
                    <a:solidFill>
                      <a:srgbClr val="21295C"/>
                    </a:solidFill>
                    <a:latin typeface="Calibri"/>
                  </a:rPr>
                  <a:t>STL: </a:t>
                </a:r>
                <a:r>
                  <a:rPr lang="ru-RU" sz="1100" dirty="0" err="1">
                    <a:solidFill>
                      <a:srgbClr val="21295C"/>
                    </a:solidFill>
                    <a:latin typeface="Calibri"/>
                  </a:rPr>
                  <a:t>трендовая</a:t>
                </a:r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ru-RU" sz="1100" dirty="0" err="1">
                    <a:solidFill>
                      <a:srgbClr val="21295C"/>
                    </a:solidFill>
                    <a:latin typeface="Calibri"/>
                  </a:rPr>
                  <a:t>компонента</a:t>
                </a:r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en-US" sz="1100" dirty="0">
                    <a:solidFill>
                      <a:srgbClr val="21295C"/>
                    </a:solidFill>
                    <a:latin typeface="Calibri"/>
                  </a:rPr>
                  <a:t>STL </a:t>
                </a:r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воспроизводится хуже, а высокочастотные колебания прячутся в остатке и плохо предсказываются</a:t>
                </a:r>
                <a:endParaRPr sz="1100" dirty="0">
                  <a:solidFill>
                    <a:srgbClr val="21295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5980766"/>
                <a:ext cx="10972800" cy="494046"/>
              </a:xfrm>
              <a:prstGeom prst="rect">
                <a:avLst/>
              </a:prstGeom>
              <a:blipFill>
                <a:blip r:embed="rId4"/>
                <a:stretch>
                  <a:fillRect l="-389" t="-1235" b="-74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90264F1-711A-41CF-8F89-5E843B95A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62" y="1483298"/>
            <a:ext cx="5388905" cy="440238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EE81645-8260-4F8C-8EA8-89C06CF8AE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39" y="1757599"/>
            <a:ext cx="5440681" cy="3495927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24461A6-5465-42B5-BA16-D122D33770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8080" y="5383346"/>
            <a:ext cx="3381939" cy="56988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EE1F693-F758-4127-8F97-F0B96A245E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3195" y="4907434"/>
            <a:ext cx="3743110" cy="59591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Выводы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Раздел 4. Основные результаты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4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47120" cy="11887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4360" y="1481328"/>
            <a:ext cx="594360" cy="5943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98448"/>
            <a:ext cx="10058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 err="1">
                <a:solidFill>
                  <a:srgbClr val="065A82"/>
                </a:solidFill>
                <a:latin typeface="Calibri"/>
              </a:rPr>
              <a:t>Реализован</a:t>
            </a:r>
            <a:r>
              <a:rPr sz="14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065A82"/>
                </a:solidFill>
                <a:latin typeface="Calibri"/>
              </a:rPr>
              <a:t>полный</a:t>
            </a:r>
            <a:r>
              <a:rPr sz="14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065A82"/>
                </a:solidFill>
                <a:latin typeface="Calibri"/>
              </a:rPr>
              <a:t>конвейер</a:t>
            </a:r>
            <a:r>
              <a:rPr sz="14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065A82"/>
                </a:solidFill>
                <a:latin typeface="Calibri"/>
              </a:rPr>
              <a:t>HybridPlus</a:t>
            </a:r>
            <a:endParaRPr sz="1400" b="1" i="0" dirty="0">
              <a:solidFill>
                <a:srgbClr val="065A82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1719072"/>
            <a:ext cx="100584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MODWT-</a:t>
            </a:r>
            <a:r>
              <a:rPr lang="en-US" sz="1200" b="0" i="0" dirty="0">
                <a:solidFill>
                  <a:srgbClr val="21295C"/>
                </a:solidFill>
                <a:latin typeface="Calibri"/>
              </a:rPr>
              <a:t>(STL-)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декомпозиция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+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раздельное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моделирование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нейросетью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(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/ N-BEATS) и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статистикой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(ARIMA / ETS)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87168"/>
            <a:ext cx="11247120" cy="11887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94360" y="2779776"/>
            <a:ext cx="594360" cy="5943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96896"/>
            <a:ext cx="10058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Проведено систематическое сравнение на M3, M4 и синтетических рядах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17520"/>
            <a:ext cx="100584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1</a:t>
            </a:r>
            <a:r>
              <a:rPr lang="en-US" sz="1200" b="0" i="0" dirty="0">
                <a:solidFill>
                  <a:srgbClr val="21295C"/>
                </a:solidFill>
                <a:latin typeface="Calibri"/>
              </a:rPr>
              <a:t>6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моделей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× 4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категории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частот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×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сценарии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простой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и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сложной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сезонности</a:t>
            </a:r>
            <a:endParaRPr sz="1200" b="0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3785616"/>
            <a:ext cx="11247120" cy="11887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94360" y="4078224"/>
            <a:ext cx="594360" cy="5943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895344"/>
            <a:ext cx="10058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На дневной частоте M4 достигнут наибольший выигрыш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15968"/>
            <a:ext cx="100584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200" dirty="0">
                <a:solidFill>
                  <a:srgbClr val="21295C"/>
                </a:solidFill>
              </a:rPr>
              <a:t>MODWT + </a:t>
            </a:r>
            <a:r>
              <a:rPr lang="ru-RU" sz="1200" dirty="0" err="1">
                <a:solidFill>
                  <a:srgbClr val="21295C"/>
                </a:solidFill>
              </a:rPr>
              <a:t>TimesNet</a:t>
            </a:r>
            <a:r>
              <a:rPr lang="ru-RU" sz="1200" dirty="0">
                <a:solidFill>
                  <a:srgbClr val="21295C"/>
                </a:solidFill>
              </a:rPr>
              <a:t> + ETS устойчиво опережает классические модели и чистые нейросети по совокупности метрик 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(≈ ×1.5 </a:t>
            </a:r>
            <a:r>
              <a:rPr lang="en-US" sz="1200" dirty="0" err="1">
                <a:solidFill>
                  <a:srgbClr val="21295C"/>
                </a:solidFill>
                <a:latin typeface="Calibri"/>
              </a:rPr>
              <a:t>sMAPE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, RMSE −33%)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84064"/>
            <a:ext cx="11247120" cy="11887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4360" y="5376672"/>
            <a:ext cx="594360" cy="5943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193792"/>
            <a:ext cx="1005840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 err="1">
                <a:solidFill>
                  <a:srgbClr val="065A82"/>
                </a:solidFill>
                <a:latin typeface="Calibri"/>
              </a:rPr>
              <a:t>Гипотеза</a:t>
            </a:r>
            <a:r>
              <a:rPr sz="14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lang="ru-RU" sz="1400" b="1" dirty="0">
                <a:solidFill>
                  <a:srgbClr val="065A82"/>
                </a:solidFill>
                <a:latin typeface="Calibri"/>
              </a:rPr>
              <a:t>преимущества </a:t>
            </a:r>
            <a:r>
              <a:rPr sz="1400" b="1" i="0" dirty="0">
                <a:solidFill>
                  <a:srgbClr val="065A82"/>
                </a:solidFill>
                <a:latin typeface="Calibri"/>
              </a:rPr>
              <a:t>MODWT </a:t>
            </a:r>
            <a:r>
              <a:rPr lang="ru-RU" sz="1400" b="1" i="0" dirty="0">
                <a:solidFill>
                  <a:srgbClr val="065A82"/>
                </a:solidFill>
                <a:latin typeface="Calibri"/>
              </a:rPr>
              <a:t>над</a:t>
            </a:r>
            <a:r>
              <a:rPr sz="1400" b="1" i="0" dirty="0">
                <a:solidFill>
                  <a:srgbClr val="065A82"/>
                </a:solidFill>
                <a:latin typeface="Calibri"/>
              </a:rPr>
              <a:t> STL </a:t>
            </a:r>
            <a:r>
              <a:rPr sz="1400" b="1" i="0" dirty="0" err="1">
                <a:solidFill>
                  <a:srgbClr val="065A82"/>
                </a:solidFill>
                <a:latin typeface="Calibri"/>
              </a:rPr>
              <a:t>подтверждена</a:t>
            </a:r>
            <a:r>
              <a:rPr sz="14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065A82"/>
                </a:solidFill>
                <a:latin typeface="Calibri"/>
              </a:rPr>
              <a:t>на</a:t>
            </a:r>
            <a:r>
              <a:rPr sz="14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lang="ru-RU" sz="1400" b="1" i="0" dirty="0">
                <a:solidFill>
                  <a:srgbClr val="065A82"/>
                </a:solidFill>
                <a:latin typeface="Calibri"/>
              </a:rPr>
              <a:t>многопериодной</a:t>
            </a:r>
            <a:r>
              <a:rPr sz="14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065A82"/>
                </a:solidFill>
                <a:latin typeface="Calibri"/>
              </a:rPr>
              <a:t>сезонности</a:t>
            </a:r>
            <a:endParaRPr sz="1400" b="1" i="0" dirty="0">
              <a:solidFill>
                <a:srgbClr val="065A82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71600" y="5614416"/>
            <a:ext cx="100584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200" b="0" i="0" dirty="0">
                <a:solidFill>
                  <a:srgbClr val="21295C"/>
                </a:solidFill>
                <a:latin typeface="Calibri"/>
              </a:rPr>
              <a:t>MODWT-гибриды образуют более сильную группу моделей, чем STL-гибриды, особенно при усложнении сезонной структуры</a:t>
            </a:r>
            <a:endParaRPr sz="1200" b="0" i="0" dirty="0">
              <a:solidFill>
                <a:srgbClr val="21295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Выводы (2/2). Практические рекомендации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 dirty="0" err="1">
                <a:solidFill>
                  <a:srgbClr val="1C7293"/>
                </a:solidFill>
                <a:latin typeface="Calibri"/>
              </a:rPr>
              <a:t>Когда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выбирать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какую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модель</a:t>
            </a:r>
            <a:r>
              <a:rPr lang="ru-RU" sz="1400" i="1" dirty="0">
                <a:solidFill>
                  <a:srgbClr val="1C7293"/>
                </a:solidFill>
                <a:latin typeface="Calibri"/>
              </a:rPr>
              <a:t>?</a:t>
            </a:r>
            <a:endParaRPr sz="1400" b="0" i="1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067360"/>
              </p:ext>
            </p:extLst>
          </p:nvPr>
        </p:nvGraphicFramePr>
        <p:xfrm>
          <a:off x="457200" y="118872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Сценарий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Что выбрать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Почему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 dirty="0" err="1">
                          <a:solidFill>
                            <a:srgbClr val="21295C"/>
                          </a:solidFill>
                          <a:latin typeface="Calibri"/>
                        </a:rPr>
                        <a:t>Дневные</a:t>
                      </a:r>
                      <a:r>
                        <a:rPr sz="1200" dirty="0">
                          <a:solidFill>
                            <a:srgbClr val="21295C"/>
                          </a:solidFill>
                          <a:latin typeface="Calibri"/>
                        </a:rPr>
                        <a:t> / </a:t>
                      </a:r>
                      <a:r>
                        <a:rPr sz="1200" dirty="0" err="1">
                          <a:solidFill>
                            <a:srgbClr val="21295C"/>
                          </a:solidFill>
                          <a:latin typeface="Calibri"/>
                        </a:rPr>
                        <a:t>недельные</a:t>
                      </a:r>
                      <a:r>
                        <a:rPr sz="1200" dirty="0">
                          <a:solidFill>
                            <a:srgbClr val="21295C"/>
                          </a:solidFill>
                          <a:latin typeface="Calibri"/>
                        </a:rPr>
                        <a:t> </a:t>
                      </a:r>
                      <a:r>
                        <a:rPr sz="1200" dirty="0" err="1">
                          <a:solidFill>
                            <a:srgbClr val="21295C"/>
                          </a:solidFill>
                          <a:latin typeface="Calibri"/>
                        </a:rPr>
                        <a:t>ряды</a:t>
                      </a:r>
                      <a:endParaRPr sz="12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MODWT + TimesNet/N-BEATS + ETS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разложение разделяет компоненты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Месячные / годовые (короткие) ряды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Классические ETS / ARIMA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нейросети не успевают обучиться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Сложная многопериодная сезонность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MODWT-гибриды (не STL!)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одна сезонная шкала STL недостаточна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Шумный неоднозначный тренд без сезонности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сглаживание устойчиво на шуме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Часовая частотность (предварит. результат)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Классические модели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solidFill>
                            <a:srgbClr val="21295C"/>
                          </a:solidFill>
                          <a:latin typeface="Calibri"/>
                        </a:rPr>
                        <a:t>разложение</a:t>
                      </a:r>
                      <a:r>
                        <a:rPr sz="1200" dirty="0">
                          <a:solidFill>
                            <a:srgbClr val="21295C"/>
                          </a:solidFill>
                          <a:latin typeface="Calibri"/>
                        </a:rPr>
                        <a:t> </a:t>
                      </a:r>
                      <a:r>
                        <a:rPr sz="1200" dirty="0" err="1">
                          <a:solidFill>
                            <a:srgbClr val="21295C"/>
                          </a:solidFill>
                          <a:latin typeface="Calibri"/>
                        </a:rPr>
                        <a:t>даёт</a:t>
                      </a:r>
                      <a:r>
                        <a:rPr sz="1200" dirty="0">
                          <a:solidFill>
                            <a:srgbClr val="21295C"/>
                          </a:solidFill>
                          <a:latin typeface="Calibri"/>
                        </a:rPr>
                        <a:t> </a:t>
                      </a:r>
                      <a:r>
                        <a:rPr sz="1200" dirty="0" err="1">
                          <a:solidFill>
                            <a:srgbClr val="21295C"/>
                          </a:solidFill>
                          <a:latin typeface="Calibri"/>
                        </a:rPr>
                        <a:t>фазовые</a:t>
                      </a:r>
                      <a:r>
                        <a:rPr sz="1200" dirty="0">
                          <a:solidFill>
                            <a:srgbClr val="21295C"/>
                          </a:solidFill>
                          <a:latin typeface="Calibri"/>
                        </a:rPr>
                        <a:t> </a:t>
                      </a:r>
                      <a:r>
                        <a:rPr sz="1200" dirty="0" err="1">
                          <a:solidFill>
                            <a:srgbClr val="21295C"/>
                          </a:solidFill>
                          <a:latin typeface="Calibri"/>
                        </a:rPr>
                        <a:t>искажения</a:t>
                      </a:r>
                      <a:r>
                        <a:rPr sz="1200" dirty="0">
                          <a:solidFill>
                            <a:srgbClr val="21295C"/>
                          </a:solidFill>
                          <a:latin typeface="Calibri"/>
                        </a:rPr>
                        <a:t> </a:t>
                      </a:r>
                      <a:r>
                        <a:rPr sz="1200" dirty="0" err="1">
                          <a:solidFill>
                            <a:srgbClr val="21295C"/>
                          </a:solidFill>
                          <a:latin typeface="Calibri"/>
                        </a:rPr>
                        <a:t>на</a:t>
                      </a:r>
                      <a:r>
                        <a:rPr sz="1200" dirty="0">
                          <a:solidFill>
                            <a:srgbClr val="21295C"/>
                          </a:solidFill>
                          <a:latin typeface="Calibri"/>
                        </a:rPr>
                        <a:t> ВЧ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E76F51"/>
                </a:solidFill>
                <a:latin typeface="Calibri"/>
              </a:rPr>
              <a:t>Перспективы исследования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76F51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автоматический выбор глубины MODWT-разложения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76F51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адаптивное распределение моделей между компонентами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76F51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оптимизация весов при реконструкции прогноза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76F51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устойчивость к выбросам и структурным сдвигам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Список литературы (избранное)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Раздел 5. Полный список — 43 источника в ВКР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ru-RU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669280" cy="4937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1. Hyndman R.J., Athanasopoulos G. Forecasting: principles and practice. — Melbourne: OTexts, 2021.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2. Box G.E.P. et al. Time series analysis: forecasting and control. — 5th ed. — Wiley, 2015.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3. Makridakis S., Spiliotis E., Assimakopoulos V. The M4 Competition // Int. J. Forecasting. — 2018. — Vol. 34(4). — P. 802–808.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4. Mallat S.G. A theory for multiresolution signal decomposition // IEEE TPAMI. — 1989. — Vol. 11(7).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5. Daubechies I. Ten lectures on wavelets. — SIAM, 1992. — 357 p.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6. Percival D.B., Walden A.T. Wavelet methods for time series analysis. — Cambridge University Press, 2000. — 594 p.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7. Cleveland R.B. et al. STL: A Seasonal-Trend Decomposition Procedure Based on LOESS.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8. Taylor S.J., Letham B. Forecasting at scale // The American Statistician. — 2018. — Vol. 72(1).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5486400" cy="4937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9. Wu H. et al. TimesNet: Temporal 2D-Variation Modeling for General Time Series Analysis. — arXiv:2210.02186.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10. Oreshkin B. et al. N-BEATS: Neural basis expansion analysis for interpretable time series forecasting. — arXiv:1905.10437.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11. Olivares K.G. et al. NBEATSx // Int. J. Forecasting. — 2023.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12. Bakulin D.V. et al. Hybrid Models of Time Series Using Wavelet Transform // JCTE. — 2025. — Vol. 70.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13. Petrusevich D.A. Time series forecasting using high order ARIMA functions // SGEM. — 2019.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14. Beletskaya N.V., Petrusevich D.A. Linear Combinations of Time Series Models with Minimal Forecast Variance // JCTE. — 2022.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15. Gilles J. Empirical Wavelet Transform // IEEE TSP. — 2013.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16. Dragomiretskiy K., Zosso D. Variational Mode Decomposition // IEEE TSP. — 2014.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Публикация по теме: Лыков Д.С., Петрусевич Д.А. Построение гибридных моделей временных рядов на основе нейронных сетей, вейвлет-преобразования и STL — 2026 (в печати)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98B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9525">
            <a:solidFill>
              <a:srgbClr val="C9D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537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Запасной слайд №1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Себестоимость проекта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500" i="1" dirty="0">
                <a:solidFill>
                  <a:srgbClr val="2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Экономическая часть</a:t>
            </a:r>
            <a:r>
              <a:rPr lang="en-US" sz="1500" i="1" dirty="0">
                <a:solidFill>
                  <a:srgbClr val="2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i="1" dirty="0">
                <a:solidFill>
                  <a:srgbClr val="2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500" i="1" dirty="0">
                <a:solidFill>
                  <a:srgbClr val="2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Калькуляция полной себестоимости разработки сервиса «ГМ-ПВР»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55280" y="1417320"/>
            <a:ext cx="3786313" cy="1188720"/>
          </a:xfrm>
          <a:prstGeom prst="rect">
            <a:avLst/>
          </a:prstGeom>
          <a:solidFill>
            <a:srgbClr val="1B355B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1527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себестоимость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3816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890 142,8 ₽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138160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калькулирования по статьям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658011"/>
              </p:ext>
            </p:extLst>
          </p:nvPr>
        </p:nvGraphicFramePr>
        <p:xfrm>
          <a:off x="457200" y="1417320"/>
          <a:ext cx="7271359" cy="3906240"/>
        </p:xfrm>
        <a:graphic>
          <a:graphicData uri="http://schemas.openxmlformats.org/drawingml/2006/table">
            <a:tbl>
              <a:tblPr/>
              <a:tblGrid>
                <a:gridCol w="4181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6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Статья затрат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Затраты,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Материалы и расходники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5 210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Спец. оборудование (GPU, хранение)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Основная заработная плата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240 830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17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Дополнительная ЗП (20 % от ОЗП)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48 166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Страховые взносы (30,2 % от ФОТ)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87 276,8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Накладные расходы (200 % от ОЗП)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481 660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17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890 142,8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5475996"/>
            <a:ext cx="11277295" cy="914398"/>
          </a:xfrm>
          <a:prstGeom prst="rect">
            <a:avLst/>
          </a:prstGeom>
          <a:solidFill>
            <a:srgbClr val="FCEAE0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567436"/>
            <a:ext cx="2743200" cy="201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17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расходов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5860044"/>
            <a:ext cx="10911535" cy="586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Бóльшая часть бюджета — </a:t>
            </a:r>
            <a:r>
              <a:rPr lang="en-US" sz="12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накладные расходы (54,1 %)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2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зарплата (27,1 %)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Это типично для научно-исследовательских ИТ-проектов: главным ресурсом является интеллектуальный труд исполнителей, а не материалы или оборудование.</a:t>
            </a:r>
            <a:endParaRPr lang="en-US" sz="12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0972CFA5-41D2-4187-BD72-DB20CC9E6A9C}"/>
              </a:ext>
            </a:extLst>
          </p:cNvPr>
          <p:cNvSpPr/>
          <p:nvPr/>
        </p:nvSpPr>
        <p:spPr>
          <a:xfrm>
            <a:off x="7955280" y="2758476"/>
            <a:ext cx="3786313" cy="11887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CA9EB7FF-EC99-4609-829F-0BE75E6B320D}"/>
              </a:ext>
            </a:extLst>
          </p:cNvPr>
          <p:cNvSpPr/>
          <p:nvPr/>
        </p:nvSpPr>
        <p:spPr>
          <a:xfrm>
            <a:off x="8138160" y="28682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2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Месячный оклад руководителя</a:t>
            </a:r>
            <a:endParaRPr lang="en-US" sz="12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40326054-9D40-46AE-8513-C64766E5506B}"/>
              </a:ext>
            </a:extLst>
          </p:cNvPr>
          <p:cNvSpPr/>
          <p:nvPr/>
        </p:nvSpPr>
        <p:spPr>
          <a:xfrm>
            <a:off x="8138160" y="314252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60 000 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</a:t>
            </a:r>
            <a:endParaRPr lang="en-US" sz="3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940659DF-C153-44FE-90D5-7F1BDF94D230}"/>
              </a:ext>
            </a:extLst>
          </p:cNvPr>
          <p:cNvSpPr/>
          <p:nvPr/>
        </p:nvSpPr>
        <p:spPr>
          <a:xfrm>
            <a:off x="8138160" y="36728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000" i="1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Отведено 25 рабочих дней</a:t>
            </a:r>
            <a:endParaRPr lang="en-US" sz="1000" dirty="0"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2404AF63-BD19-4714-A05D-5CE4B81B8373}"/>
              </a:ext>
            </a:extLst>
          </p:cNvPr>
          <p:cNvSpPr/>
          <p:nvPr/>
        </p:nvSpPr>
        <p:spPr>
          <a:xfrm>
            <a:off x="7948182" y="4134833"/>
            <a:ext cx="3786313" cy="1188720"/>
          </a:xfrm>
          <a:prstGeom prst="rect">
            <a:avLst/>
          </a:prstGeom>
          <a:solidFill>
            <a:srgbClr val="1B355B"/>
          </a:solidFill>
          <a:ln/>
        </p:spPr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42CA844D-FCCD-46C0-ACEB-F0EE7D323D74}"/>
              </a:ext>
            </a:extLst>
          </p:cNvPr>
          <p:cNvSpPr/>
          <p:nvPr/>
        </p:nvSpPr>
        <p:spPr>
          <a:xfrm>
            <a:off x="8131062" y="4244561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2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Месячный оклад разработчика</a:t>
            </a:r>
            <a:endParaRPr lang="en-US" sz="12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66063408-F817-47A1-B783-57D06393DE5F}"/>
              </a:ext>
            </a:extLst>
          </p:cNvPr>
          <p:cNvSpPr/>
          <p:nvPr/>
        </p:nvSpPr>
        <p:spPr>
          <a:xfrm>
            <a:off x="8131062" y="4518881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₽</a:t>
            </a:r>
            <a:endParaRPr lang="en-US" sz="32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544DAFA8-6880-4327-AD9A-79A9D417729D}"/>
              </a:ext>
            </a:extLst>
          </p:cNvPr>
          <p:cNvSpPr/>
          <p:nvPr/>
        </p:nvSpPr>
        <p:spPr>
          <a:xfrm>
            <a:off x="8131062" y="5049233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000" i="1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Отведено 90 рабочих дней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98B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9525">
            <a:solidFill>
              <a:srgbClr val="C9D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537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Запасной слайд №2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Окупаемость и эффективность проекта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500" i="1" dirty="0">
                <a:solidFill>
                  <a:srgbClr val="2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Экономическая часть - </a:t>
            </a:r>
            <a:r>
              <a:rPr lang="en-US" sz="1500" i="1" dirty="0">
                <a:solidFill>
                  <a:srgbClr val="2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NPV, PI, срок окупаемости при ставке </a:t>
            </a:r>
            <a:r>
              <a:rPr lang="en-US" sz="1500" i="1" dirty="0" err="1">
                <a:solidFill>
                  <a:srgbClr val="2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дисконтирования</a:t>
            </a:r>
            <a:r>
              <a:rPr lang="en-US" sz="1500" i="1" dirty="0">
                <a:solidFill>
                  <a:srgbClr val="2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i="1" dirty="0">
                <a:solidFill>
                  <a:srgbClr val="2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500" i="1" dirty="0">
                <a:solidFill>
                  <a:srgbClr val="2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22 %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1140" y="1417320"/>
            <a:ext cx="2743200" cy="14173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8" name="Shape 6"/>
          <p:cNvSpPr/>
          <p:nvPr/>
        </p:nvSpPr>
        <p:spPr>
          <a:xfrm>
            <a:off x="431140" y="1417320"/>
            <a:ext cx="91440" cy="1417320"/>
          </a:xfrm>
          <a:prstGeom prst="rect">
            <a:avLst/>
          </a:prstGeom>
          <a:solidFill>
            <a:srgbClr val="1B355B"/>
          </a:solidFill>
          <a:ln/>
        </p:spPr>
      </p:sp>
      <p:sp>
        <p:nvSpPr>
          <p:cNvPr id="9" name="Text 7"/>
          <p:cNvSpPr/>
          <p:nvPr/>
        </p:nvSpPr>
        <p:spPr>
          <a:xfrm>
            <a:off x="659740" y="1527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— инвестиции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9740" y="18013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890 142,8 ₽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9740" y="2423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себестоимость разработки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3212" y="1417320"/>
            <a:ext cx="2743200" cy="14173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3212" y="1417320"/>
            <a:ext cx="91440" cy="1417320"/>
          </a:xfrm>
          <a:prstGeom prst="rect">
            <a:avLst/>
          </a:prstGeom>
          <a:solidFill>
            <a:srgbClr val="20708A"/>
          </a:solidFill>
          <a:ln/>
        </p:spPr>
      </p:sp>
      <p:sp>
        <p:nvSpPr>
          <p:cNvPr id="14" name="Text 12"/>
          <p:cNvSpPr/>
          <p:nvPr/>
        </p:nvSpPr>
        <p:spPr>
          <a:xfrm>
            <a:off x="3521812" y="1527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1812" y="18013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48,0 млн ₽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21812" y="2423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положителен — проект целесообразен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55284" y="1417320"/>
            <a:ext cx="2743200" cy="14173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155284" y="1417320"/>
            <a:ext cx="91440" cy="1417320"/>
          </a:xfrm>
          <a:prstGeom prst="rect">
            <a:avLst/>
          </a:prstGeom>
          <a:solidFill>
            <a:srgbClr val="D17554"/>
          </a:solidFill>
          <a:ln/>
        </p:spPr>
      </p:sp>
      <p:sp>
        <p:nvSpPr>
          <p:cNvPr id="19" name="Text 17"/>
          <p:cNvSpPr/>
          <p:nvPr/>
        </p:nvSpPr>
        <p:spPr>
          <a:xfrm>
            <a:off x="6383884" y="1527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7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— индекс рентаб.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83884" y="18013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54,93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83884" y="2423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≫ 1 — высокая отдача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17356" y="1417320"/>
            <a:ext cx="2743200" cy="14173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3" name="Shape 21"/>
          <p:cNvSpPr/>
          <p:nvPr/>
        </p:nvSpPr>
        <p:spPr>
          <a:xfrm>
            <a:off x="9017356" y="1417320"/>
            <a:ext cx="91440" cy="1417320"/>
          </a:xfrm>
          <a:prstGeom prst="rect">
            <a:avLst/>
          </a:prstGeom>
          <a:solidFill>
            <a:srgbClr val="264A78"/>
          </a:solidFill>
          <a:ln/>
        </p:spPr>
      </p:sp>
      <p:sp>
        <p:nvSpPr>
          <p:cNvPr id="24" name="Text 22"/>
          <p:cNvSpPr/>
          <p:nvPr/>
        </p:nvSpPr>
        <p:spPr>
          <a:xfrm>
            <a:off x="9245956" y="1527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6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 — диск. окупаемость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45956" y="18013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2,4 мес.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245956" y="2423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 ≈ 0,03 года (1-й месяц)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1089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Дисконтированные денежные потоки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741599"/>
              </p:ext>
            </p:extLst>
          </p:nvPr>
        </p:nvGraphicFramePr>
        <p:xfrm>
          <a:off x="457200" y="3438143"/>
          <a:ext cx="6126480" cy="2962656"/>
        </p:xfrm>
        <a:graphic>
          <a:graphicData uri="http://schemas.openxmlformats.org/drawingml/2006/table">
            <a:tbl>
              <a:tblPr/>
              <a:tblGrid>
                <a:gridCol w="1885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3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Период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CF, тыс.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1/(1+r)ⁱ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PV, тыс.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Год 0 (инвестиции)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−890,1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−890,1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Год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5 345,9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4 381,9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Год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26 239,8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17 629,5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Год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48 818,7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26 884,8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17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48 006,1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6766560" y="3108960"/>
            <a:ext cx="4967935" cy="3291840"/>
          </a:xfrm>
          <a:prstGeom prst="rect">
            <a:avLst/>
          </a:prstGeom>
          <a:solidFill>
            <a:srgbClr val="FCEAE0"/>
          </a:solidFill>
          <a:ln/>
        </p:spPr>
      </p:sp>
      <p:sp>
        <p:nvSpPr>
          <p:cNvPr id="30" name="Text 27"/>
          <p:cNvSpPr/>
          <p:nvPr/>
        </p:nvSpPr>
        <p:spPr>
          <a:xfrm>
            <a:off x="6949440" y="3218688"/>
            <a:ext cx="4602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17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Консервативный сценарий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949440" y="3529584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 клиентской базы по 1 в месяц (нижняя оценка):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949440" y="3886200"/>
            <a:ext cx="4602175" cy="566928"/>
          </a:xfrm>
          <a:prstGeom prst="rect">
            <a:avLst/>
          </a:prstGeom>
          <a:solidFill>
            <a:srgbClr val="FFFFFF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30"/>
              <p:cNvSpPr/>
              <p:nvPr/>
            </p:nvSpPr>
            <p:spPr>
              <a:xfrm>
                <a:off x="6949440" y="3886200"/>
                <a:ext cx="4602175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𝑆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 = 85 000 ·</m:t>
                      </m:r>
                      <m:f>
                        <m:fPr>
                          <m:ctrl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fPr>
                        <m:num>
                          <m:r>
                            <a:rPr lang="en-US" sz="14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400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𝑁</m:t>
                              </m:r>
                              <m:r>
                                <a:rPr lang="en-US" sz="1400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ru-RU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2</m:t>
                          </m:r>
                        </m:den>
                      </m:f>
                      <m:r>
                        <a:rPr lang="en-US" sz="14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 ≥ 890 142,8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440" y="3886200"/>
                <a:ext cx="4602175" cy="5669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31"/>
          <p:cNvSpPr/>
          <p:nvPr/>
        </p:nvSpPr>
        <p:spPr>
          <a:xfrm>
            <a:off x="7040880" y="4572000"/>
            <a:ext cx="4510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850 000 ₽ — не покрывает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040880" y="4846320"/>
            <a:ext cx="4510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1 275 000 ₽ — покрывает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949440" y="5230368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Полная окупаемость затрат на разработку — </a:t>
            </a:r>
            <a:r>
              <a:rPr lang="en-US" sz="1200" b="1" i="1" dirty="0">
                <a:solidFill>
                  <a:srgbClr val="D17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концу 5-го месяца</a:t>
            </a: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после начала продаж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949440" y="5715000"/>
            <a:ext cx="4602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окупаемость объясняется </a:t>
            </a:r>
            <a:r>
              <a:rPr lang="en-US" sz="11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природой SaaS-модели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предельные издержки на нового клиента малы, ключевые инвестиции уже понесены на этапе разработки.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98B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9525">
            <a:solidFill>
              <a:srgbClr val="C9D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537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Запасной слайд №3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продаж и эффект для клиента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500" i="1" dirty="0">
                <a:solidFill>
                  <a:srgbClr val="2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Экономическая часть - </a:t>
            </a:r>
            <a:r>
              <a:rPr lang="en-US" sz="1500" i="1" dirty="0">
                <a:solidFill>
                  <a:srgbClr val="2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3-летний P&amp;L и оценка экономии конечного потребителя сервиса «ГМ-ПВР»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выручки и чистой прибыли, тыс. ₽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783080"/>
          <a:ext cx="67665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452360" y="1417320"/>
            <a:ext cx="4282135" cy="38404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527048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клиента, ₽/мес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35240" y="1801368"/>
            <a:ext cx="39163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17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815 000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635240" y="2377440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(≈ 9,78 млн ₽ / год на одного клиента)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35240" y="2715768"/>
            <a:ext cx="3916375" cy="0"/>
          </a:xfrm>
          <a:prstGeom prst="line">
            <a:avLst/>
          </a:prstGeom>
          <a:noFill/>
          <a:ln w="9525">
            <a:solidFill>
              <a:srgbClr val="C9D2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потерь (25 %)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921240" y="2834640"/>
            <a:ext cx="1630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+ 750 000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35240" y="3145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на специалистах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921240" y="3145536"/>
            <a:ext cx="1630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+ 150 000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63524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подписки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921240" y="3456432"/>
            <a:ext cx="1630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− 85 000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635240" y="3767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Чистая экономия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921240" y="3767328"/>
            <a:ext cx="1630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17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815 000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635240" y="4114800"/>
            <a:ext cx="3916375" cy="0"/>
          </a:xfrm>
          <a:prstGeom prst="line">
            <a:avLst/>
          </a:prstGeom>
          <a:noFill/>
          <a:ln w="9525">
            <a:solidFill>
              <a:srgbClr val="C9D2D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206240"/>
            <a:ext cx="3916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i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расчёта: </a:t>
            </a: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с выручкой 100 млн ₽/мес; потери от прогноза 3 % (консервативно, IHL Group — 6,5 %).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5440680"/>
            <a:ext cx="11277295" cy="960120"/>
          </a:xfrm>
          <a:prstGeom prst="rect">
            <a:avLst/>
          </a:prstGeom>
          <a:solidFill>
            <a:srgbClr val="FCEAE0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" y="5532120"/>
            <a:ext cx="2545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7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94360" y="5806440"/>
            <a:ext cx="25450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SaaS, REST API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413684" y="5532120"/>
            <a:ext cx="2545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7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413684" y="5806440"/>
            <a:ext cx="25450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85 000 ₽/мес (50 тыс. запросов)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233008" y="5532120"/>
            <a:ext cx="2545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7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ОПФ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233008" y="5806440"/>
            <a:ext cx="25450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ООО · УСН «Доходы» 6 %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052331" y="5532120"/>
            <a:ext cx="2545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7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052331" y="5806440"/>
            <a:ext cx="25450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60 млн ₽/год за 3 года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8567</Words>
  <Application>Microsoft Office PowerPoint</Application>
  <PresentationFormat>Широкоэкранный</PresentationFormat>
  <Paragraphs>944</Paragraphs>
  <Slides>29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 Math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1</cp:lastModifiedBy>
  <cp:revision>108</cp:revision>
  <dcterms:created xsi:type="dcterms:W3CDTF">2013-01-27T09:14:16Z</dcterms:created>
  <dcterms:modified xsi:type="dcterms:W3CDTF">2026-06-04T20:21:31Z</dcterms:modified>
  <cp:category/>
</cp:coreProperties>
</file>